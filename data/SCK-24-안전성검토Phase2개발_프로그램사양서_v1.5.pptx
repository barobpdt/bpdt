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omments/modernComment_9ED_D8F2162D.xml" ContentType="application/vnd.ms-powerpoint.comment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omments/modernComment_A16_B1700383.xml" ContentType="application/vnd.ms-powerpoint.comments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comments/modernComment_A1A_9E0CAA32.xml" ContentType="application/vnd.ms-powerpoint.comments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comments/modernComment_971_25AA81BC.xml" ContentType="application/vnd.ms-powerpoint.comments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comments/modernComment_A12_12EED0F6.xml" ContentType="application/vnd.ms-powerpoint.comments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comments/modernComment_A07_7A006117.xml" ContentType="application/vnd.ms-powerpoint.comments+xml"/>
  <Override PartName="/ppt/notesSlides/notesSlide40.xml" ContentType="application/vnd.openxmlformats-officedocument.presentationml.notesSlide+xml"/>
  <Override PartName="/ppt/comments/modernComment_A01_3A3B3EE0.xml" ContentType="application/vnd.ms-powerpoint.comment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comments/modernComment_A08_E3CE5BB.xml" ContentType="application/vnd.ms-powerpoint.comments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comments/modernComment_A1B_D7D596B4.xml" ContentType="application/vnd.ms-powerpoint.comments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comments/modernComment_A22_4285846B.xml" ContentType="application/vnd.ms-powerpoint.comments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comments/modernComment_9EB_9273B9C0.xml" ContentType="application/vnd.ms-powerpoint.comments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comments/modernComment_A1C_FF996ED3.xml" ContentType="application/vnd.ms-powerpoint.comments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comments/modernComment_A1D_1AA67560.xml" ContentType="application/vnd.ms-powerpoint.comments+xml"/>
  <Override PartName="/ppt/notesSlides/notesSlide82.xml" ContentType="application/vnd.openxmlformats-officedocument.presentationml.notesSlide+xml"/>
  <Override PartName="/ppt/comments/modernComment_A1E_7924B10A.xml" ContentType="application/vnd.ms-powerpoint.comments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comments/modernComment_A1F_F716BC30.xml" ContentType="application/vnd.ms-powerpoint.comments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comments/modernComment_A20_C632E3F4.xml" ContentType="application/vnd.ms-powerpoint.comments+xml"/>
  <Override PartName="/ppt/notesSlides/notesSlide90.xml" ContentType="application/vnd.openxmlformats-officedocument.presentationml.notesSlide+xml"/>
  <Override PartName="/ppt/comments/modernComment_A21_FC94C164.xml" ContentType="application/vnd.ms-powerpoint.comments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</p:sldMasterIdLst>
  <p:notesMasterIdLst>
    <p:notesMasterId r:id="rId126"/>
  </p:notesMasterIdLst>
  <p:handoutMasterIdLst>
    <p:handoutMasterId r:id="rId127"/>
  </p:handoutMasterIdLst>
  <p:sldIdLst>
    <p:sldId id="623" r:id="rId5"/>
    <p:sldId id="2500" r:id="rId6"/>
    <p:sldId id="2501" r:id="rId7"/>
    <p:sldId id="2418" r:id="rId8"/>
    <p:sldId id="2404" r:id="rId9"/>
    <p:sldId id="2405" r:id="rId10"/>
    <p:sldId id="2406" r:id="rId11"/>
    <p:sldId id="2541" r:id="rId12"/>
    <p:sldId id="2542" r:id="rId13"/>
    <p:sldId id="2425" r:id="rId14"/>
    <p:sldId id="2426" r:id="rId15"/>
    <p:sldId id="2427" r:id="rId16"/>
    <p:sldId id="2602" r:id="rId17"/>
    <p:sldId id="2544" r:id="rId18"/>
    <p:sldId id="2422" r:id="rId19"/>
    <p:sldId id="2423" r:id="rId20"/>
    <p:sldId id="2424" r:id="rId21"/>
    <p:sldId id="2565" r:id="rId22"/>
    <p:sldId id="2546" r:id="rId23"/>
    <p:sldId id="2603" r:id="rId24"/>
    <p:sldId id="2604" r:id="rId25"/>
    <p:sldId id="2605" r:id="rId26"/>
    <p:sldId id="2606" r:id="rId27"/>
    <p:sldId id="2549" r:id="rId28"/>
    <p:sldId id="2434" r:id="rId29"/>
    <p:sldId id="2435" r:id="rId30"/>
    <p:sldId id="2436" r:id="rId31"/>
    <p:sldId id="2582" r:id="rId32"/>
    <p:sldId id="2599" r:id="rId33"/>
    <p:sldId id="2600" r:id="rId34"/>
    <p:sldId id="2601" r:id="rId35"/>
    <p:sldId id="2586" r:id="rId36"/>
    <p:sldId id="2607" r:id="rId37"/>
    <p:sldId id="2417" r:id="rId38"/>
    <p:sldId id="2401" r:id="rId39"/>
    <p:sldId id="2402" r:id="rId40"/>
    <p:sldId id="2403" r:id="rId41"/>
    <p:sldId id="2578" r:id="rId42"/>
    <p:sldId id="2611" r:id="rId43"/>
    <p:sldId id="2612" r:id="rId44"/>
    <p:sldId id="2613" r:id="rId45"/>
    <p:sldId id="2529" r:id="rId46"/>
    <p:sldId id="2525" r:id="rId47"/>
    <p:sldId id="2526" r:id="rId48"/>
    <p:sldId id="2527" r:id="rId49"/>
    <p:sldId id="2559" r:id="rId50"/>
    <p:sldId id="2440" r:id="rId51"/>
    <p:sldId id="2441" r:id="rId52"/>
    <p:sldId id="2442" r:id="rId53"/>
    <p:sldId id="2567" r:id="rId54"/>
    <p:sldId id="2561" r:id="rId55"/>
    <p:sldId id="2443" r:id="rId56"/>
    <p:sldId id="2444" r:id="rId57"/>
    <p:sldId id="2445" r:id="rId58"/>
    <p:sldId id="2439" r:id="rId59"/>
    <p:sldId id="2449" r:id="rId60"/>
    <p:sldId id="2450" r:id="rId61"/>
    <p:sldId id="2451" r:id="rId62"/>
    <p:sldId id="2568" r:id="rId63"/>
    <p:sldId id="2563" r:id="rId64"/>
    <p:sldId id="2452" r:id="rId65"/>
    <p:sldId id="2453" r:id="rId66"/>
    <p:sldId id="2454" r:id="rId67"/>
    <p:sldId id="2574" r:id="rId68"/>
    <p:sldId id="2596" r:id="rId69"/>
    <p:sldId id="2597" r:id="rId70"/>
    <p:sldId id="2598" r:id="rId71"/>
    <p:sldId id="2573" r:id="rId72"/>
    <p:sldId id="2570" r:id="rId73"/>
    <p:sldId id="2571" r:id="rId74"/>
    <p:sldId id="2572" r:id="rId75"/>
    <p:sldId id="2587" r:id="rId76"/>
    <p:sldId id="2608" r:id="rId77"/>
    <p:sldId id="2609" r:id="rId78"/>
    <p:sldId id="2610" r:id="rId79"/>
    <p:sldId id="2594" r:id="rId80"/>
    <p:sldId id="2623" r:id="rId81"/>
    <p:sldId id="2624" r:id="rId82"/>
    <p:sldId id="2625" r:id="rId83"/>
    <p:sldId id="2539" r:id="rId84"/>
    <p:sldId id="2540" r:id="rId85"/>
    <p:sldId id="2363" r:id="rId86"/>
    <p:sldId id="2364" r:id="rId87"/>
    <p:sldId id="2333" r:id="rId88"/>
    <p:sldId id="2416" r:id="rId89"/>
    <p:sldId id="2462" r:id="rId90"/>
    <p:sldId id="2463" r:id="rId91"/>
    <p:sldId id="2464" r:id="rId92"/>
    <p:sldId id="2566" r:id="rId93"/>
    <p:sldId id="2431" r:id="rId94"/>
    <p:sldId id="2432" r:id="rId95"/>
    <p:sldId id="2433" r:id="rId96"/>
    <p:sldId id="2556" r:id="rId97"/>
    <p:sldId id="2419" r:id="rId98"/>
    <p:sldId id="2420" r:id="rId99"/>
    <p:sldId id="2421" r:id="rId100"/>
    <p:sldId id="2555" r:id="rId101"/>
    <p:sldId id="2552" r:id="rId102"/>
    <p:sldId id="2553" r:id="rId103"/>
    <p:sldId id="2554" r:id="rId104"/>
    <p:sldId id="2588" r:id="rId105"/>
    <p:sldId id="2614" r:id="rId106"/>
    <p:sldId id="2615" r:id="rId107"/>
    <p:sldId id="2616" r:id="rId108"/>
    <p:sldId id="2589" r:id="rId109"/>
    <p:sldId id="2590" r:id="rId110"/>
    <p:sldId id="2543" r:id="rId111"/>
    <p:sldId id="2413" r:id="rId112"/>
    <p:sldId id="2414" r:id="rId113"/>
    <p:sldId id="2415" r:id="rId114"/>
    <p:sldId id="2591" r:id="rId115"/>
    <p:sldId id="2617" r:id="rId116"/>
    <p:sldId id="2618" r:id="rId117"/>
    <p:sldId id="2619" r:id="rId118"/>
    <p:sldId id="2592" r:id="rId119"/>
    <p:sldId id="2593" r:id="rId120"/>
    <p:sldId id="2620" r:id="rId121"/>
    <p:sldId id="2621" r:id="rId122"/>
    <p:sldId id="2622" r:id="rId123"/>
    <p:sldId id="2626" r:id="rId124"/>
    <p:sldId id="899" r:id="rId125"/>
  </p:sldIdLst>
  <p:sldSz cx="12192000" cy="6858000"/>
  <p:notesSz cx="6797675" cy="9926638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1pPr>
    <a:lvl2pPr marL="457200" algn="l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2pPr>
    <a:lvl3pPr marL="914400" algn="l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3pPr>
    <a:lvl4pPr marL="1371600" algn="l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4pPr>
    <a:lvl5pPr marL="1828800" algn="l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5pPr>
    <a:lvl6pPr marL="2286000" algn="l" defTabSz="914400" rtl="0" eaLnBrk="1" latinLnBrk="1" hangingPunct="1"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6pPr>
    <a:lvl7pPr marL="2743200" algn="l" defTabSz="914400" rtl="0" eaLnBrk="1" latinLnBrk="1" hangingPunct="1"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7pPr>
    <a:lvl8pPr marL="3200400" algn="l" defTabSz="914400" rtl="0" eaLnBrk="1" latinLnBrk="1" hangingPunct="1"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8pPr>
    <a:lvl9pPr marL="3657600" algn="l" defTabSz="914400" rtl="0" eaLnBrk="1" latinLnBrk="1" hangingPunct="1">
      <a:defRPr kumimoji="1" sz="2400" kern="1200">
        <a:solidFill>
          <a:schemeClr val="tx1"/>
        </a:solidFill>
        <a:latin typeface="가는각진제목체"/>
        <a:ea typeface="가는각진제목체"/>
        <a:cs typeface="가는각진제목체"/>
      </a:defRPr>
    </a:lvl9pPr>
  </p:defaultTextStyle>
  <p:extLst>
    <p:ext uri="{521415D9-36F7-43E2-AB2F-B90AF26B5E84}">
      <p14:sectionLst xmlns:p14="http://schemas.microsoft.com/office/powerpoint/2010/main">
        <p14:section name="기본 구역" id="{C1A172CB-A968-488F-A8FA-4E3218D0BE94}">
          <p14:sldIdLst>
            <p14:sldId id="623"/>
            <p14:sldId id="2500"/>
            <p14:sldId id="2501"/>
          </p14:sldIdLst>
        </p14:section>
        <p14:section name="삭품" id="{11BB4DE3-1E7A-4292-89AC-FF8F8ACFDD4D}">
          <p14:sldIdLst>
            <p14:sldId id="2418"/>
            <p14:sldId id="2404"/>
            <p14:sldId id="2405"/>
            <p14:sldId id="2406"/>
            <p14:sldId id="2541"/>
            <p14:sldId id="2542"/>
            <p14:sldId id="2425"/>
            <p14:sldId id="2426"/>
            <p14:sldId id="2427"/>
            <p14:sldId id="2602"/>
            <p14:sldId id="2544"/>
            <p14:sldId id="2422"/>
            <p14:sldId id="2423"/>
            <p14:sldId id="2424"/>
            <p14:sldId id="2565"/>
            <p14:sldId id="2546"/>
            <p14:sldId id="2603"/>
            <p14:sldId id="2604"/>
            <p14:sldId id="2605"/>
            <p14:sldId id="2606"/>
            <p14:sldId id="2549"/>
            <p14:sldId id="2434"/>
            <p14:sldId id="2435"/>
            <p14:sldId id="2436"/>
            <p14:sldId id="2582"/>
            <p14:sldId id="2599"/>
            <p14:sldId id="2600"/>
            <p14:sldId id="2601"/>
            <p14:sldId id="2586"/>
            <p14:sldId id="2607"/>
          </p14:sldIdLst>
        </p14:section>
        <p14:section name="공통/결재" id="{3BB8A938-A897-4303-9844-28B01F976CC4}">
          <p14:sldIdLst>
            <p14:sldId id="2417"/>
            <p14:sldId id="2401"/>
            <p14:sldId id="2402"/>
            <p14:sldId id="2403"/>
            <p14:sldId id="2578"/>
            <p14:sldId id="2611"/>
            <p14:sldId id="2612"/>
            <p14:sldId id="2613"/>
            <p14:sldId id="2529"/>
            <p14:sldId id="2525"/>
            <p14:sldId id="2526"/>
            <p14:sldId id="2527"/>
          </p14:sldIdLst>
        </p14:section>
        <p14:section name="비식품" id="{2A0CE618-47BA-4F90-9E2D-CBA96657EB9A}">
          <p14:sldIdLst>
            <p14:sldId id="2559"/>
            <p14:sldId id="2440"/>
            <p14:sldId id="2441"/>
            <p14:sldId id="2442"/>
            <p14:sldId id="2567"/>
            <p14:sldId id="2561"/>
            <p14:sldId id="2443"/>
            <p14:sldId id="2444"/>
            <p14:sldId id="2445"/>
            <p14:sldId id="2439"/>
            <p14:sldId id="2449"/>
            <p14:sldId id="2450"/>
            <p14:sldId id="2451"/>
            <p14:sldId id="2568"/>
            <p14:sldId id="2563"/>
            <p14:sldId id="2452"/>
            <p14:sldId id="2453"/>
            <p14:sldId id="2454"/>
            <p14:sldId id="2574"/>
            <p14:sldId id="2596"/>
            <p14:sldId id="2597"/>
            <p14:sldId id="2598"/>
          </p14:sldIdLst>
        </p14:section>
        <p14:section name="어드민" id="{9FFB9BF7-1288-4395-8680-A353A793E115}">
          <p14:sldIdLst>
            <p14:sldId id="2573"/>
            <p14:sldId id="2570"/>
            <p14:sldId id="2571"/>
            <p14:sldId id="2572"/>
            <p14:sldId id="2587"/>
            <p14:sldId id="2608"/>
            <p14:sldId id="2609"/>
            <p14:sldId id="2610"/>
            <p14:sldId id="2594"/>
            <p14:sldId id="2623"/>
            <p14:sldId id="2624"/>
            <p14:sldId id="2625"/>
          </p14:sldIdLst>
        </p14:section>
        <p14:section name="홍보물-신규(작성중)" id="{1D74359E-0EC9-481E-87DB-65717400B1E2}">
          <p14:sldIdLst>
            <p14:sldId id="2539"/>
            <p14:sldId id="2540"/>
            <p14:sldId id="2363"/>
            <p14:sldId id="2364"/>
            <p14:sldId id="2333"/>
            <p14:sldId id="2416"/>
            <p14:sldId id="2462"/>
            <p14:sldId id="2463"/>
            <p14:sldId id="2464"/>
            <p14:sldId id="2566"/>
            <p14:sldId id="2431"/>
            <p14:sldId id="2432"/>
            <p14:sldId id="2433"/>
            <p14:sldId id="2556"/>
            <p14:sldId id="2419"/>
            <p14:sldId id="2420"/>
            <p14:sldId id="2421"/>
            <p14:sldId id="2555"/>
            <p14:sldId id="2552"/>
            <p14:sldId id="2553"/>
            <p14:sldId id="2554"/>
            <p14:sldId id="2588"/>
            <p14:sldId id="2614"/>
            <p14:sldId id="2615"/>
            <p14:sldId id="2616"/>
            <p14:sldId id="2589"/>
            <p14:sldId id="2590"/>
            <p14:sldId id="2543"/>
            <p14:sldId id="2413"/>
            <p14:sldId id="2414"/>
            <p14:sldId id="2415"/>
            <p14:sldId id="2591"/>
            <p14:sldId id="2617"/>
            <p14:sldId id="2618"/>
            <p14:sldId id="2619"/>
            <p14:sldId id="2592"/>
            <p14:sldId id="2593"/>
            <p14:sldId id="2620"/>
            <p14:sldId id="2621"/>
            <p14:sldId id="2622"/>
            <p14:sldId id="2626"/>
            <p14:sldId id="899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orient="horz" pos="4156" userDrawn="1">
          <p15:clr>
            <a:srgbClr val="A4A3A4"/>
          </p15:clr>
        </p15:guide>
        <p15:guide id="3" orient="horz" pos="436" userDrawn="1">
          <p15:clr>
            <a:srgbClr val="A4A3A4"/>
          </p15:clr>
        </p15:guide>
        <p15:guide id="4" orient="horz" pos="618" userDrawn="1">
          <p15:clr>
            <a:srgbClr val="A4A3A4"/>
          </p15:clr>
        </p15:guide>
        <p15:guide id="5" pos="3840" userDrawn="1">
          <p15:clr>
            <a:srgbClr val="A4A3A4"/>
          </p15:clr>
        </p15:guide>
        <p15:guide id="6" pos="155" userDrawn="1">
          <p15:clr>
            <a:srgbClr val="A4A3A4"/>
          </p15:clr>
        </p15:guide>
        <p15:guide id="7" pos="7525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>
          <p15:clr>
            <a:srgbClr val="A4A3A4"/>
          </p15:clr>
        </p15:guide>
        <p15:guide id="2" pos="2142">
          <p15:clr>
            <a:srgbClr val="A4A3A4"/>
          </p15:clr>
        </p15:guide>
      </p15:notes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8046BB32-AED1-8C44-F2F6-6F0D89D4AEB6}" name="최선희(SCK - 영업정보 PJT) - SCM3팀" initials="선최" userId="S::shchoi@shinsegae.com::0a724038-518f-4106-ae4f-c893ef0e5f93" providerId="AD"/>
  <p188:author id="{A3F5AC4D-915E-3F88-0843-67ABF86D4A64}" name="권용훈(영업정보 PJT) - SCM3팀" initials="권PS" userId="S::yonghoonkwon@shinsegae.com::5392679d-96c6-4e10-820f-7c72864fa6ac" providerId="AD"/>
  <p188:author id="{D131455F-31EC-D286-3834-99CD0421A8FB}" name="김지수(대고객 연계업무) - SCM3팀" initials="김연S" userId="S::js0802@shinsegae.com::a33c36ba-d7c8-427d-bf48-8326249d3f93" providerId="AD"/>
  <p188:author id="{133D578D-2FF4-1BE5-DC3F-C57B5955ED80}" name="박종춘 - SCK(PC)" initials="종박" userId="S::tee02k@shinsegae.com::04b4030b-8977-493a-bb92-975ba6bb731b" providerId="AD"/>
  <p188:author id="{A83502A2-B321-A31D-DB7C-A69C79D9D7C0}" name="유화종/SCK(PC)/tee094" initials="유유" userId="S::tee094@shinsegae.com::e53ba871-7013-4421-a381-befb2f616e01" providerId="AD"/>
  <p188:author id="{2C8E69B0-484E-E869-BE23-D8D7B0076B0C}" name="진기섭(서고터 - 소화물 epis) - SCM3팀" initials="진소eS" userId="S::giseob.jin@shinsegae.com::a7cd5c0a-53a1-4120-ae13-34c2917331fa" providerId="AD"/>
  <p188:author id="{E5B7D0D8-7044-3BC7-FD6C-0492CF08FA82}" name="김장연(폰드∙파트너) - 기술운영파트" initials="김기" userId="S::pond@starbucks.co.kr::39456340-a4e1-4853-a9f0-fec32c1949f1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4E1E1"/>
    <a:srgbClr val="046241"/>
    <a:srgbClr val="FFFFFF"/>
    <a:srgbClr val="1E3932"/>
    <a:srgbClr val="017756"/>
    <a:srgbClr val="F3F3F3"/>
    <a:srgbClr val="0000FF"/>
    <a:srgbClr val="FCECC1"/>
    <a:srgbClr val="F7F7F7"/>
    <a:srgbClr val="77A22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0311" autoAdjust="0"/>
    <p:restoredTop sz="96242" autoAdjust="0"/>
  </p:normalViewPr>
  <p:slideViewPr>
    <p:cSldViewPr snapToGrid="0">
      <p:cViewPr varScale="1">
        <p:scale>
          <a:sx n="106" d="100"/>
          <a:sy n="106" d="100"/>
        </p:scale>
        <p:origin x="318" y="108"/>
      </p:cViewPr>
      <p:guideLst>
        <p:guide orient="horz" pos="2160"/>
        <p:guide orient="horz" pos="4156"/>
        <p:guide orient="horz" pos="436"/>
        <p:guide orient="horz" pos="618"/>
        <p:guide pos="3840"/>
        <p:guide pos="155"/>
        <p:guide pos="7525"/>
      </p:guideLst>
    </p:cSldViewPr>
  </p:slideViewPr>
  <p:notesTextViewPr>
    <p:cViewPr>
      <p:scale>
        <a:sx n="125" d="100"/>
        <a:sy n="125" d="100"/>
      </p:scale>
      <p:origin x="0" y="0"/>
    </p:cViewPr>
  </p:notesTextViewPr>
  <p:notesViewPr>
    <p:cSldViewPr snapToGrid="0">
      <p:cViewPr>
        <p:scale>
          <a:sx n="1" d="2"/>
          <a:sy n="1" d="2"/>
        </p:scale>
        <p:origin x="3786" y="930"/>
      </p:cViewPr>
      <p:guideLst>
        <p:guide orient="horz" pos="3127"/>
        <p:guide pos="2142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6" Type="http://schemas.openxmlformats.org/officeDocument/2006/relationships/slide" Target="slides/slide12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28" Type="http://schemas.openxmlformats.org/officeDocument/2006/relationships/presProps" Target="presProps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18" Type="http://schemas.openxmlformats.org/officeDocument/2006/relationships/slide" Target="slides/slide114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124" Type="http://schemas.openxmlformats.org/officeDocument/2006/relationships/slide" Target="slides/slide120.xml"/><Relationship Id="rId129" Type="http://schemas.openxmlformats.org/officeDocument/2006/relationships/viewProps" Target="viewProps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130" Type="http://schemas.openxmlformats.org/officeDocument/2006/relationships/theme" Target="theme/theme1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openxmlformats.org/officeDocument/2006/relationships/slide" Target="slides/slide116.xml"/><Relationship Id="rId125" Type="http://schemas.openxmlformats.org/officeDocument/2006/relationships/slide" Target="slides/slide121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slide" Target="slides/slide111.xml"/><Relationship Id="rId131" Type="http://schemas.openxmlformats.org/officeDocument/2006/relationships/tableStyles" Target="tableStyle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126" Type="http://schemas.openxmlformats.org/officeDocument/2006/relationships/notesMaster" Target="notesMasters/notesMaster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microsoft.com/office/2018/10/relationships/authors" Target="authors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/Relationships>
</file>

<file path=ppt/comments/modernComment_9EB_9273B9C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8BFE8DF1-0624-4D63-9183-560209C16E88}" authorId="{2C8E69B0-484E-E869-BE23-D8D7B0076B0C}" created="2025-07-08T07:07:40.815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2457057728" sldId="2539"/>
      <ac:spMk id="13" creationId="{4F1DEF6D-C990-7AE3-F762-5FFA786826B4}"/>
      <ac:txMk cp="11">
        <ac:context len="12" hash="3451375269"/>
      </ac:txMk>
    </ac:txMkLst>
    <p188:pos x="1493646" y="441334"/>
    <p188:replyLst>
      <p188:reply id="{8B828E8B-348D-4AF2-8F46-599EE193E181}" authorId="{A83502A2-B321-A31D-DB7C-A69C79D9D7C0}" created="2025-07-09T00:31:29.168">
        <p188:txBody>
          <a:bodyPr/>
          <a:lstStyle/>
          <a:p>
            <a:r>
              <a:rPr lang="ko-KR" altLang="en-US"/>
              <a:t>1)삭제 2) 적용</a:t>
            </a:r>
          </a:p>
        </p188:txBody>
      </p188:reply>
    </p188:replyLst>
    <p188:txBody>
      <a:bodyPr/>
      <a:lstStyle/>
      <a:p>
        <a:r>
          <a:rPr lang="ko-KR" altLang="en-US"/>
          <a:t>1) 홍보물은 기안 작성 없음
2) 홍보물에 포함된 안전성검토는 
  - 작성중, 반려 제외 상태 문서 포함 가능</a:t>
        </a:r>
      </a:p>
    </p188:txBody>
  </p188:cm>
  <p188:cm id="{F008566C-D807-4F7B-8186-92C49A3E84FA}" authorId="{2C8E69B0-484E-E869-BE23-D8D7B0076B0C}" created="2025-07-08T07:16:05.687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2457057728" sldId="2539"/>
      <ac:graphicFrameMk id="90" creationId="{30BDAEFA-392C-34E7-ABB6-2484BC3B8561}"/>
    </ac:deMkLst>
    <p188:txBody>
      <a:bodyPr/>
      <a:lstStyle/>
      <a:p>
        <a:r>
          <a:rPr lang="ko-KR" altLang="en-US"/>
          <a:t>홍보물 검토완료에서 상태값 풀리는 조건
정의 필요
</a:t>
        </a:r>
      </a:p>
    </p188:txBody>
  </p188:cm>
</p188:cmLst>
</file>

<file path=ppt/comments/modernComment_9ED_D8F2162D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596BD952-796E-428D-84F0-9F928D70B4CE}" authorId="{2C8E69B0-484E-E869-BE23-D8D7B0076B0C}" created="2025-07-09T06:28:16.414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639744045" sldId="2541"/>
      <ac:graphicFrameMk id="200" creationId="{BE636640-AEDD-3CDE-6F33-3FE98EB54494}"/>
      <ac:tblMk/>
      <ac:tcMk rowId="1716425458" colId="343791260"/>
      <ac:txMk cp="0" len="195">
        <ac:context len="196" hash="602798435"/>
      </ac:txMk>
    </ac:txMkLst>
    <p188:pos x="2045975" y="948592"/>
    <p188:txBody>
      <a:bodyPr/>
      <a:lstStyle/>
      <a:p>
        <a:r>
          <a:rPr lang="ko-KR" altLang="en-US"/>
          <a:t>소비기한대상 여부 확인중 오류 발생시
안전성검토 문서 작성 진행 방향은?
 1) 임시저장, 검토요청 가능 
 2) 문서작성 진행 불가?
의견주세요 </a:t>
        </a:r>
      </a:p>
    </p188:txBody>
  </p188:cm>
</p188:cmLst>
</file>

<file path=ppt/comments/modernComment_971_25AA81BC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5A886B71-ED76-4A26-B1DD-20BAE9F7C2D7}" authorId="{2C8E69B0-484E-E869-BE23-D8D7B0076B0C}" created="2025-07-10T05:10:12.256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631931324" sldId="2417"/>
      <ac:picMk id="25" creationId="{512BB0ED-E133-4509-8438-46357A20C07A}"/>
    </ac:deMkLst>
    <p188:txBody>
      <a:bodyPr/>
      <a:lstStyle/>
      <a:p>
        <a:r>
          <a:rPr lang="ko-KR" altLang="en-US"/>
          <a:t>Ｓｋｕ를　필수로　넣고　조회　하며　１년　이다</a:t>
        </a:r>
      </a:p>
    </p188:txBody>
  </p188:cm>
</p188:cmLst>
</file>

<file path=ppt/comments/modernComment_A01_3A3B3EE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212C9578-843E-4B43-B0CE-A661FE936757}" authorId="{2C8E69B0-484E-E869-BE23-D8D7B0076B0C}" created="2025-07-08T05:23:26.724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976961248" sldId="2561"/>
      <ac:graphicFrameMk id="235" creationId="{20052DC6-8BF9-3E09-1EF8-5B8FE236D629}"/>
      <ac:tblMk/>
      <ac:tcMk rowId="10001" colId="20001"/>
      <ac:txMk cp="34" len="9">
        <ac:context len="89" hash="3534243922"/>
      </ac:txMk>
    </ac:txMkLst>
    <p188:pos x="1626005" y="354346"/>
    <p188:replyLst>
      <p188:reply id="{12946614-916D-4004-8160-B26B9D466A49}" authorId="{A83502A2-B321-A31D-DB7C-A69C79D9D7C0}" created="2025-07-09T00:19:07.621">
        <p188:txBody>
          <a:bodyPr/>
          <a:lstStyle/>
          <a:p>
            <a:r>
              <a:rPr lang="ko-KR" altLang="en-US"/>
              <a:t>적용</a:t>
            </a:r>
          </a:p>
        </p188:txBody>
      </p188:reply>
    </p188:replyLst>
    <p188:txBody>
      <a:bodyPr/>
      <a:lstStyle/>
      <a:p>
        <a:r>
          <a:rPr lang="ko-KR" altLang="en-US"/>
          <a:t>항목삭제후 기존 자료는 요청자와 검토자 모두 조회만 가능</a:t>
        </a:r>
      </a:p>
    </p188:txBody>
  </p188:cm>
  <p188:cm id="{6ED16C62-118D-4F2C-89B5-FE5CAA9A9342}" authorId="{2C8E69B0-484E-E869-BE23-D8D7B0076B0C}" created="2025-07-08T05:24:01.411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976961248" sldId="2561"/>
      <ac:graphicFrameMk id="235" creationId="{20052DC6-8BF9-3E09-1EF8-5B8FE236D629}"/>
      <ac:tblMk/>
      <ac:tcMk rowId="10003" colId="20001"/>
      <ac:txMk cp="37" len="8">
        <ac:context len="95" hash="3749953610"/>
      </ac:txMk>
    </ac:txMkLst>
    <p188:pos x="1786025" y="963946"/>
    <p188:replyLst>
      <p188:reply id="{B1FFDDD1-5306-4F78-BCC9-96BE79490BCD}" authorId="{A83502A2-B321-A31D-DB7C-A69C79D9D7C0}" created="2025-07-09T00:19:12.929">
        <p188:txBody>
          <a:bodyPr/>
          <a:lstStyle/>
          <a:p>
            <a:r>
              <a:rPr lang="ko-KR" altLang="en-US"/>
              <a:t>적용</a:t>
            </a:r>
          </a:p>
        </p188:txBody>
      </p188:reply>
    </p188:replyLst>
    <p188:txBody>
      <a:bodyPr/>
      <a:lstStyle/>
      <a:p>
        <a:r>
          <a:rPr lang="ko-KR" altLang="en-US"/>
          <a:t>항목삭제후 기존 자료는 요청자와 검토자 모두 조회만 가능</a:t>
        </a:r>
      </a:p>
    </p188:txBody>
  </p188:cm>
</p188:cmLst>
</file>

<file path=ppt/comments/modernComment_A1A_9E0CAA32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1DAFAE14-B4D5-4451-9B53-D8DE24B714DB}" authorId="{2C8E69B0-484E-E869-BE23-D8D7B0076B0C}" created="2025-07-07T08:19:52.867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2651630130" sldId="2586"/>
      <ac:graphicFrameMk id="235" creationId="{D359E98F-3CA0-95B3-5FF0-E63C1E344C81}"/>
      <ac:tblMk/>
      <ac:tcMk rowId="1659261244" colId="20001"/>
      <ac:txMk cp="0" len="66">
        <ac:context len="166" hash="519374211"/>
      </ac:txMk>
    </ac:txMkLst>
    <p188:pos x="2052207" y="1190980"/>
    <p188:txBody>
      <a:bodyPr/>
      <a:lstStyle/>
      <a:p>
        <a:r>
          <a:rPr lang="ko-KR" altLang="en-US"/>
          <a:t>소비기한 입력창에서 입력 방식 조건  최종 확인
  ▶ 소비기한 입력창에서 1보다 작은수 차단 또는 -값, 특수문자 모두 차단
  ▶ 화면에 입력할 수 있는 최대 자릿수 확인 필요 정수값으로 9,999 이상인지? 
  ▶ '단위' 선택후 입력된 정수값이 있는 상태에서 '단위 변경'은 입력값 초기화 여부</a:t>
        </a:r>
      </a:p>
    </p188:txBody>
  </p188:cm>
</p188:cmLst>
</file>

<file path=ppt/comments/modernComment_A1B_D7D596B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B7675CB-2B8B-4681-ABEA-A528965A7B71}" authorId="{2C8E69B0-484E-E869-BE23-D8D7B0076B0C}" created="2025-07-08T06:40:13.701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621099188" sldId="2587"/>
      <ac:graphicFrameMk id="139" creationId="{56AF4B5F-EF22-6629-D741-0C94DAE4E1F9}"/>
      <ac:tblMk/>
      <ac:tcMk rowId="10001" colId="20001"/>
      <ac:txMk cp="70" len="18">
        <ac:context len="89" hash="2776898222"/>
      </ac:txMk>
    </ac:txMkLst>
    <p188:pos x="1558884" y="742966"/>
    <p188:txBody>
      <a:bodyPr/>
      <a:lstStyle/>
      <a:p>
        <a:r>
          <a:rPr lang="ko-KR" altLang="en-US"/>
          <a:t>문구 수정</a:t>
        </a:r>
      </a:p>
    </p188:txBody>
  </p188:cm>
  <p188:cm id="{FB663E48-A15E-47D6-9FD7-14BF0D6D2CFA}" authorId="{2C8E69B0-484E-E869-BE23-D8D7B0076B0C}" created="2025-07-08T06:43:13.557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621099188" sldId="2587"/>
      <ac:graphicFrameMk id="139" creationId="{56AF4B5F-EF22-6629-D741-0C94DAE4E1F9}"/>
      <ac:tblMk/>
      <ac:tcMk rowId="2143881198" colId="20001"/>
      <ac:txMk cp="0" len="35">
        <ac:context len="69" hash="1162872881"/>
      </ac:txMk>
    </ac:txMkLst>
    <p188:pos x="1673184" y="3112786"/>
    <p188:replyLst>
      <p188:reply id="{E1A590AE-8B87-4128-8D18-CC73B838249F}" authorId="{A83502A2-B321-A31D-DB7C-A69C79D9D7C0}" created="2025-07-09T00:18:34.250">
        <p188:txBody>
          <a:bodyPr/>
          <a:lstStyle/>
          <a:p>
            <a:r>
              <a:rPr lang="ko-KR" altLang="en-US"/>
              <a:t>적용</a:t>
            </a:r>
          </a:p>
        </p188:txBody>
      </p188:reply>
    </p188:replyLst>
    <p188:txBody>
      <a:bodyPr/>
      <a:lstStyle/>
      <a:p>
        <a:r>
          <a:rPr lang="ko-KR" altLang="en-US"/>
          <a:t>검토완료 문서에 '전자결재'가 적용된 문서를 상태변경 할 수 없다 추가
홍보물에 포함된 안전성검토 문서의 상태 변경시 검토자에게 Alert 표기</a:t>
        </a:r>
      </a:p>
    </p188:txBody>
  </p188:cm>
</p188:cmLst>
</file>

<file path=ppt/comments/modernComment_A1C_FF996ED3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1657E3DC-44D8-43E1-B09C-63BED1683BF2}" authorId="{2C8E69B0-484E-E869-BE23-D8D7B0076B0C}" created="2025-07-08T07:50:10.797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4288245459" sldId="2588"/>
      <ac:graphicFrameMk id="87" creationId="{2F0CEBFE-8C67-C236-F3D4-91BAF669CF0E}"/>
      <ac:tblMk/>
      <ac:tcMk rowId="362893792" colId="20001"/>
      <ac:txMk cp="0" len="21">
        <ac:context len="22" hash="369062201"/>
      </ac:txMk>
    </ac:txMkLst>
    <p188:pos x="1924834" y="3790098"/>
    <p188:replyLst>
      <p188:reply id="{BC8AD769-B91B-4E42-9DDB-DEDCD0927032}" authorId="{A83502A2-B321-A31D-DB7C-A69C79D9D7C0}" created="2025-07-09T00:34:29.450">
        <p188:txBody>
          <a:bodyPr/>
          <a:lstStyle/>
          <a:p>
            <a:r>
              <a:rPr lang="ko-KR" altLang="en-US"/>
              <a:t>안전성검토와 같은 방식으로 처리예정</a:t>
            </a:r>
          </a:p>
        </p188:txBody>
      </p188:reply>
    </p188:replyLst>
    <p188:txBody>
      <a:bodyPr/>
      <a:lstStyle/>
      <a:p>
        <a:r>
          <a:rPr lang="ko-KR" altLang="en-US"/>
          <a:t>상태에 따라 삭제 문구가 달라지지 않을까요? 완전삭제와 플레그 처리 차이가 있어서 
1)검토요청 &gt; 선택된 정보가 삭제 되었습니다
2)작성중 &gt; 삭제시 모든 검토 내용이 삭제됩니다 정말 삭제하시겠습니까 ?</a:t>
        </a:r>
      </a:p>
    </p188:txBody>
  </p188:cm>
</p188:cmLst>
</file>

<file path=ppt/comments/modernComment_A1D_1AA6756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D20CD181-9570-4AE2-9E09-D5F33680AEAF}" authorId="{2C8E69B0-484E-E869-BE23-D8D7B0076B0C}" created="2025-07-08T08:26:54.691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447116640" sldId="2589"/>
      <ac:graphicFrameMk id="235" creationId="{20052DC6-8BF9-3E09-1EF8-5B8FE236D629}"/>
      <ac:tblMk/>
      <ac:tcMk rowId="2126225478" colId="20001"/>
      <ac:txMk cp="0" len="59">
        <ac:context len="61" hash="3269599722"/>
      </ac:txMk>
    </ac:txMkLst>
    <p188:pos x="1819222" y="2282206"/>
    <p188:replyLst>
      <p188:reply id="{B94D7512-FC32-4A17-87C1-E1D53AE33C45}" authorId="{A83502A2-B321-A31D-DB7C-A69C79D9D7C0}" created="2025-07-09T00:45:42.055">
        <p188:txBody>
          <a:bodyPr/>
          <a:lstStyle/>
          <a:p>
            <a:r>
              <a:rPr lang="ko-KR" altLang="en-US"/>
              <a:t>안전성검토와 같은 방식으로 처리예정</a:t>
            </a:r>
          </a:p>
        </p188:txBody>
      </p188:reply>
    </p188:replyLst>
    <p188:txBody>
      <a:bodyPr/>
      <a:lstStyle/>
      <a:p>
        <a:r>
          <a:rPr lang="ko-KR" altLang="en-US"/>
          <a:t>삭제는 삭제플레그 처리 한다는 부분 포함요청</a:t>
        </a:r>
      </a:p>
    </p188:txBody>
  </p188:cm>
  <p188:cm id="{BF0A5588-4F7D-4225-81F6-1E64C99A26BE}" authorId="{2C8E69B0-484E-E869-BE23-D8D7B0076B0C}" created="2025-07-08T08:47:23.241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447116640" sldId="2589"/>
      <ac:graphicFrameMk id="154" creationId="{4D5ABDEB-AA56-4E20-3968-A7910388FD7B}"/>
      <ac:tblMk/>
      <ac:tcMk rowId="4629290" colId="20001"/>
      <ac:txMk cp="0" len="30">
        <ac:context len="45" hash="2377945704"/>
      </ac:txMk>
    </ac:txMkLst>
    <p188:pos x="1996442" y="2792746"/>
    <p188:replyLst>
      <p188:reply id="{65D8772B-3508-44B6-B3A4-BB6B95DCBBD5}" authorId="{A83502A2-B321-A31D-DB7C-A69C79D9D7C0}" created="2025-07-09T00:41:41.639">
        <p188:txBody>
          <a:bodyPr/>
          <a:lstStyle/>
          <a:p>
            <a:r>
              <a:rPr lang="ko-KR" altLang="en-US"/>
              <a:t>관리자 화면에서 업로드 적용</a:t>
            </a:r>
          </a:p>
        </p188:txBody>
      </p188:reply>
    </p188:replyLst>
    <p188:txBody>
      <a:bodyPr/>
      <a:lstStyle/>
      <a:p>
        <a:r>
          <a:rPr lang="ko-KR" altLang="en-US"/>
          <a:t>홍보물검토현황에서는 가이드문서 아직 준비되지 않음 관리자 화면에서 업로드 될 수 있게 체크 필요</a:t>
        </a:r>
      </a:p>
    </p188:txBody>
  </p188:cm>
</p188:cmLst>
</file>

<file path=ppt/comments/modernComment_A1E_7924B10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0D6E7876-CDB8-4215-AA6C-4D7B27447577}" authorId="{2C8E69B0-484E-E869-BE23-D8D7B0076B0C}" created="2025-07-08T08:52:03.061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2032447754" sldId="2590"/>
      <ac:graphicFrameMk id="235" creationId="{20052DC6-8BF9-3E09-1EF8-5B8FE236D629}"/>
      <ac:tblMk/>
      <ac:tcMk rowId="10001" colId="20001"/>
      <ac:txMk cp="0" len="43">
        <ac:context len="44" hash="1527754163"/>
      </ac:txMk>
    </ac:txMkLst>
    <p188:pos x="1976525" y="232426"/>
    <p188:replyLst>
      <p188:reply id="{9D0669FA-5DA5-488D-9529-48953E511DEF}" authorId="{A83502A2-B321-A31D-DB7C-A69C79D9D7C0}" created="2025-07-10T00:59:50.556">
        <p188:txBody>
          <a:bodyPr/>
          <a:lstStyle/>
          <a:p>
            <a:r>
              <a:rPr lang="ko-KR" altLang="en-US"/>
              <a:t>수정</a:t>
            </a:r>
          </a:p>
        </p188:txBody>
      </p188:reply>
    </p188:replyLst>
    <p188:txBody>
      <a:bodyPr/>
      <a:lstStyle/>
      <a:p>
        <a:r>
          <a:rPr lang="ko-KR" altLang="en-US"/>
          <a:t>홍보물 주의사항 문구 초안
입니다. 문구 교체 필요합니다.
1.홍보물 검토요청 시 제품정보에 등록되는 SKU의 "안전성 검토가 완료된 건"에 대해 등록을 권장드립니다.
 - 제품정보에 등록되는 SKU의 안전성 검토 서류가 변경될 경우, 홍보물 검토결과가 변경될 수 있습니다.
2. 홍보물 검토가 완료되었으나, 제품정보에 등록되는 SKU의 안전성 검토가 "반려될 경우" 홍보물 검토 완료는 자동 해제됩니다.</a:t>
        </a:r>
      </a:p>
    </p188:txBody>
  </p188:cm>
</p188:cmLst>
</file>

<file path=ppt/comments/modernComment_A1F_F716BC3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10234642-AADD-4461-85B0-C5133BF35FF0}" authorId="{2C8E69B0-484E-E869-BE23-D8D7B0076B0C}" created="2025-07-08T08:56:45.870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4145462320" sldId="2591"/>
      <ac:graphicFrameMk id="235" creationId="{20052DC6-8BF9-3E09-1EF8-5B8FE236D629}"/>
      <ac:tblMk/>
      <ac:tcMk rowId="3239713541" colId="20001"/>
      <ac:txMk cp="0">
        <ac:context len="36" hash="992880881"/>
      </ac:txMk>
    </ac:txMkLst>
    <p188:pos x="2047822" y="3211846"/>
    <p188:replyLst>
      <p188:reply id="{6BC512A2-83F1-4B05-A009-3E4C0365C4D9}" authorId="{A83502A2-B321-A31D-DB7C-A69C79D9D7C0}" created="2025-07-09T00:47:41.325">
        <p188:txBody>
          <a:bodyPr/>
          <a:lstStyle/>
          <a:p>
            <a:r>
              <a:rPr lang="ko-KR" altLang="en-US"/>
              <a:t>수정</a:t>
            </a:r>
          </a:p>
        </p188:txBody>
      </p188:reply>
    </p188:replyLst>
    <p188:txBody>
      <a:bodyPr/>
      <a:lstStyle/>
      <a:p>
        <a:r>
          <a:rPr lang="ko-KR" altLang="en-US"/>
          <a:t>홍보물유형에 사용자 검색으로 잘못 작성함 내용 검토 필요</a:t>
        </a:r>
      </a:p>
    </p188:txBody>
  </p188:cm>
  <p188:cm id="{C5566562-32D7-4D8E-85D7-10BDC57F50C8}" authorId="{2C8E69B0-484E-E869-BE23-D8D7B0076B0C}" created="2025-07-08T08:58:01.051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4145462320" sldId="2591"/>
      <ac:graphicFrameMk id="235" creationId="{20052DC6-8BF9-3E09-1EF8-5B8FE236D629}"/>
      <ac:tblMk/>
      <ac:tcMk rowId="2063375606" colId="20001"/>
      <ac:txMk cp="0">
        <ac:context len="1" hash="13"/>
      </ac:txMk>
    </ac:txMkLst>
    <p188:pos x="2047822" y="4591066"/>
    <p188:replyLst>
      <p188:reply id="{B0038694-815D-4FC9-B68F-DAEF800613F0}" authorId="{A83502A2-B321-A31D-DB7C-A69C79D9D7C0}" created="2025-07-09T00:49:21.416">
        <p188:txBody>
          <a:bodyPr/>
          <a:lstStyle/>
          <a:p>
            <a:r>
              <a:rPr lang="ko-KR" altLang="en-US"/>
              <a:t>수정</a:t>
            </a:r>
          </a:p>
        </p188:txBody>
      </p188:reply>
    </p188:replyLst>
    <p188:txBody>
      <a:bodyPr/>
      <a:lstStyle/>
      <a:p>
        <a:r>
          <a:rPr lang="ko-KR" altLang="en-US"/>
          <a:t>화면 설계에 8번 항목 누락됨</a:t>
        </a:r>
      </a:p>
    </p188:txBody>
  </p188:cm>
  <p188:cm id="{388C8E63-115A-4C55-A6E6-B99D2CCDAE7B}" authorId="{2C8E69B0-484E-E869-BE23-D8D7B0076B0C}" created="2025-07-08T08:59:45.650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4145462320" sldId="2591"/>
      <ac:graphicFrameMk id="40" creationId="{ABC429F2-0518-2FD0-8168-B51A29C577BC}"/>
      <ac:tblMk/>
      <ac:tcMk rowId="894205363" colId="20001"/>
      <ac:txMk cp="0" len="72">
        <ac:context len="73" hash="854384019"/>
      </ac:txMk>
    </ac:txMkLst>
    <p188:pos x="2035703" y="1710706"/>
    <p188:replyLst>
      <p188:reply id="{DB7D2A64-ED27-4603-A075-31B13A460785}" authorId="{A83502A2-B321-A31D-DB7C-A69C79D9D7C0}" created="2025-07-09T00:50:59.374">
        <p188:txBody>
          <a:bodyPr/>
          <a:lstStyle/>
          <a:p>
            <a:r>
              <a:rPr lang="ko-KR" altLang="en-US"/>
              <a:t>수정</a:t>
            </a:r>
          </a:p>
        </p188:txBody>
      </p188:reply>
    </p188:replyLst>
    <p188:txBody>
      <a:bodyPr/>
      <a:lstStyle/>
      <a:p>
        <a:r>
          <a:rPr lang="ko-KR" altLang="en-US"/>
          <a:t>설명내용 정리 필요 명확하게 정리바랍니다</a:t>
        </a:r>
      </a:p>
    </p188:txBody>
  </p188:cm>
  <p188:cm id="{38D109E0-D6F3-41B3-B1D4-9A96FB9C370D}" authorId="{A83502A2-B321-A31D-DB7C-A69C79D9D7C0}" created="2025-07-09T04:31:41.584">
    <pc:sldMkLst xmlns:pc="http://schemas.microsoft.com/office/powerpoint/2013/main/command">
      <pc:docMk/>
      <pc:sldMk cId="4145462320" sldId="2591"/>
    </pc:sldMkLst>
    <p188:txBody>
      <a:bodyPr/>
      <a:lstStyle/>
      <a:p>
        <a:r>
          <a:rPr lang="ko-KR" altLang="en-US"/>
          <a:t>홍보물 검색조건(기간)등 정의 필요</a:t>
        </a:r>
      </a:p>
    </p188:txBody>
  </p188:cm>
</p188:cmLst>
</file>

<file path=ppt/comments/modernComment_A07_7A006117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F05824A7-77F7-4484-A01C-7AF9AD6AC9A6}" authorId="{2C8E69B0-484E-E869-BE23-D8D7B0076B0C}" created="2025-07-08T05:12:20.827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2046845207" sldId="2567"/>
      <ac:graphicFrameMk id="235" creationId="{20052DC6-8BF9-3E09-1EF8-5B8FE236D629}"/>
      <ac:tblMk/>
      <ac:tcMk rowId="10004" colId="20001"/>
      <ac:txMk cp="42">
        <ac:context len="65" hash="2494537156"/>
      </ac:txMk>
    </ac:txMkLst>
    <p188:pos x="1917284" y="1862900"/>
    <p188:replyLst>
      <p188:reply id="{3CDDA03F-C092-4891-8858-78808041A11B}" authorId="{A83502A2-B321-A31D-DB7C-A69C79D9D7C0}" created="2025-07-09T00:19:23.831">
        <p188:txBody>
          <a:bodyPr/>
          <a:lstStyle/>
          <a:p>
            <a:r>
              <a:rPr lang="ko-KR" altLang="en-US"/>
              <a:t>적용</a:t>
            </a:r>
          </a:p>
        </p188:txBody>
      </p188:reply>
    </p188:replyLst>
    <p188:txBody>
      <a:bodyPr/>
      <a:lstStyle/>
      <a:p>
        <a:r>
          <a:rPr lang="ko-KR" altLang="en-US"/>
          <a:t>‘직수입'의 참조자는 신규 안전성검토 문서의 요청자 권한과 동일하다.</a:t>
        </a:r>
      </a:p>
    </p188:txBody>
  </p188:cm>
</p188:cmLst>
</file>

<file path=ppt/comments/modernComment_A08_E3CE5BB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32AE9FCF-7E5A-4893-9B3C-3634AE31BA24}" authorId="{2C8E69B0-484E-E869-BE23-D8D7B0076B0C}" created="2025-07-08T05:51:49.893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238871995" sldId="2568"/>
      <ac:graphicFrameMk id="235" creationId="{20052DC6-8BF9-3E09-1EF8-5B8FE236D629}"/>
      <ac:tblMk/>
      <ac:tcMk rowId="723127357" colId="20001"/>
      <ac:txMk cp="8" len="5">
        <ac:context len="57" hash="3120408148"/>
      </ac:txMk>
    </ac:txMkLst>
    <p188:pos x="781191" y="1863106"/>
    <p188:replyLst>
      <p188:reply id="{3786A3AE-6B66-4E99-AD90-2DA370B78CA8}" authorId="{A83502A2-B321-A31D-DB7C-A69C79D9D7C0}" created="2025-07-09T00:18:55.798">
        <p188:txBody>
          <a:bodyPr/>
          <a:lstStyle/>
          <a:p>
            <a:r>
              <a:rPr lang="ko-KR" altLang="en-US"/>
              <a:t>적용</a:t>
            </a:r>
          </a:p>
        </p188:txBody>
      </p188:reply>
    </p188:replyLst>
    <p188:txBody>
      <a:bodyPr/>
      <a:lstStyle/>
      <a:p>
        <a:r>
          <a:rPr lang="ko-KR" altLang="en-US"/>
          <a:t>조건부완료 선택시 팝업Alert 표시 요청
"조건부완료로 처리하시겠습니까?”</a:t>
        </a:r>
      </a:p>
    </p188:txBody>
  </p188:cm>
</p188:cmLst>
</file>

<file path=ppt/comments/modernComment_A12_12EED0F6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00AA7B30-9F65-4392-989D-E6DAAF78D6CD}" authorId="{2C8E69B0-484E-E869-BE23-D8D7B0076B0C}" created="2025-07-07T08:22:23.553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17640950" sldId="2578"/>
      <ac:graphicFrameMk id="235" creationId="{A052B5EC-15E0-FE0C-0B6E-5AADC94D0BDC}"/>
      <ac:tblMk/>
      <ac:tcMk rowId="10001" colId="20001"/>
      <ac:txMk cp="90">
        <ac:context len="111" hash="2979901444"/>
      </ac:txMk>
    </ac:txMkLst>
    <p188:pos x="1173080" y="881396"/>
    <p188:replyLst>
      <p188:reply id="{C1CAC9EA-E693-4291-A11F-5BF25CD7EA1B}" authorId="{2C8E69B0-484E-E869-BE23-D8D7B0076B0C}" created="2025-07-07T08:24:41.198">
        <p188:txBody>
          <a:bodyPr/>
          <a:lstStyle/>
          <a:p>
            <a:r>
              <a:rPr lang="ko-KR" altLang="en-US"/>
              <a:t>식품/비식품 처럼 홍보물 첨부파일 다운로드 기능 적용 요청</a:t>
            </a:r>
          </a:p>
        </p188:txBody>
      </p188:reply>
      <p188:reply id="{4E58BE2B-C0D6-46CD-BCEA-DFCD211F6F4D}" authorId="{2C8E69B0-484E-E869-BE23-D8D7B0076B0C}" created="2025-07-07T08:26:53.024">
        <p188:txBody>
          <a:bodyPr/>
          <a:lstStyle/>
          <a:p>
            <a:r>
              <a:rPr lang="ko-KR" altLang="en-US"/>
              <a:t>그리드에 타이틀 클릭시 정렬기능 필요</a:t>
            </a:r>
          </a:p>
        </p188:txBody>
      </p188:reply>
      <p188:reply id="{68228266-9FBD-4755-842C-8FF75BE06C41}" authorId="{A83502A2-B321-A31D-DB7C-A69C79D9D7C0}" created="2025-07-09T00:19:39.179">
        <p188:txBody>
          <a:bodyPr/>
          <a:lstStyle/>
          <a:p>
            <a:r>
              <a:rPr lang="ko-KR" altLang="en-US"/>
              <a:t>적용</a:t>
            </a:r>
          </a:p>
        </p188:txBody>
      </p188:reply>
    </p188:replyLst>
    <p188:txBody>
      <a:bodyPr/>
      <a:lstStyle/>
      <a:p>
        <a:r>
          <a:rPr lang="ko-KR" altLang="en-US"/>
          <a:t>홍보물은 검토완료 문서 불러오기 기능 없음</a:t>
        </a:r>
      </a:p>
    </p188:txBody>
  </p188:cm>
  <p188:cm id="{04327EA8-5D1D-4918-BB38-AE092075D921}" authorId="{2C8E69B0-484E-E869-BE23-D8D7B0076B0C}" created="2025-07-07T08:25:30.697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17640950" sldId="2578"/>
      <ac:graphicFrameMk id="235" creationId="{A052B5EC-15E0-FE0C-0B6E-5AADC94D0BDC}"/>
      <ac:tblMk/>
      <ac:tcMk rowId="2751295648" colId="20001"/>
      <ac:txMk cp="0" len="3">
        <ac:context len="20" hash="3803083273"/>
      </ac:txMk>
    </ac:txMkLst>
    <p188:pos x="661818" y="2274482"/>
    <p188:replyLst>
      <p188:reply id="{EA256337-42CC-41EA-B85E-7483A31E0247}" authorId="{2C8E69B0-484E-E869-BE23-D8D7B0076B0C}" created="2025-07-07T08:26:38.378">
        <p188:txBody>
          <a:bodyPr/>
          <a:lstStyle/>
          <a:p>
            <a:r>
              <a:rPr lang="ko-KR" altLang="en-US"/>
              <a:t>파일 이름에 특수문자가 있으면 Alert 안내 필요</a:t>
            </a:r>
          </a:p>
        </p188:txBody>
      </p188:reply>
      <p188:reply id="{FD8A0FE8-4D51-4BEB-8D1C-E933FB321EC7}" authorId="{A83502A2-B321-A31D-DB7C-A69C79D9D7C0}" created="2025-07-07T08:56:40.655">
        <p188:txBody>
          <a:bodyPr/>
          <a:lstStyle/>
          <a:p>
            <a:r>
              <a:rPr lang="ko-KR" altLang="en-US"/>
              <a:t> 파일명 길이 특수문자 사용은 파일 업로드시에 관리</a:t>
            </a:r>
          </a:p>
        </p188:txBody>
      </p188:reply>
    </p188:replyLst>
    <p188:txBody>
      <a:bodyPr/>
      <a:lstStyle/>
      <a:p>
        <a:r>
          <a:rPr lang="ko-KR" altLang="en-US"/>
          <a:t>파일명은 공통코드를 이용하기 때문에 최대 100Byte까지 적용 가능 수정불가</a:t>
        </a:r>
      </a:p>
    </p188:txBody>
  </p188:cm>
  <p188:cm id="{A97F03B7-C545-4831-9C3A-800821523262}" authorId="{2C8E69B0-484E-E869-BE23-D8D7B0076B0C}" created="2025-07-10T05:13:01.155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17640950" sldId="2578"/>
      <ac:graphicFrameMk id="23" creationId="{050925F6-7F9D-A6BF-B7B4-2CB3749728A5}"/>
      <ac:tblMk/>
      <ac:tcMk rowId="2213429559" colId="20001"/>
      <ac:txMk cp="27" len="1">
        <ac:context len="45" hash="4113957215"/>
      </ac:txMk>
    </ac:txMkLst>
    <p188:pos x="3101809" y="290481"/>
    <p188:txBody>
      <a:bodyPr/>
      <a:lstStyle/>
      <a:p>
        <a:r>
          <a:rPr lang="ko-KR" altLang="en-US"/>
          <a:t>제목삭제　합니다　７．１０</a:t>
        </a:r>
      </a:p>
    </p188:txBody>
  </p188:cm>
</p188:cmLst>
</file>

<file path=ppt/comments/modernComment_A16_B1700383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DE162B57-2A72-4B2E-902D-6B19DC57F04C}" authorId="{2C8E69B0-484E-E869-BE23-D8D7B0076B0C}" created="2025-07-07T08:16:48.594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2976908163" sldId="2582"/>
      <ac:graphicFrameMk id="235" creationId="{4BD76C7E-A0DE-8C1A-4178-7AE8DDE1CCD1}"/>
      <ac:tblMk/>
      <ac:tcMk rowId="4291329190" colId="20001"/>
      <ac:txMk cp="13">
        <ac:context len="14" hash="2516093761"/>
      </ac:txMk>
    </ac:txMkLst>
    <p188:pos x="1873970" y="1272737"/>
    <p188:txBody>
      <a:bodyPr/>
      <a:lstStyle/>
      <a:p>
        <a:r>
          <a:rPr lang="ko-KR" altLang="en-US"/>
          <a:t>화면 설명과 맞지 않음
 → 식품만 해당사항
 → 저장하면 검토자에게 알림 발송됨</a:t>
        </a:r>
      </a:p>
    </p188:txBody>
  </p188:cm>
</p188:cmLst>
</file>

<file path=ppt/comments/modernComment_A20_C632E3F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327112C5-B779-4EE6-86FD-5CEE1E9F16EF}" authorId="{2C8E69B0-484E-E869-BE23-D8D7B0076B0C}" created="2025-07-08T09:05:32.967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325223924" sldId="2592"/>
      <ac:graphicFrameMk id="235" creationId="{20052DC6-8BF9-3E09-1EF8-5B8FE236D629}"/>
      <ac:tblMk/>
      <ac:tcMk rowId="1223365557" colId="20001"/>
      <ac:txMk cp="0" len="75">
        <ac:context len="76" hash="872989125"/>
      </ac:txMk>
    </ac:txMkLst>
    <p188:pos x="2085922" y="2541286"/>
    <p188:txBody>
      <a:bodyPr/>
      <a:lstStyle/>
      <a:p>
        <a:r>
          <a:rPr lang="ko-KR" altLang="en-US"/>
          <a:t>요청자/검토자  사용하는 버튼 권한이 누구인지 구분 필요 </a:t>
        </a:r>
      </a:p>
    </p188:txBody>
  </p188:cm>
  <p188:cm id="{7BCA554F-26BC-4B96-AA37-EBB5CA697FBF}" authorId="{2C8E69B0-484E-E869-BE23-D8D7B0076B0C}" created="2025-07-08T09:05:45.536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325223924" sldId="2592"/>
      <ac:graphicFrameMk id="235" creationId="{20052DC6-8BF9-3E09-1EF8-5B8FE236D629}"/>
      <ac:tblMk/>
      <ac:tcMk rowId="723127357" colId="20001"/>
      <ac:txMk cp="0" len="22">
        <ac:context len="23" hash="717843732"/>
      </ac:txMk>
    </ac:txMkLst>
    <p188:pos x="1857322" y="2282206"/>
    <p188:txBody>
      <a:bodyPr/>
      <a:lstStyle/>
      <a:p>
        <a:r>
          <a:rPr lang="ko-KR" altLang="en-US"/>
          <a:t>요청자/검토자  사용하는 버튼 권한이 누구인지 구분 필요 </a:t>
        </a:r>
      </a:p>
    </p188:txBody>
  </p188:cm>
  <p188:cm id="{84DB5C59-D329-4B2D-88F8-9958AFAABB67}" authorId="{2C8E69B0-484E-E869-BE23-D8D7B0076B0C}" created="2025-07-08T09:06:08.015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3325223924" sldId="2592"/>
      <ac:graphicFrameMk id="235" creationId="{20052DC6-8BF9-3E09-1EF8-5B8FE236D629}"/>
      <ac:tblMk/>
      <ac:tcMk rowId="1604618969" colId="20001"/>
      <ac:txMk cp="0" len="58">
        <ac:context len="59" hash="1271117594"/>
      </ac:txMk>
    </ac:txMkLst>
    <p188:pos x="1910662" y="3143266"/>
    <p188:txBody>
      <a:bodyPr/>
      <a:lstStyle/>
      <a:p>
        <a:r>
          <a:rPr lang="ko-KR" altLang="en-US"/>
          <a:t>요청자/검토자  사용하는 버튼 권한이 누구인지 구분 필요 </a:t>
        </a:r>
      </a:p>
    </p188:txBody>
  </p188:cm>
</p188:cmLst>
</file>

<file path=ppt/comments/modernComment_A21_FC94C16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4DFA69D-FB2F-43C5-803C-82F29246FB82}" authorId="{2C8E69B0-484E-E869-BE23-D8D7B0076B0C}" created="2025-07-08T09:07:06.321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4237607268" sldId="2593"/>
      <ac:graphicFrameMk id="235" creationId="{20052DC6-8BF9-3E09-1EF8-5B8FE236D629}"/>
      <ac:tblMk/>
      <ac:tcMk rowId="10001" colId="20001"/>
      <ac:txMk cp="0" len="79">
        <ac:context len="80" hash="2427843062"/>
      </ac:txMk>
    </ac:txMkLst>
    <p188:pos x="2085922" y="232426"/>
    <p188:replyLst>
      <p188:reply id="{5CFEFFC2-C524-4BE9-BF69-386520BBADF0}" authorId="{A83502A2-B321-A31D-DB7C-A69C79D9D7C0}" created="2025-07-09T00:54:47.226">
        <p188:txBody>
          <a:bodyPr/>
          <a:lstStyle/>
          <a:p>
            <a:r>
              <a:rPr lang="ko-KR" altLang="en-US"/>
              <a:t>보완서류 처리부분 삭제처리</a:t>
            </a:r>
          </a:p>
        </p188:txBody>
      </p188:reply>
    </p188:replyLst>
    <p188:txBody>
      <a:bodyPr/>
      <a:lstStyle/>
      <a:p>
        <a:r>
          <a:rPr lang="ko-KR" altLang="en-US"/>
          <a:t>홍보물은 조건부 완료가 없음</a:t>
        </a:r>
      </a:p>
    </p188:txBody>
  </p188:cm>
</p188:cmLst>
</file>

<file path=ppt/comments/modernComment_A22_4285846B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58BD9714-ADBA-40C9-ABF7-4B512B968BAC}" authorId="{2C8E69B0-484E-E869-BE23-D8D7B0076B0C}" created="2025-07-08T06:45:38.072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1116046443" sldId="2594"/>
      <ac:graphicFrameMk id="139" creationId="{A6675B28-2273-0BF4-F8BD-30396651161D}"/>
      <ac:tblMk/>
      <ac:tcMk rowId="10001" colId="20001"/>
      <ac:txMk cp="15">
        <ac:context len="16" hash="2849039490"/>
      </ac:txMk>
    </ac:txMkLst>
    <p188:pos x="1436964" y="742966"/>
    <p188:txBody>
      <a:bodyPr/>
      <a:lstStyle/>
      <a:p>
        <a:r>
          <a:rPr lang="ko-KR" altLang="en-US"/>
          <a:t>문구 변경</a:t>
        </a:r>
      </a:p>
    </p188:txBody>
  </p188:cm>
</p188:cmLst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1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t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가는각진제목체" pitchFamily="18" charset="-127"/>
                <a:ea typeface="가는각진제목체" pitchFamily="18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9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51275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가는각진제목체" pitchFamily="18" charset="-127"/>
                <a:ea typeface="가는각진제목체" pitchFamily="18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9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1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가는각진제목체" pitchFamily="18" charset="-127"/>
                <a:ea typeface="가는각진제목체" pitchFamily="18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9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51275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가는각진제목체" pitchFamily="18" charset="-127"/>
                <a:ea typeface="가는각진제목체" pitchFamily="18" charset="-127"/>
                <a:cs typeface="+mn-cs"/>
              </a:defRPr>
            </a:lvl1pPr>
          </a:lstStyle>
          <a:p>
            <a:pPr>
              <a:defRPr/>
            </a:pPr>
            <a:fld id="{FBFD8338-B2E3-47CD-9FB8-B7188EA068E0}" type="slidenum">
              <a:rPr lang="en-US" altLang="ko-KR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‹#›</a:t>
            </a:fld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06552371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1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t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1433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49689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2253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0488" y="744538"/>
            <a:ext cx="6616700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434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1" y="4714876"/>
            <a:ext cx="5438775" cy="4467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 dirty="0"/>
              <a:t>마스터 텍스트 스타일을 편집합니다</a:t>
            </a:r>
          </a:p>
          <a:p>
            <a:pPr lvl="1"/>
            <a:r>
              <a:rPr lang="ko-KR" altLang="en-US" noProof="0" dirty="0"/>
              <a:t>둘째 수준</a:t>
            </a:r>
          </a:p>
          <a:p>
            <a:pPr lvl="2"/>
            <a:r>
              <a:rPr lang="ko-KR" altLang="en-US" noProof="0" dirty="0"/>
              <a:t>셋째 수준</a:t>
            </a:r>
          </a:p>
          <a:p>
            <a:pPr lvl="3"/>
            <a:r>
              <a:rPr lang="ko-KR" altLang="en-US" noProof="0" dirty="0"/>
              <a:t>넷째 수준</a:t>
            </a:r>
          </a:p>
          <a:p>
            <a:pPr lvl="4"/>
            <a:r>
              <a:rPr lang="ko-KR" altLang="en-US" noProof="0" dirty="0"/>
              <a:t>다섯째 수준</a:t>
            </a:r>
          </a:p>
        </p:txBody>
      </p:sp>
      <p:sp>
        <p:nvSpPr>
          <p:cNvPr id="1434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1" y="9428164"/>
            <a:ext cx="2946400" cy="496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1434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89" y="9428164"/>
            <a:ext cx="2946400" cy="496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93" tIns="46047" rIns="92093" bIns="46047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>
              <a:defRPr/>
            </a:pPr>
            <a:fld id="{FC067350-5769-40EC-A16B-13368AAF8082}" type="slidenum">
              <a:rPr lang="en-US" altLang="ko-KR" smtClean="0"/>
              <a:pPr>
                <a:defRPr/>
              </a:pPr>
              <a:t>‹#›</a:t>
            </a:fld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89066737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맑은 고딕" panose="020B0503020000020004" pitchFamily="50" charset="-127"/>
        <a:ea typeface="맑은 고딕" panose="020B0503020000020004" pitchFamily="50" charset="-127"/>
        <a:cs typeface="맑은 고딕" panose="020B0503020000020004" pitchFamily="50" charset="-127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맑은 고딕" panose="020B0503020000020004" pitchFamily="50" charset="-127"/>
        <a:ea typeface="맑은 고딕" panose="020B0503020000020004" pitchFamily="50" charset="-127"/>
        <a:cs typeface="맑은 고딕" panose="020B0503020000020004" pitchFamily="50" charset="-127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맑은 고딕" panose="020B0503020000020004" pitchFamily="50" charset="-127"/>
        <a:ea typeface="맑은 고딕" panose="020B0503020000020004" pitchFamily="50" charset="-127"/>
        <a:cs typeface="맑은 고딕" panose="020B0503020000020004" pitchFamily="50" charset="-127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맑은 고딕" panose="020B0503020000020004" pitchFamily="50" charset="-127"/>
        <a:ea typeface="맑은 고딕" panose="020B0503020000020004" pitchFamily="50" charset="-127"/>
        <a:cs typeface="맑은 고딕" panose="020B0503020000020004" pitchFamily="50" charset="-127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맑은 고딕" panose="020B0503020000020004" pitchFamily="50" charset="-127"/>
        <a:ea typeface="맑은 고딕" panose="020B0503020000020004" pitchFamily="50" charset="-127"/>
        <a:cs typeface="맑은 고딕" panose="020B0503020000020004" pitchFamily="50" charset="-127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108192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E5CFCF-473E-514F-34AF-7881C88E87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Rectangle 1026">
            <a:extLst>
              <a:ext uri="{FF2B5EF4-FFF2-40B4-BE49-F238E27FC236}">
                <a16:creationId xmlns:a16="http://schemas.microsoft.com/office/drawing/2014/main" id="{A43D2C6E-0C28-33E5-35EF-837092D0A77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0488" y="744538"/>
            <a:ext cx="6616700" cy="3722687"/>
          </a:xfrm>
          <a:ln/>
        </p:spPr>
      </p:sp>
      <p:sp>
        <p:nvSpPr>
          <p:cNvPr id="24580" name="Rectangle 1027">
            <a:extLst>
              <a:ext uri="{FF2B5EF4-FFF2-40B4-BE49-F238E27FC236}">
                <a16:creationId xmlns:a16="http://schemas.microsoft.com/office/drawing/2014/main" id="{B9E5B882-494C-AF40-F059-DCE974420F3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ko-KR" altLang="ko-KR" dirty="0"/>
          </a:p>
        </p:txBody>
      </p:sp>
    </p:spTree>
    <p:extLst>
      <p:ext uri="{BB962C8B-B14F-4D97-AF65-F5344CB8AC3E}">
        <p14:creationId xmlns:p14="http://schemas.microsoft.com/office/powerpoint/2010/main" val="164527022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0732925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955912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0728457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869498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2548629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FDE234-94BD-21A6-183E-6FDCD5B2D4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B31FBAE-9F5C-046B-CAAA-5C5AE05265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A20D82-763E-9E9F-37D6-DD65D53B04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43978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A13E8-1C10-E33A-EA0F-6F1ADD22E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EBD519-63B6-1BD1-84EA-CF9339ECE5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E93AD63-C0FC-EE4D-3FCA-3F4A31A345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955003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FE033C-1E40-C7EA-2983-84987DE4F8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9049AC0-30FC-3BDD-D680-90F5BDB3510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4BDD768-B8CB-9636-CB56-E31B9B67DE3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1254750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marL="0" marR="0" lvl="0" indent="0" algn="l" defTabSz="914400" rtl="0" eaLnBrk="0" fontAlgn="base" latinLnBrk="1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490973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D5B5F5-99EE-9C96-56E9-D1C3C8F27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189CBF-3B96-D85E-BC64-B69F196126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D79ED1-4E0D-CDBC-1971-5F973BFAD3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3080176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714195-FC20-B20D-14BF-2C7CF6D02A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8708C0A-027A-5E6C-0F14-2949E09A05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C3AC004-FB34-9A66-A51D-347F249F8D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4009507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8189750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4183536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FDE234-94BD-21A6-183E-6FDCD5B2D4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B31FBAE-9F5C-046B-CAAA-5C5AE05265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A20D82-763E-9E9F-37D6-DD65D53B04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439784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A13E8-1C10-E33A-EA0F-6F1ADD22E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EBD519-63B6-1BD1-84EA-CF9339ECE5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E93AD63-C0FC-EE4D-3FCA-3F4A31A345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9550039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6C58F9-9F55-ABD2-CD8F-6766CAD53A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A323AE4-7674-55B6-D6E5-86A7943CB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043771-4EC1-C9B7-4397-EFAFEE9E06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2104080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4939710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1B3E6A-C76F-FEE6-767A-13469E2C3A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172235B-D97E-06CE-4FB3-E7EB2FB42F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F179F02-943A-F6EF-5A7A-9A56CACB81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296152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5E5A21-B8B9-81CE-60A0-0527227BF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1949FCE-0804-3BC9-18AA-605B9F23E1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BB6B6DA-C160-FD2F-DAF0-D999231EBB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3747757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8710-1441-9721-ECFB-E20DB076A4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924B55D-3AC0-8C37-46B3-4BA1C867A1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8B48036-4499-AD73-E271-731E2EE045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4629796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E7E27-6D16-FA2D-6D97-55A3CA08F6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BEA1520-CD25-F427-82D6-1B9D9795BD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BB58455-2C22-ADEF-BFC5-E3E42AC8CB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774142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027CD8-8DC5-0739-DDDA-F76F6C3484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455AB22-862E-5C65-7D20-85A8EA868F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E7B32B-A16D-5A9D-4F89-5982D19440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3654275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337B22-CB2F-9875-51A4-2D8010704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B980583-07E2-A167-4B5A-A9A99A71E2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884094-4F9E-2CB1-2246-BFA05C846D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833344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3989A-250F-7F69-D735-0FBB5CF88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C3F533-B333-A1F2-09B9-A6DF67511B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A51037-F5C4-1935-29ED-D84EB3475E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3481732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68724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6529134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771925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A28F21-C4FB-F74E-038A-72831BF544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F6FA0CB-1187-71F3-AC6B-62664038E7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EB56EC-B790-486D-CDF1-9B8A1AECC2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968952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E62A53-5960-9278-DBB0-51AE30549E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51E8B0-3C16-03A3-0345-3C8AE36314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B776138-6410-F095-E88E-183C0157E8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9861080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63366E-8C0E-7CA1-9E5E-5C38B03726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FC643E3-0D51-9F45-CFBD-676DC47A32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CB8CC67-9DEE-F1C9-7AE8-947AA60D7B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2160324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8616592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553CD9-978A-D099-D8F1-D7D3134A0A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EB51C3-16AD-BAC5-6783-BEC7B3A6DB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045BC94-9BE0-DEB8-EAEC-160D0D94BA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2327904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79798C-FEF4-491D-35E0-4DC26F671F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8754CF-5E74-68C9-69E6-AC26B71E43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E583D2D-E9CD-3C03-AC61-E525A4CE93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82119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295908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8525610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7321358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5293042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6640764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564736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3152700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21605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3562748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0873896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6974818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7370017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3341340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2989238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68961C-A685-61D0-91D4-FEDBA435AA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0436111-418C-8D8D-0929-E1A237163F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EA1FD57-0918-8236-4350-B38FF626B2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62169762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016C67-95D6-BCAF-05A5-3BA5BF94B4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12074B-D089-751A-F053-06303D1A4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F08BA9-1B01-A947-8A21-8100F092F9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9269454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011C8D-F0BA-0D04-C13F-257353F342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E63D230-BCBC-2225-664E-7D45208DA3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93F690-377C-535B-629E-BEB62E3AFF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3283199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7BB410-9988-0BC0-CDCC-F01BD4C0E9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BA7967C-F1B2-48F4-F688-80227DBD82B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F92FF29-B47E-FE0C-E54E-39A7DFA536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6842846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638C35-3FE3-9C38-0E91-341B7C4DF9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CF2A2FE-A98F-A7F6-9611-9E5CFE70B5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119699D-F5EA-F8C3-893D-BF3D6A6AEE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383023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CBE33E-5394-8ACD-F97E-87E7F98D2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A1D2A6A-1808-F6B7-16B2-346C04A7A2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FF6506-06F4-E10A-AF84-D0731DE6EA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6438344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320F1A-26B1-60DE-6868-CFDDDC3EC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22578EA-1EC0-B060-C1F8-01996244B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488AA99-AC68-FF1F-0CBB-45EB2F9D96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7824201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25F8C5-8FB5-4BD4-48E2-31B36BCD2F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AF99790-1AC6-4C1F-4E04-AAFC788833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F2855FE-7B3C-F049-8872-C6DFA057A3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9498791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5DBFD-D1E5-8018-8A8C-36E1F8F876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C0F448C-73FD-4006-7ADE-9C19BBE12F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F1163A1-A552-C4FE-B94E-464A46FA24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4486562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E24C85-C657-430E-5AAA-0F3881A559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F4413B-2275-E6C2-1B95-EBEC044BCA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4646B3D-DA35-0DF9-1D61-7DD7FABD02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1604839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69F478-791A-12D7-8E85-2CEE701B1C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CFF7980-E4A5-7C6A-0E3B-FCA4B7A9DA5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04BCF8A-FAAE-F996-81A4-233168DF02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6117625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D5783F-CB8D-DF34-3015-FC2AFE87CF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83EB62-F85E-0712-3EB1-93787B0E53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E09253B-4306-0C77-FA2E-932769AE11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9588695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C0CD67-9BD5-625F-B716-F7FFCFA648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04C5B0-77A3-635C-566F-92A8476600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61DC495-4C0A-7E57-FCBC-8DFA0C413E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146548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17B886-A59B-BB79-3275-8859CCBB1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750F7AB-62B6-63E4-530A-43BDE98730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6DE4E2B-473F-9681-0F51-16D492D81C5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3472985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5739079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8089709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AFC301-EB81-8377-8CB6-E0B90C7D10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956FF24-D9CC-9A55-E390-17303A9DA6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458B95F-2943-0BAA-938C-17ECA710B8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34082732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8316115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9478460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1493240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40C96C-878D-438D-AF97-5C4057B08A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C64B5FE-27CF-9326-8581-9369856E19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98FCA6-C809-6253-2477-6800055F63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4771134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4DD331-147C-AD8F-F853-BB718824C0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09B09A7-EBDC-166C-497C-F662C8D01E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8CC761-AB82-BDF9-29B1-90E07E69EE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0333366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376462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4346230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385534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A70C67-8604-30FA-5588-F3B00A8F0E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55891D0-8D59-39A1-C4DA-8FFAE039FA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D165E4-435E-477F-6B18-9660442463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348825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99C12D-015C-C606-DE40-5AD5988EDD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943EEBB-A881-F369-BBBF-B9551C13D03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F8453D6-4220-4C44-D7A5-C33F5A21B7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5163389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E9603-6B8C-CF43-BCB2-339DFDF92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BDC808-721D-FEA2-8094-5AC5DADB5E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28FA16-6529-C345-5A46-1C5777D455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0794243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07329255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955912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0728457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8694982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2548629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63167793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0400394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0856628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marL="0" marR="0" lvl="0" indent="0" algn="l" defTabSz="914400" rtl="0" eaLnBrk="0" fontAlgn="base" latinLnBrk="1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4909734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3562748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08738966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8189750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41835363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33413403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29892382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22817-4C4F-37BF-E87E-CE69C06ACF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9C728D-E60F-75B0-DFDB-D5C04A696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3373141-8934-FB53-479F-357C2E4807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1333219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899708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46186" y="836613"/>
            <a:ext cx="2127739" cy="144462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609600" y="1600203"/>
            <a:ext cx="10972800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2pPr>
            <a:lvl3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3pPr>
            <a:lvl4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4pPr>
            <a:lvl5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슬라이드 번호 개체 틀 9">
            <a:extLst>
              <a:ext uri="{FF2B5EF4-FFF2-40B4-BE49-F238E27FC236}">
                <a16:creationId xmlns:a16="http://schemas.microsoft.com/office/drawing/2014/main" id="{233C0F22-EB41-29E5-BFB4-BA1E2419C3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963247" y="4406903"/>
            <a:ext cx="103632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963247" y="2906713"/>
            <a:ext cx="103632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 marL="457212" indent="0">
              <a:buNone/>
              <a:defRPr sz="1800"/>
            </a:lvl2pPr>
            <a:lvl3pPr marL="914423" indent="0">
              <a:buNone/>
              <a:defRPr sz="1600"/>
            </a:lvl3pPr>
            <a:lvl4pPr marL="1371634" indent="0">
              <a:buNone/>
              <a:defRPr sz="1400"/>
            </a:lvl4pPr>
            <a:lvl5pPr marL="1828846" indent="0">
              <a:buNone/>
              <a:defRPr sz="1400"/>
            </a:lvl5pPr>
            <a:lvl6pPr marL="2286057" indent="0">
              <a:buNone/>
              <a:defRPr sz="1400"/>
            </a:lvl6pPr>
            <a:lvl7pPr marL="2743269" indent="0">
              <a:buNone/>
              <a:defRPr sz="1400"/>
            </a:lvl7pPr>
            <a:lvl8pPr marL="3200480" indent="0">
              <a:buNone/>
              <a:defRPr sz="1400"/>
            </a:lvl8pPr>
            <a:lvl9pPr marL="3657691" indent="0">
              <a:buNone/>
              <a:defRPr sz="14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5" name="슬라이드 번호 개체 틀 9">
            <a:extLst>
              <a:ext uri="{FF2B5EF4-FFF2-40B4-BE49-F238E27FC236}">
                <a16:creationId xmlns:a16="http://schemas.microsoft.com/office/drawing/2014/main" id="{A40ED464-DE3F-3F9E-742A-16B65DDCE4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46186" y="836613"/>
            <a:ext cx="2127739" cy="144462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609600" y="1600203"/>
            <a:ext cx="5392615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>
              <a:defRPr sz="24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2pPr>
            <a:lvl3pPr>
              <a:defRPr sz="20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3pPr>
            <a:lvl4pPr>
              <a:defRPr sz="1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4pPr>
            <a:lvl5pPr>
              <a:defRPr sz="1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6189786" y="1600203"/>
            <a:ext cx="5392615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>
              <a:defRPr sz="24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2pPr>
            <a:lvl3pPr>
              <a:defRPr sz="20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3pPr>
            <a:lvl4pPr>
              <a:defRPr sz="1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4pPr>
            <a:lvl5pPr>
              <a:defRPr sz="1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6" name="슬라이드 번호 개체 틀 9">
            <a:extLst>
              <a:ext uri="{FF2B5EF4-FFF2-40B4-BE49-F238E27FC236}">
                <a16:creationId xmlns:a16="http://schemas.microsoft.com/office/drawing/2014/main" id="{AA73FBDC-7DBE-F5DE-C77D-F9DF265DF02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754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 marL="457212" indent="0">
              <a:buNone/>
              <a:defRPr sz="2000" b="1"/>
            </a:lvl2pPr>
            <a:lvl3pPr marL="914423" indent="0">
              <a:buNone/>
              <a:defRPr sz="1800" b="1"/>
            </a:lvl3pPr>
            <a:lvl4pPr marL="1371634" indent="0">
              <a:buNone/>
              <a:defRPr sz="1600" b="1"/>
            </a:lvl4pPr>
            <a:lvl5pPr marL="1828846" indent="0">
              <a:buNone/>
              <a:defRPr sz="1600" b="1"/>
            </a:lvl5pPr>
            <a:lvl6pPr marL="2286057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754" cy="3951288"/>
          </a:xfrm>
          <a:prstGeom prst="rect">
            <a:avLst/>
          </a:prstGeom>
        </p:spPr>
        <p:txBody>
          <a:bodyPr/>
          <a:lstStyle>
            <a:lvl1pPr>
              <a:defRPr sz="24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>
              <a:defRPr sz="20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2pPr>
            <a:lvl3pPr>
              <a:defRPr sz="1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3pPr>
            <a:lvl4pPr>
              <a:defRPr sz="16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4pPr>
            <a:lvl5pPr>
              <a:defRPr sz="16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6193694" y="1535113"/>
            <a:ext cx="538870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 marL="457212" indent="0">
              <a:buNone/>
              <a:defRPr sz="2000" b="1"/>
            </a:lvl2pPr>
            <a:lvl3pPr marL="914423" indent="0">
              <a:buNone/>
              <a:defRPr sz="1800" b="1"/>
            </a:lvl3pPr>
            <a:lvl4pPr marL="1371634" indent="0">
              <a:buNone/>
              <a:defRPr sz="1600" b="1"/>
            </a:lvl4pPr>
            <a:lvl5pPr marL="1828846" indent="0">
              <a:buNone/>
              <a:defRPr sz="1600" b="1"/>
            </a:lvl5pPr>
            <a:lvl6pPr marL="2286057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6193694" y="2174875"/>
            <a:ext cx="5388708" cy="3951288"/>
          </a:xfrm>
          <a:prstGeom prst="rect">
            <a:avLst/>
          </a:prstGeom>
        </p:spPr>
        <p:txBody>
          <a:bodyPr/>
          <a:lstStyle>
            <a:lvl1pPr>
              <a:defRPr sz="24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>
              <a:defRPr sz="20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2pPr>
            <a:lvl3pPr>
              <a:defRPr sz="1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3pPr>
            <a:lvl4pPr>
              <a:defRPr sz="16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4pPr>
            <a:lvl5pPr>
              <a:defRPr sz="16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8" name="슬라이드 번호 개체 틀 9">
            <a:extLst>
              <a:ext uri="{FF2B5EF4-FFF2-40B4-BE49-F238E27FC236}">
                <a16:creationId xmlns:a16="http://schemas.microsoft.com/office/drawing/2014/main" id="{B177A60A-18DF-1556-7973-F6F16FB760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9"/>
          <p:cNvSpPr>
            <a:spLocks noGrp="1"/>
          </p:cNvSpPr>
          <p:nvPr>
            <p:ph type="sldNum" sz="quarter" idx="4"/>
          </p:nvPr>
        </p:nvSpPr>
        <p:spPr>
          <a:xfrm>
            <a:off x="5652923" y="6363479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41">
            <a:extLst>
              <a:ext uri="{FF2B5EF4-FFF2-40B4-BE49-F238E27FC236}">
                <a16:creationId xmlns:a16="http://schemas.microsoft.com/office/drawing/2014/main" id="{F9D53161-8670-C504-A5D6-2DE35CE7B4D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843325" y="2110728"/>
            <a:ext cx="2087690" cy="223955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 latinLnBrk="1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Description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5" name="Rectangle 241">
            <a:extLst>
              <a:ext uri="{FF2B5EF4-FFF2-40B4-BE49-F238E27FC236}">
                <a16:creationId xmlns:a16="http://schemas.microsoft.com/office/drawing/2014/main" id="{A0AEAAE6-7FA2-56FC-875C-424285ACD898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843325" y="1405964"/>
            <a:ext cx="2087690" cy="511938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>
              <a:spcBef>
                <a:spcPct val="50000"/>
              </a:spcBef>
              <a:defRPr/>
            </a:pPr>
            <a:endParaRPr lang="ko-KR" altLang="en-US" sz="210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" name="Rectangle 241">
            <a:extLst>
              <a:ext uri="{FF2B5EF4-FFF2-40B4-BE49-F238E27FC236}">
                <a16:creationId xmlns:a16="http://schemas.microsoft.com/office/drawing/2014/main" id="{1A07F6D3-10BB-224E-6F87-7F981D4553EE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844844" y="1405964"/>
            <a:ext cx="2087690" cy="26163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 latinLnBrk="1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Description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2" name="슬라이드 번호 개체 틀 9">
            <a:extLst>
              <a:ext uri="{FF2B5EF4-FFF2-40B4-BE49-F238E27FC236}">
                <a16:creationId xmlns:a16="http://schemas.microsoft.com/office/drawing/2014/main" id="{CBC3B097-638D-49DF-7514-A3BE33D284D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247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767386" y="980731"/>
            <a:ext cx="6815015" cy="5145435"/>
          </a:xfrm>
          <a:prstGeom prst="rect">
            <a:avLst/>
          </a:prstGeom>
        </p:spPr>
        <p:txBody>
          <a:bodyPr/>
          <a:lstStyle>
            <a:lvl1pPr>
              <a:defRPr sz="32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>
              <a:defRPr sz="28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2pPr>
            <a:lvl3pPr>
              <a:defRPr sz="24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3pPr>
            <a:lvl4pPr>
              <a:defRPr sz="20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4pPr>
            <a:lvl5pPr>
              <a:defRPr sz="20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609601" y="1435103"/>
            <a:ext cx="4011247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 marL="457212" indent="0">
              <a:buNone/>
              <a:defRPr sz="1200"/>
            </a:lvl2pPr>
            <a:lvl3pPr marL="914423" indent="0">
              <a:buNone/>
              <a:defRPr sz="1000"/>
            </a:lvl3pPr>
            <a:lvl4pPr marL="1371634" indent="0">
              <a:buNone/>
              <a:defRPr sz="900"/>
            </a:lvl4pPr>
            <a:lvl5pPr marL="1828846" indent="0">
              <a:buNone/>
              <a:defRPr sz="900"/>
            </a:lvl5pPr>
            <a:lvl6pPr marL="2286057" indent="0">
              <a:buNone/>
              <a:defRPr sz="900"/>
            </a:lvl6pPr>
            <a:lvl7pPr marL="2743269" indent="0">
              <a:buNone/>
              <a:defRPr sz="900"/>
            </a:lvl7pPr>
            <a:lvl8pPr marL="3200480" indent="0">
              <a:buNone/>
              <a:defRPr sz="900"/>
            </a:lvl8pPr>
            <a:lvl9pPr marL="3657691" indent="0">
              <a:buNone/>
              <a:defRPr sz="9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5" name="슬라이드 번호 개체 틀 9">
            <a:extLst>
              <a:ext uri="{FF2B5EF4-FFF2-40B4-BE49-F238E27FC236}">
                <a16:creationId xmlns:a16="http://schemas.microsoft.com/office/drawing/2014/main" id="{44E040DD-BCA0-ED7D-84A8-F73560978E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389554" y="4800600"/>
            <a:ext cx="73152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389554" y="612775"/>
            <a:ext cx="73152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 marL="457212" indent="0">
              <a:buNone/>
              <a:defRPr sz="2800"/>
            </a:lvl2pPr>
            <a:lvl3pPr marL="914423" indent="0">
              <a:buNone/>
              <a:defRPr sz="2400"/>
            </a:lvl3pPr>
            <a:lvl4pPr marL="1371634" indent="0">
              <a:buNone/>
              <a:defRPr sz="2000"/>
            </a:lvl4pPr>
            <a:lvl5pPr marL="1828846" indent="0">
              <a:buNone/>
              <a:defRPr sz="2000"/>
            </a:lvl5pPr>
            <a:lvl6pPr marL="2286057" indent="0">
              <a:buNone/>
              <a:defRPr sz="2000"/>
            </a:lvl6pPr>
            <a:lvl7pPr marL="2743269" indent="0">
              <a:buNone/>
              <a:defRPr sz="2000"/>
            </a:lvl7pPr>
            <a:lvl8pPr marL="3200480" indent="0">
              <a:buNone/>
              <a:defRPr sz="2000"/>
            </a:lvl8pPr>
            <a:lvl9pPr marL="3657691" indent="0">
              <a:buNone/>
              <a:defRPr sz="2000"/>
            </a:lvl9pPr>
          </a:lstStyle>
          <a:p>
            <a:pPr lvl="0"/>
            <a:endParaRPr lang="ko-KR" altLang="en-US" noProof="0" dirty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389554" y="5367338"/>
            <a:ext cx="73152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 marL="457212" indent="0">
              <a:buNone/>
              <a:defRPr sz="1200"/>
            </a:lvl2pPr>
            <a:lvl3pPr marL="914423" indent="0">
              <a:buNone/>
              <a:defRPr sz="1000"/>
            </a:lvl3pPr>
            <a:lvl4pPr marL="1371634" indent="0">
              <a:buNone/>
              <a:defRPr sz="900"/>
            </a:lvl4pPr>
            <a:lvl5pPr marL="1828846" indent="0">
              <a:buNone/>
              <a:defRPr sz="900"/>
            </a:lvl5pPr>
            <a:lvl6pPr marL="2286057" indent="0">
              <a:buNone/>
              <a:defRPr sz="900"/>
            </a:lvl6pPr>
            <a:lvl7pPr marL="2743269" indent="0">
              <a:buNone/>
              <a:defRPr sz="900"/>
            </a:lvl7pPr>
            <a:lvl8pPr marL="3200480" indent="0">
              <a:buNone/>
              <a:defRPr sz="900"/>
            </a:lvl8pPr>
            <a:lvl9pPr marL="3657691" indent="0">
              <a:buNone/>
              <a:defRPr sz="9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5" name="슬라이드 번호 개체 틀 9">
            <a:extLst>
              <a:ext uri="{FF2B5EF4-FFF2-40B4-BE49-F238E27FC236}">
                <a16:creationId xmlns:a16="http://schemas.microsoft.com/office/drawing/2014/main" id="{552576EC-A337-6615-F825-BE168DA69E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46186" y="836613"/>
            <a:ext cx="2127739" cy="144462"/>
          </a:xfrm>
          <a:prstGeom prst="rect">
            <a:avLst/>
          </a:prstGeo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609600" y="1600203"/>
            <a:ext cx="10972800" cy="4525963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1pPr>
            <a:lvl2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2pPr>
            <a:lvl3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3pPr>
            <a:lvl4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4pPr>
            <a:lvl5pPr>
              <a:defRPr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슬라이드 번호 개체 틀 9">
            <a:extLst>
              <a:ext uri="{FF2B5EF4-FFF2-40B4-BE49-F238E27FC236}">
                <a16:creationId xmlns:a16="http://schemas.microsoft.com/office/drawing/2014/main" id="{DBD759AE-456C-FD92-534E-020882FDFE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8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34703929"/>
              </p:ext>
            </p:extLst>
          </p:nvPr>
        </p:nvGraphicFramePr>
        <p:xfrm>
          <a:off x="3436818" y="4473588"/>
          <a:ext cx="5318369" cy="884238"/>
        </p:xfrm>
        <a:graphic>
          <a:graphicData uri="http://schemas.openxmlformats.org/drawingml/2006/table">
            <a:tbl>
              <a:tblPr/>
              <a:tblGrid>
                <a:gridCol w="18991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192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275">
                <a:tc>
                  <a:txBody>
                    <a:bodyPr/>
                    <a:lstStyle/>
                    <a:p>
                      <a:pPr marL="0" marR="0" lvl="0" indent="0" algn="ctr" defTabSz="79375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발 사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신세계아이앤씨</a:t>
                      </a:r>
                      <a:endParaRPr kumimoji="0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marL="0" marR="0" lvl="0" indent="0" algn="ctr" defTabSz="79375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문서번호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SCK-INC-B002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688">
                <a:tc>
                  <a:txBody>
                    <a:bodyPr/>
                    <a:lstStyle/>
                    <a:p>
                      <a:pPr marL="0" marR="0" lvl="0" indent="0" algn="ctr" defTabSz="79375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작성일자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2025-06-24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8" name="Picture 83" descr="신세계아이앤씨-CI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27872" y="5988070"/>
            <a:ext cx="1739654" cy="29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" name="Picture 6" descr="C:\Users\hawks\Documents\00_Work_Temp\스타벅스\joe\resource\sss.png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84350" y="500043"/>
            <a:ext cx="2258926" cy="733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extBox 15"/>
          <p:cNvSpPr txBox="1"/>
          <p:nvPr userDrawn="1"/>
        </p:nvSpPr>
        <p:spPr>
          <a:xfrm>
            <a:off x="1084348" y="1328737"/>
            <a:ext cx="4863832" cy="600164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ko-KR"/>
            </a:defPPr>
            <a:lvl1pPr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72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2pPr>
            <a:lvl3pPr marL="9144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3pPr>
            <a:lvl4pPr marL="13716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4pPr>
            <a:lvl5pPr marL="18288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5pPr>
            <a:lvl6pPr marL="22860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6pPr>
            <a:lvl7pPr marL="27432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7pPr>
            <a:lvl8pPr marL="32004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8pPr>
            <a:lvl9pPr marL="36576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9pPr>
          </a:lstStyle>
          <a:p>
            <a:pPr algn="l" latinLnBrk="1">
              <a:spcBef>
                <a:spcPct val="0"/>
              </a:spcBef>
              <a:defRPr/>
            </a:pPr>
            <a:r>
              <a:rPr kumimoji="1" lang="ko-KR" altLang="en-US" sz="3300" b="1" baseline="0" dirty="0">
                <a:solidFill>
                  <a:srgbClr val="2A6D25"/>
                </a:solidFill>
              </a:rPr>
              <a:t>안전성검토 </a:t>
            </a:r>
            <a:r>
              <a:rPr kumimoji="1" lang="en-US" altLang="ko-KR" sz="3300" b="1" baseline="0" dirty="0">
                <a:solidFill>
                  <a:srgbClr val="2A6D25"/>
                </a:solidFill>
              </a:rPr>
              <a:t>Phase2 </a:t>
            </a:r>
            <a:r>
              <a:rPr kumimoji="1" lang="ko-KR" altLang="en-US" sz="3300" b="1" baseline="0" dirty="0">
                <a:solidFill>
                  <a:srgbClr val="2A6D25"/>
                </a:solidFill>
              </a:rPr>
              <a:t>개발</a:t>
            </a:r>
            <a:endParaRPr kumimoji="1" lang="ko-KR" altLang="en-US" sz="3300" b="1" dirty="0">
              <a:solidFill>
                <a:srgbClr val="262626"/>
              </a:solidFill>
            </a:endParaRPr>
          </a:p>
        </p:txBody>
      </p:sp>
      <p:cxnSp>
        <p:nvCxnSpPr>
          <p:cNvPr id="13" name="직선 연결선 12"/>
          <p:cNvCxnSpPr>
            <a:cxnSpLocks noChangeShapeType="1"/>
          </p:cNvCxnSpPr>
          <p:nvPr userDrawn="1"/>
        </p:nvCxnSpPr>
        <p:spPr bwMode="auto">
          <a:xfrm flipH="1">
            <a:off x="908502" y="1395412"/>
            <a:ext cx="0" cy="1962150"/>
          </a:xfrm>
          <a:prstGeom prst="line">
            <a:avLst/>
          </a:prstGeom>
          <a:noFill/>
          <a:ln w="57150" algn="ctr">
            <a:solidFill>
              <a:srgbClr val="9EAC86"/>
            </a:solidFill>
            <a:round/>
            <a:headEnd/>
            <a:tailEnd/>
          </a:ln>
        </p:spPr>
      </p:cxnSp>
      <p:sp>
        <p:nvSpPr>
          <p:cNvPr id="9" name="Rectangle 162"/>
          <p:cNvSpPr>
            <a:spLocks noChangeArrowheads="1"/>
          </p:cNvSpPr>
          <p:nvPr userDrawn="1"/>
        </p:nvSpPr>
        <p:spPr bwMode="auto">
          <a:xfrm>
            <a:off x="2485294" y="2500306"/>
            <a:ext cx="7221415" cy="720000"/>
          </a:xfrm>
          <a:prstGeom prst="rect">
            <a:avLst/>
          </a:prstGeom>
          <a:solidFill>
            <a:srgbClr val="FFFFFF"/>
          </a:solidFill>
          <a:ln w="3175">
            <a:solidFill>
              <a:srgbClr val="80808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 lIns="0" rIns="0" anchor="ctr"/>
          <a:lstStyle>
            <a:defPPr>
              <a:defRPr lang="ko-KR"/>
            </a:defPPr>
            <a:lvl1pPr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72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2pPr>
            <a:lvl3pPr marL="9144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3pPr>
            <a:lvl4pPr marL="13716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4pPr>
            <a:lvl5pPr marL="1828800" algn="ctr" rtl="0" fontAlgn="base">
              <a:spcBef>
                <a:spcPct val="50000"/>
              </a:spcBef>
              <a:spcAft>
                <a:spcPct val="0"/>
              </a:spcAft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5pPr>
            <a:lvl6pPr marL="22860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6pPr>
            <a:lvl7pPr marL="27432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7pPr>
            <a:lvl8pPr marL="32004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8pPr>
            <a:lvl9pPr marL="3657600" algn="l" defTabSz="914400" rtl="0" eaLnBrk="1" latinLnBrk="1" hangingPunct="1">
              <a:defRPr sz="900" kern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9pPr>
          </a:lstStyle>
          <a:p>
            <a:pPr defTabSz="793770" latinLnBrk="1">
              <a:spcBef>
                <a:spcPct val="0"/>
              </a:spcBef>
              <a:defRPr/>
            </a:pPr>
            <a:r>
              <a:rPr kumimoji="1" lang="ko-KR" altLang="en-US" sz="2400" b="1"/>
              <a:t>프로그램사양서</a:t>
            </a:r>
            <a:endParaRPr kumimoji="1" lang="ko-KR" altLang="en-US" sz="1600" b="1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9">
            <a:extLst>
              <a:ext uri="{FF2B5EF4-FFF2-40B4-BE49-F238E27FC236}">
                <a16:creationId xmlns:a16="http://schemas.microsoft.com/office/drawing/2014/main" id="{A6142810-083C-AF02-5883-EFA611DFCC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814288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133">
            <a:extLst>
              <a:ext uri="{FF2B5EF4-FFF2-40B4-BE49-F238E27FC236}">
                <a16:creationId xmlns:a16="http://schemas.microsoft.com/office/drawing/2014/main" id="{810FC590-1EC3-618F-27A4-25F0493B5EF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772666493"/>
              </p:ext>
            </p:extLst>
          </p:nvPr>
        </p:nvGraphicFramePr>
        <p:xfrm>
          <a:off x="246185" y="115888"/>
          <a:ext cx="11699630" cy="432000"/>
        </p:xfrm>
        <a:graphic>
          <a:graphicData uri="http://schemas.openxmlformats.org/drawingml/2006/table">
            <a:tbl>
              <a:tblPr/>
              <a:tblGrid>
                <a:gridCol w="11703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88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94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948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60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309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923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898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160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프로젝트 명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문서명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프로그램사양서</a:t>
                      </a:r>
                      <a:endParaRPr kumimoji="1" lang="en-US" altLang="ko-KR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작성자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작업일자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9600" marR="396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9600" marR="396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문서번호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Version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8" name="Picture 5" descr="C:\Users\hawks\Documents\00_Work_Temp\스타벅스\joe\resource\sss.png">
            <a:extLst>
              <a:ext uri="{FF2B5EF4-FFF2-40B4-BE49-F238E27FC236}">
                <a16:creationId xmlns:a16="http://schemas.microsoft.com/office/drawing/2014/main" id="{1356E032-767F-3CEF-D8A8-D9C16C0C29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41710" y="6542184"/>
            <a:ext cx="930564" cy="2666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" name="Picture 4">
            <a:extLst>
              <a:ext uri="{FF2B5EF4-FFF2-40B4-BE49-F238E27FC236}">
                <a16:creationId xmlns:a16="http://schemas.microsoft.com/office/drawing/2014/main" id="{8645B298-5121-07B9-6E6C-BE563480CC0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668032" y="6591322"/>
            <a:ext cx="1260231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슬라이드 번호 개체 틀 9">
            <a:extLst>
              <a:ext uri="{FF2B5EF4-FFF2-40B4-BE49-F238E27FC236}">
                <a16:creationId xmlns:a16="http://schemas.microsoft.com/office/drawing/2014/main" id="{45396DA1-AEBB-283B-9F5A-4E6009FB24D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737624" y="6397647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013780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2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57" name="Group 1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3140949"/>
              </p:ext>
            </p:extLst>
          </p:nvPr>
        </p:nvGraphicFramePr>
        <p:xfrm>
          <a:off x="246186" y="115888"/>
          <a:ext cx="11699630" cy="432000"/>
        </p:xfrm>
        <a:graphic>
          <a:graphicData uri="http://schemas.openxmlformats.org/drawingml/2006/table">
            <a:tbl>
              <a:tblPr/>
              <a:tblGrid>
                <a:gridCol w="11703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87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14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30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60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309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923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898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160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프로젝트 명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 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Phase2</a:t>
                      </a:r>
                      <a:r>
                        <a:rPr kumimoji="1" lang="ko-KR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개발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프로그램사양서</a:t>
                      </a:r>
                      <a:endParaRPr kumimoji="1" lang="en-US" altLang="ko-KR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작성자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유화종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작업일자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2025-06-24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9600" marR="396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9600" marR="396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문서번호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SCK-25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Version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1.0</a:t>
                      </a:r>
                    </a:p>
                  </a:txBody>
                  <a:tcPr marL="48738" marR="48738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Picture 5" descr="C:\Users\hawks\Documents\00_Work_Temp\스타벅스\joe\resource\sss.png"/>
          <p:cNvPicPr>
            <a:picLocks noChangeAspect="1" noChangeArrowheads="1"/>
          </p:cNvPicPr>
          <p:nvPr userDrawn="1"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241711" y="6542186"/>
            <a:ext cx="930564" cy="2666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" name="Picture 4"/>
          <p:cNvPicPr>
            <a:picLocks noChangeAspect="1" noChangeArrowheads="1"/>
          </p:cNvPicPr>
          <p:nvPr userDrawn="1"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10668032" y="6591322"/>
            <a:ext cx="1260231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0" name="슬라이드 번호 개체 틀 9"/>
          <p:cNvSpPr>
            <a:spLocks noGrp="1"/>
          </p:cNvSpPr>
          <p:nvPr>
            <p:ph type="sldNum" sz="quarter" idx="4"/>
          </p:nvPr>
        </p:nvSpPr>
        <p:spPr>
          <a:xfrm>
            <a:off x="7089996" y="264653"/>
            <a:ext cx="88615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‹#›</a:t>
            </a:fld>
            <a:r>
              <a:rPr lang="en-US" altLang="ko-KR" dirty="0">
                <a:cs typeface="맑은 고딕 Semilight" panose="020B0502040204020203" pitchFamily="50" charset="-127"/>
              </a:rPr>
              <a:t>/63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99" r:id="rId1"/>
    <p:sldLayoutId id="2147484507" r:id="rId2"/>
    <p:sldLayoutId id="2147484500" r:id="rId3"/>
    <p:sldLayoutId id="2147484501" r:id="rId4"/>
    <p:sldLayoutId id="2147484502" r:id="rId5"/>
    <p:sldLayoutId id="2147484503" r:id="rId6"/>
    <p:sldLayoutId id="2147484504" r:id="rId7"/>
    <p:sldLayoutId id="2147484505" r:id="rId8"/>
    <p:sldLayoutId id="2147484506" r:id="rId9"/>
    <p:sldLayoutId id="2147484508" r:id="rId10"/>
    <p:sldLayoutId id="2147484532" r:id="rId11"/>
    <p:sldLayoutId id="2147484533" r:id="rId12"/>
  </p:sldLayoutIdLst>
  <p:hf hdr="0" ftr="0" dt="0"/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kumimoji="1" sz="1000" b="1">
          <a:solidFill>
            <a:schemeClr val="tx2"/>
          </a:solidFill>
          <a:latin typeface="맑은 고딕" pitchFamily="50" charset="-127"/>
          <a:ea typeface="맑은 고딕" pitchFamily="50" charset="-127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kumimoji="1" sz="1000" b="1">
          <a:solidFill>
            <a:schemeClr val="tx2"/>
          </a:solidFill>
          <a:latin typeface="맑은 고딕" pitchFamily="50" charset="-127"/>
          <a:ea typeface="맑은 고딕" pitchFamily="50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kumimoji="1" sz="1000" b="1">
          <a:solidFill>
            <a:schemeClr val="tx2"/>
          </a:solidFill>
          <a:latin typeface="맑은 고딕" pitchFamily="50" charset="-127"/>
          <a:ea typeface="맑은 고딕" pitchFamily="50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kumimoji="1" sz="1000" b="1">
          <a:solidFill>
            <a:schemeClr val="tx2"/>
          </a:solidFill>
          <a:latin typeface="맑은 고딕" pitchFamily="50" charset="-127"/>
          <a:ea typeface="맑은 고딕" pitchFamily="50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kumimoji="1" sz="1000" b="1">
          <a:solidFill>
            <a:schemeClr val="tx2"/>
          </a:solidFill>
          <a:latin typeface="맑은 고딕" pitchFamily="50" charset="-127"/>
          <a:ea typeface="맑은 고딕" pitchFamily="50" charset="-127"/>
        </a:defRPr>
      </a:lvl5pPr>
      <a:lvl6pPr marL="457212" algn="ctr" rtl="0" fontAlgn="base" latinLnBrk="1">
        <a:spcBef>
          <a:spcPct val="0"/>
        </a:spcBef>
        <a:spcAft>
          <a:spcPct val="0"/>
        </a:spcAft>
        <a:defRPr kumimoji="1" sz="900">
          <a:solidFill>
            <a:schemeClr val="tx2"/>
          </a:solidFill>
          <a:latin typeface="가는각진제목체" pitchFamily="18" charset="-127"/>
          <a:ea typeface="가는각진제목체" pitchFamily="18" charset="-127"/>
        </a:defRPr>
      </a:lvl6pPr>
      <a:lvl7pPr marL="914423" algn="ctr" rtl="0" fontAlgn="base" latinLnBrk="1">
        <a:spcBef>
          <a:spcPct val="0"/>
        </a:spcBef>
        <a:spcAft>
          <a:spcPct val="0"/>
        </a:spcAft>
        <a:defRPr kumimoji="1" sz="900">
          <a:solidFill>
            <a:schemeClr val="tx2"/>
          </a:solidFill>
          <a:latin typeface="가는각진제목체" pitchFamily="18" charset="-127"/>
          <a:ea typeface="가는각진제목체" pitchFamily="18" charset="-127"/>
        </a:defRPr>
      </a:lvl7pPr>
      <a:lvl8pPr marL="1371634" algn="ctr" rtl="0" fontAlgn="base" latinLnBrk="1">
        <a:spcBef>
          <a:spcPct val="0"/>
        </a:spcBef>
        <a:spcAft>
          <a:spcPct val="0"/>
        </a:spcAft>
        <a:defRPr kumimoji="1" sz="900">
          <a:solidFill>
            <a:schemeClr val="tx2"/>
          </a:solidFill>
          <a:latin typeface="가는각진제목체" pitchFamily="18" charset="-127"/>
          <a:ea typeface="가는각진제목체" pitchFamily="18" charset="-127"/>
        </a:defRPr>
      </a:lvl8pPr>
      <a:lvl9pPr marL="1828846" algn="ctr" rtl="0" fontAlgn="base" latinLnBrk="1">
        <a:spcBef>
          <a:spcPct val="0"/>
        </a:spcBef>
        <a:spcAft>
          <a:spcPct val="0"/>
        </a:spcAft>
        <a:defRPr kumimoji="1" sz="900">
          <a:solidFill>
            <a:schemeClr val="tx2"/>
          </a:solidFill>
          <a:latin typeface="가는각진제목체" pitchFamily="18" charset="-127"/>
          <a:ea typeface="가는각진제목체" pitchFamily="18" charset="-127"/>
        </a:defRPr>
      </a:lvl9pPr>
    </p:titleStyle>
    <p:bodyStyle>
      <a:lvl1pPr marL="342908" indent="-342908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가는각진제목체"/>
        </a:defRPr>
      </a:lvl1pPr>
      <a:lvl2pPr marL="742969" indent="-285757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  <a:cs typeface="가는각진제목체"/>
        </a:defRPr>
      </a:lvl2pPr>
      <a:lvl3pPr marL="1143028" indent="-228606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  <a:cs typeface="가는각진제목체"/>
        </a:defRPr>
      </a:lvl3pPr>
      <a:lvl4pPr marL="1600240" indent="-228606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  <a:cs typeface="가는각진제목체"/>
        </a:defRPr>
      </a:lvl4pPr>
      <a:lvl5pPr marL="2057452" indent="-228606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  <a:cs typeface="가는각진제목체"/>
        </a:defRPr>
      </a:lvl5pPr>
      <a:lvl6pPr marL="2514663" indent="-228606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74" indent="-228606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86" indent="-228606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97" indent="-228606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4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6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7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9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1" algn="l" defTabSz="914423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4" Type="http://schemas.microsoft.com/office/2007/relationships/hdphoto" Target="../media/hdphoto1.wdp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microsoft.com/office/2018/10/relationships/comments" Target="../comments/modernComment_9ED_D8F2162D.xml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Relationship Id="rId4" Type="http://schemas.microsoft.com/office/2007/relationships/hdphoto" Target="../media/hdphoto1.wdp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16_B1700383.xml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1A_9E0CAA32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7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971_25AA81BC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7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12_12EED0F6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.xml"/><Relationship Id="rId4" Type="http://schemas.microsoft.com/office/2007/relationships/hdphoto" Target="../media/hdphoto1.wdp"/></Relationships>
</file>

<file path=ppt/slides/_rels/slide50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07_7A006117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0.png"/></Relationships>
</file>

<file path=ppt/slides/_rels/slide51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01_3A3B3EE0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1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Relationship Id="rId5" Type="http://schemas.microsoft.com/office/2007/relationships/hdphoto" Target="../media/hdphoto1.wdp"/><Relationship Id="rId4" Type="http://schemas.openxmlformats.org/officeDocument/2006/relationships/image" Target="../media/image5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5.xml"/><Relationship Id="rId4" Type="http://schemas.microsoft.com/office/2007/relationships/hdphoto" Target="../media/hdphoto1.wdp"/></Relationships>
</file>

<file path=ppt/slides/_rels/slide59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08_E3CE5BB.xm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.xml"/><Relationship Id="rId6" Type="http://schemas.microsoft.com/office/2007/relationships/hdphoto" Target="../media/hdphoto1.wdp"/><Relationship Id="rId5" Type="http://schemas.openxmlformats.org/officeDocument/2006/relationships/image" Target="../media/image5.png"/><Relationship Id="rId4" Type="http://schemas.openxmlformats.org/officeDocument/2006/relationships/image" Target="../media/image33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16.png"/><Relationship Id="rId7" Type="http://schemas.openxmlformats.org/officeDocument/2006/relationships/image" Target="../media/image35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.xml"/><Relationship Id="rId4" Type="http://schemas.microsoft.com/office/2007/relationships/hdphoto" Target="../media/hdphoto1.wdp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1B_D7D596B4.xml"/><Relationship Id="rId7" Type="http://schemas.openxmlformats.org/officeDocument/2006/relationships/image" Target="../media/image39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7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22_4285846B.xml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9.png"/><Relationship Id="rId5" Type="http://schemas.openxmlformats.org/officeDocument/2006/relationships/image" Target="../media/image7.png"/><Relationship Id="rId4" Type="http://schemas.openxmlformats.org/officeDocument/2006/relationships/image" Target="../media/image37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9EB_9273B9C0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9.png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7.png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8.png"/><Relationship Id="rId4" Type="http://schemas.openxmlformats.org/officeDocument/2006/relationships/image" Target="../media/image38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9.png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microsoft.com/office/2018/10/relationships/comments" Target="../comments/modernComment_A1C_FF996ED3.xml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38.png"/><Relationship Id="rId9" Type="http://schemas.openxmlformats.org/officeDocument/2006/relationships/image" Target="../media/image39.png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5.xml"/><Relationship Id="rId4" Type="http://schemas.microsoft.com/office/2007/relationships/hdphoto" Target="../media/hdphoto1.wdp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microsoft.com/office/2018/10/relationships/comments" Target="../comments/modernComment_A1D_1AA67560.xml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8.png"/><Relationship Id="rId5" Type="http://schemas.openxmlformats.org/officeDocument/2006/relationships/image" Target="../media/image38.png"/><Relationship Id="rId4" Type="http://schemas.openxmlformats.org/officeDocument/2006/relationships/image" Target="../media/image7.png"/></Relationships>
</file>

<file path=ppt/slides/_rels/slide10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1E_7924B10A.xml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1.png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5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5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microsoft.com/office/2018/10/relationships/comments" Target="../comments/modernComment_A1F_F716BC30.xml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8.png"/><Relationship Id="rId5" Type="http://schemas.microsoft.com/office/2007/relationships/hdphoto" Target="../media/hdphoto1.wdp"/><Relationship Id="rId4" Type="http://schemas.openxmlformats.org/officeDocument/2006/relationships/image" Target="../media/image5.png"/><Relationship Id="rId9" Type="http://schemas.openxmlformats.org/officeDocument/2006/relationships/image" Target="../media/image39.png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5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5.xml"/><Relationship Id="rId4" Type="http://schemas.microsoft.com/office/2007/relationships/hdphoto" Target="../media/hdphoto1.wdp"/></Relationships>
</file>

<file path=ppt/slides/_rels/slide11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20_C632E3F4.xml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1.png"/><Relationship Id="rId5" Type="http://schemas.microsoft.com/office/2007/relationships/hdphoto" Target="../media/hdphoto1.wdp"/><Relationship Id="rId4" Type="http://schemas.openxmlformats.org/officeDocument/2006/relationships/image" Target="../media/image5.png"/></Relationships>
</file>

<file path=ppt/slides/_rels/slide11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A21_FC94C164.xml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5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5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5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F2F1D-D68F-6B4B-2582-6F1B2E0D2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679" name="Group 1151">
            <a:extLst>
              <a:ext uri="{FF2B5EF4-FFF2-40B4-BE49-F238E27FC236}">
                <a16:creationId xmlns:a16="http://schemas.microsoft.com/office/drawing/2014/main" id="{41E8C87A-D678-ED58-88FD-8077F2D669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0981700"/>
              </p:ext>
            </p:extLst>
          </p:nvPr>
        </p:nvGraphicFramePr>
        <p:xfrm>
          <a:off x="1715294" y="703654"/>
          <a:ext cx="8761412" cy="1118872"/>
        </p:xfrm>
        <a:graphic>
          <a:graphicData uri="http://schemas.openxmlformats.org/drawingml/2006/table">
            <a:tbl>
              <a:tblPr/>
              <a:tblGrid>
                <a:gridCol w="16144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75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048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715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14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14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87338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 분</a:t>
                      </a:r>
                      <a:endParaRPr kumimoji="1" lang="ko-KR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 속</a:t>
                      </a:r>
                      <a:endParaRPr kumimoji="1" lang="ko-KR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 책</a:t>
                      </a:r>
                      <a:endParaRPr kumimoji="1" lang="ko-KR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작성자</a:t>
                      </a:r>
                      <a:endParaRPr kumimoji="1" lang="ko-KR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 자</a:t>
                      </a:r>
                      <a:endParaRPr kumimoji="1" lang="ko-KR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 명</a:t>
                      </a:r>
                      <a:endParaRPr kumimoji="1" lang="ko-KR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178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작성자</a:t>
                      </a:r>
                      <a:endParaRPr kumimoji="1" lang="ko-KR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신세계아이앤씨</a:t>
                      </a: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  <a:endParaRPr kumimoji="1" lang="en-US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진기섭</a:t>
                      </a:r>
                      <a:endParaRPr kumimoji="1" lang="ko-KR" alt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2025-06-24</a:t>
                      </a: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178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178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3681" name="Group 1153">
            <a:extLst>
              <a:ext uri="{FF2B5EF4-FFF2-40B4-BE49-F238E27FC236}">
                <a16:creationId xmlns:a16="http://schemas.microsoft.com/office/drawing/2014/main" id="{6EF634ED-3E48-533E-CDBA-6B678CC9AA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2081691"/>
              </p:ext>
            </p:extLst>
          </p:nvPr>
        </p:nvGraphicFramePr>
        <p:xfrm>
          <a:off x="1715294" y="2157406"/>
          <a:ext cx="8761412" cy="3901440"/>
        </p:xfrm>
        <a:graphic>
          <a:graphicData uri="http://schemas.openxmlformats.org/drawingml/2006/table">
            <a:tbl>
              <a:tblPr/>
              <a:tblGrid>
                <a:gridCol w="5642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565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63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9564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전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 내용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작성자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작성일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1.0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최초 작성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유화종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2024-06-24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1.1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진기섭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PM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문구수정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유화종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2024-07-07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1.2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QA/QC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유화종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2024-07-07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6571961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1.3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진기섭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PM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 리뷰 정리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유화종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2024-07-09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4283405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1.4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회의내용 추가 및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팀즈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내용 추가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유화종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2024-07-14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545244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1.5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팀즈내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결정사항 일부 추가 및 화면 별 개발 사양 추가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유화종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2024-07-31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620013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6979274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0427567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306674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913646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627283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9910814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3689082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821002"/>
                  </a:ext>
                </a:extLst>
              </a:tr>
              <a:tr h="18627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5894137"/>
                  </a:ext>
                </a:extLst>
              </a:tr>
            </a:tbl>
          </a:graphicData>
        </a:graphic>
      </p:graphicFrame>
      <p:sp>
        <p:nvSpPr>
          <p:cNvPr id="5223" name="Rectangle 1135">
            <a:extLst>
              <a:ext uri="{FF2B5EF4-FFF2-40B4-BE49-F238E27FC236}">
                <a16:creationId xmlns:a16="http://schemas.microsoft.com/office/drawing/2014/main" id="{28DE6594-C145-C273-4DEE-A81138862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416300"/>
            <a:ext cx="4070350" cy="225425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 defTabSz="793770"/>
            <a:r>
              <a:rPr lang="en-US" altLang="ko-KR" sz="1600" b="1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[ 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승 인 내 역 </a:t>
            </a:r>
            <a:r>
              <a:rPr lang="en-US" altLang="ko-KR" sz="1600" b="1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]</a:t>
            </a:r>
          </a:p>
        </p:txBody>
      </p:sp>
      <p:sp>
        <p:nvSpPr>
          <p:cNvPr id="5224" name="Rectangle 1136">
            <a:extLst>
              <a:ext uri="{FF2B5EF4-FFF2-40B4-BE49-F238E27FC236}">
                <a16:creationId xmlns:a16="http://schemas.microsoft.com/office/drawing/2014/main" id="{1C69F2AD-8346-BE4D-E553-E287209C9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1884455"/>
            <a:ext cx="4070350" cy="225425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 defTabSz="793770"/>
            <a:r>
              <a:rPr lang="en-US" altLang="ko-KR" sz="1600" b="1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[ 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개 정 내 역 </a:t>
            </a:r>
            <a:r>
              <a:rPr lang="en-US" altLang="ko-KR" sz="1600" b="1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10622123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95391BD-7582-D4CE-3A24-A46A8DB2B4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06175" y="6492875"/>
            <a:ext cx="885825" cy="365125"/>
          </a:xfrm>
        </p:spPr>
        <p:txBody>
          <a:bodyPr/>
          <a:lstStyle/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3</a:t>
            </a:fld>
            <a:r>
              <a:rPr lang="en-US" altLang="ko-KR" dirty="0">
                <a:cs typeface="맑은 고딕 Semilight" panose="020B0502040204020203" pitchFamily="50" charset="-127"/>
              </a:rPr>
              <a:t>/48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1DE6F60-762F-64E4-70DF-FE9900808BD1}"/>
              </a:ext>
            </a:extLst>
          </p:cNvPr>
          <p:cNvSpPr/>
          <p:nvPr/>
        </p:nvSpPr>
        <p:spPr>
          <a:xfrm>
            <a:off x="1411219" y="1080078"/>
            <a:ext cx="4371974" cy="5085830"/>
          </a:xfrm>
          <a:prstGeom prst="rect">
            <a:avLst/>
          </a:prstGeom>
          <a:noFill/>
          <a:ln w="3175">
            <a:noFill/>
          </a:ln>
        </p:spPr>
        <p:txBody>
          <a:bodyPr wrap="none" lIns="144000" tIns="72000" rIns="72000" bIns="7200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------------------------------------------------------------</a:t>
            </a:r>
            <a:endParaRPr lang="ko-KR" altLang="en-US" sz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요청 현황</a:t>
            </a: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요청 등록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수정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현황 </a:t>
            </a: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상세조회 및 수정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첨부파일 검토의견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 –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팝업</a:t>
            </a: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규정 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사유서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팝업</a:t>
            </a: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소비기한일수 계산 팝업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공통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------------------------------------------------------------</a:t>
            </a:r>
            <a:endParaRPr lang="ko-KR" altLang="en-US" sz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8.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검색 팝업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9.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일괄 다운로드 팝업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10.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기안 작성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그룹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식품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공통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----------------------------------------------------------</a:t>
            </a:r>
            <a:endParaRPr lang="ko-KR" altLang="en-US" sz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11.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요청 현황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12.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요청 등록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수정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13.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현황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14.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상세조회 및 수정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15.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 첨부파일 검토의견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1" lang="en-US" altLang="ko-KR" sz="12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endParaRPr lang="en-US" altLang="ko-KR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228600" indent="-228600">
              <a:lnSpc>
                <a:spcPct val="150000"/>
              </a:lnSpc>
              <a:buAutoNum type="arabicPeriod"/>
            </a:pPr>
            <a:endParaRPr kumimoji="1" lang="en-US" altLang="ko-KR" sz="1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228600" indent="-228600">
              <a:lnSpc>
                <a:spcPct val="150000"/>
              </a:lnSpc>
              <a:buAutoNum type="arabicPeriod"/>
            </a:pPr>
            <a:endParaRPr lang="en-US" altLang="ko-KR" sz="120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0FCFA72-9048-1138-2984-0A34F97885D8}"/>
              </a:ext>
            </a:extLst>
          </p:cNvPr>
          <p:cNvSpPr txBox="1"/>
          <p:nvPr/>
        </p:nvSpPr>
        <p:spPr>
          <a:xfrm>
            <a:off x="3508465" y="492578"/>
            <a:ext cx="4371974" cy="461665"/>
          </a:xfrm>
          <a:prstGeom prst="rect">
            <a:avLst/>
          </a:prstGeom>
          <a:solidFill>
            <a:srgbClr val="017756"/>
          </a:solidFill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Contents.</a:t>
            </a:r>
            <a:endParaRPr lang="ko-KR" altLang="en-US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5" name="Picture 6" descr="C:\Users\hawks\Documents\00_Work_Temp\스타벅스\joe\resource\sss.png">
            <a:extLst>
              <a:ext uri="{FF2B5EF4-FFF2-40B4-BE49-F238E27FC236}">
                <a16:creationId xmlns:a16="http://schemas.microsoft.com/office/drawing/2014/main" id="{43A99C76-171F-DFF9-7FC4-A3A0BA378C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403506" y="5756249"/>
            <a:ext cx="2258926" cy="733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0478B572-6793-87F2-920E-156593C08B0F}"/>
              </a:ext>
            </a:extLst>
          </p:cNvPr>
          <p:cNvSpPr/>
          <p:nvPr/>
        </p:nvSpPr>
        <p:spPr>
          <a:xfrm>
            <a:off x="6346982" y="1080078"/>
            <a:ext cx="4371974" cy="5169721"/>
          </a:xfrm>
          <a:prstGeom prst="rect">
            <a:avLst/>
          </a:prstGeom>
          <a:noFill/>
          <a:ln w="3175">
            <a:noFill/>
          </a:ln>
        </p:spPr>
        <p:txBody>
          <a:bodyPr wrap="none" lIns="144000" tIns="72000" rIns="72000" bIns="7200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어드민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---------------------------------------------------------</a:t>
            </a:r>
            <a:endParaRPr lang="ko-KR" altLang="en-US" sz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16.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기본관리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17.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상태관리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18. 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참조자관리</a:t>
            </a:r>
            <a:endParaRPr lang="ko-KR" altLang="en-US" sz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 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---------------------------------------------------------</a:t>
            </a:r>
            <a:endParaRPr lang="ko-KR" altLang="en-US" sz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 프로세스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21.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SKU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검색 팝업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22.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 프로모션 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SKU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검색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23. </a:t>
            </a:r>
            <a:r>
              <a:rPr lang="ko-KR" altLang="en-US" sz="1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홍모불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기본정보 수정 팝업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24.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기본정보 정보이력 팝업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25.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안전성 검토 상태 이력  팝업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26.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안전성 검토 요청 현황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27.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안전성 검토 요청 등록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수정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 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28.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안전성 검토 현황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29. 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안전성 검토 상세조회 및 수정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(</a:t>
            </a:r>
            <a:r>
              <a:rPr lang="ko-KR" altLang="en-US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</a:t>
            </a:r>
            <a:r>
              <a:rPr lang="en-US" altLang="ko-KR" sz="1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 </a:t>
            </a:r>
          </a:p>
        </p:txBody>
      </p:sp>
    </p:spTree>
    <p:extLst>
      <p:ext uri="{BB962C8B-B14F-4D97-AF65-F5344CB8AC3E}">
        <p14:creationId xmlns:p14="http://schemas.microsoft.com/office/powerpoint/2010/main" val="23998499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9" name="그림 28">
            <a:extLst>
              <a:ext uri="{FF2B5EF4-FFF2-40B4-BE49-F238E27FC236}">
                <a16:creationId xmlns:a16="http://schemas.microsoft.com/office/drawing/2014/main" id="{1203271A-42EF-594A-067C-28ECBAE035B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9476" y="1492851"/>
            <a:ext cx="9452569" cy="3896819"/>
          </a:xfrm>
          <a:prstGeom prst="rect">
            <a:avLst/>
          </a:prstGeom>
        </p:spPr>
      </p:pic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208875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1602489"/>
              </p:ext>
            </p:extLst>
          </p:nvPr>
        </p:nvGraphicFramePr>
        <p:xfrm>
          <a:off x="9868434" y="1664954"/>
          <a:ext cx="2066563" cy="34851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알림 표시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검토자에게만 아이콘 출력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요청자에게만 아이콘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현재는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모두에게 표시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구분값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특화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이커머스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같은 종류끼리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검토완료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묶음결재 가능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 변경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자동 문구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“(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포함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문구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 문서구분은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신규상품 안전성 검토 및 조건부 완료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같이 묶여 있음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연결된 전자결재 문서 본문의 제품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나열 순서는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 완료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우선 나열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결재요청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가능한 상태인지 체크 로직 추가 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컬럼추가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규정미준수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(07/10)</a:t>
                      </a: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안전성 검토 준수 여부 출력 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미준수시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lang="ko-KR" altLang="en-US" sz="700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미준수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붉은색으로 출력 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782369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제조구분 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직수입 추가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456072"/>
                  </a:ext>
                </a:extLst>
              </a:tr>
            </a:tbl>
          </a:graphicData>
        </a:graphic>
      </p:graphicFrame>
      <p:grpSp>
        <p:nvGrpSpPr>
          <p:cNvPr id="82" name="그룹 21">
            <a:extLst>
              <a:ext uri="{FF2B5EF4-FFF2-40B4-BE49-F238E27FC236}">
                <a16:creationId xmlns:a16="http://schemas.microsoft.com/office/drawing/2014/main" id="{F8DBE8E5-F508-1A48-82FD-88608911D665}"/>
              </a:ext>
            </a:extLst>
          </p:cNvPr>
          <p:cNvGrpSpPr>
            <a:grpSpLocks/>
          </p:cNvGrpSpPr>
          <p:nvPr/>
        </p:nvGrpSpPr>
        <p:grpSpPr bwMode="auto">
          <a:xfrm>
            <a:off x="765738" y="2317353"/>
            <a:ext cx="252413" cy="165100"/>
            <a:chOff x="3125393" y="1499499"/>
            <a:chExt cx="252000" cy="165260"/>
          </a:xfrm>
        </p:grpSpPr>
        <p:sp>
          <p:nvSpPr>
            <p:cNvPr id="116" name="모서리가 둥근 사각형 설명선 321">
              <a:extLst>
                <a:ext uri="{FF2B5EF4-FFF2-40B4-BE49-F238E27FC236}">
                  <a16:creationId xmlns:a16="http://schemas.microsoft.com/office/drawing/2014/main" id="{8CBCD05C-4A0B-B2F2-7ECB-A54F86A86FE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" name="TextBox 23">
              <a:extLst>
                <a:ext uri="{FF2B5EF4-FFF2-40B4-BE49-F238E27FC236}">
                  <a16:creationId xmlns:a16="http://schemas.microsoft.com/office/drawing/2014/main" id="{5ECFE7B2-CCC2-85DA-280A-93FA24567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pic>
        <p:nvPicPr>
          <p:cNvPr id="5" name="그림 4">
            <a:extLst>
              <a:ext uri="{FF2B5EF4-FFF2-40B4-BE49-F238E27FC236}">
                <a16:creationId xmlns:a16="http://schemas.microsoft.com/office/drawing/2014/main" id="{D4DAEFE3-E81A-4444-32B0-32984C5AB0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4812" t="29314" r="8717"/>
          <a:stretch/>
        </p:blipFill>
        <p:spPr>
          <a:xfrm>
            <a:off x="3508795" y="2635168"/>
            <a:ext cx="6283250" cy="2754502"/>
          </a:xfrm>
          <a:prstGeom prst="rect">
            <a:avLst/>
          </a:prstGeom>
        </p:spPr>
      </p:pic>
      <p:grpSp>
        <p:nvGrpSpPr>
          <p:cNvPr id="2" name="그룹 21">
            <a:extLst>
              <a:ext uri="{FF2B5EF4-FFF2-40B4-BE49-F238E27FC236}">
                <a16:creationId xmlns:a16="http://schemas.microsoft.com/office/drawing/2014/main" id="{DCB35324-846B-FE34-9058-9CEA23E1659B}"/>
              </a:ext>
            </a:extLst>
          </p:cNvPr>
          <p:cNvGrpSpPr>
            <a:grpSpLocks/>
          </p:cNvGrpSpPr>
          <p:nvPr/>
        </p:nvGrpSpPr>
        <p:grpSpPr bwMode="auto">
          <a:xfrm>
            <a:off x="3653230" y="3441260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742E078F-2EA2-C7B5-B861-440B7A87883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4796A284-E9AA-1BF2-7516-0E25B0C45E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pic>
        <p:nvPicPr>
          <p:cNvPr id="22" name="그림 21">
            <a:extLst>
              <a:ext uri="{FF2B5EF4-FFF2-40B4-BE49-F238E27FC236}">
                <a16:creationId xmlns:a16="http://schemas.microsoft.com/office/drawing/2014/main" id="{4D88F8BB-1155-25DE-829A-98717598BEE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3979" t="29314" r="37562"/>
          <a:stretch/>
        </p:blipFill>
        <p:spPr>
          <a:xfrm>
            <a:off x="2703097" y="2635168"/>
            <a:ext cx="799644" cy="275450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90E945B-B586-ECEF-0A13-BCFC21D4EBDB}"/>
              </a:ext>
            </a:extLst>
          </p:cNvPr>
          <p:cNvSpPr txBox="1"/>
          <p:nvPr/>
        </p:nvSpPr>
        <p:spPr>
          <a:xfrm>
            <a:off x="2775309" y="2688375"/>
            <a:ext cx="655220" cy="198781"/>
          </a:xfrm>
          <a:prstGeom prst="rect">
            <a:avLst/>
          </a:prstGeom>
          <a:solidFill>
            <a:srgbClr val="E4E1E1"/>
          </a:solidFill>
        </p:spPr>
        <p:txBody>
          <a:bodyPr wrap="square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규정미준수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5D304E7-9F61-A428-0709-18BDD679AA47}"/>
              </a:ext>
            </a:extLst>
          </p:cNvPr>
          <p:cNvSpPr txBox="1"/>
          <p:nvPr/>
        </p:nvSpPr>
        <p:spPr>
          <a:xfrm>
            <a:off x="2717914" y="3224065"/>
            <a:ext cx="642019" cy="91745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95CBA20-A0B3-926B-41F8-E62937EAC546}"/>
              </a:ext>
            </a:extLst>
          </p:cNvPr>
          <p:cNvSpPr txBox="1"/>
          <p:nvPr/>
        </p:nvSpPr>
        <p:spPr>
          <a:xfrm>
            <a:off x="2617603" y="2940363"/>
            <a:ext cx="799644" cy="91745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18FA90F-CC1D-9C42-2527-16FE4F7E6CBF}"/>
              </a:ext>
            </a:extLst>
          </p:cNvPr>
          <p:cNvSpPr txBox="1"/>
          <p:nvPr/>
        </p:nvSpPr>
        <p:spPr>
          <a:xfrm>
            <a:off x="2679341" y="3539603"/>
            <a:ext cx="642019" cy="92333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70BC29F-B6D0-F4C2-61C8-22FACDDF17C2}"/>
              </a:ext>
            </a:extLst>
          </p:cNvPr>
          <p:cNvSpPr txBox="1"/>
          <p:nvPr/>
        </p:nvSpPr>
        <p:spPr>
          <a:xfrm>
            <a:off x="2679341" y="3812697"/>
            <a:ext cx="662890" cy="95958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D063C44-E3EC-6ACC-790B-F23B8313DE53}"/>
              </a:ext>
            </a:extLst>
          </p:cNvPr>
          <p:cNvSpPr txBox="1"/>
          <p:nvPr/>
        </p:nvSpPr>
        <p:spPr>
          <a:xfrm>
            <a:off x="2685979" y="4124338"/>
            <a:ext cx="662890" cy="92333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69DD2B1-9445-811D-94C9-17275ED7DA11}"/>
              </a:ext>
            </a:extLst>
          </p:cNvPr>
          <p:cNvSpPr txBox="1"/>
          <p:nvPr/>
        </p:nvSpPr>
        <p:spPr>
          <a:xfrm>
            <a:off x="2647684" y="4574603"/>
            <a:ext cx="799644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DFAFCA8-2EE1-74B1-4A57-CF7D46737A50}"/>
              </a:ext>
            </a:extLst>
          </p:cNvPr>
          <p:cNvSpPr txBox="1"/>
          <p:nvPr/>
        </p:nvSpPr>
        <p:spPr>
          <a:xfrm>
            <a:off x="2647684" y="3092028"/>
            <a:ext cx="799644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89C062B-BAB0-99FD-3EAB-A2E6D65E4AAD}"/>
              </a:ext>
            </a:extLst>
          </p:cNvPr>
          <p:cNvSpPr txBox="1"/>
          <p:nvPr/>
        </p:nvSpPr>
        <p:spPr>
          <a:xfrm>
            <a:off x="2697043" y="5128541"/>
            <a:ext cx="662890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4A5B76A-D08B-79C0-A9BA-5B4420913B47}"/>
              </a:ext>
            </a:extLst>
          </p:cNvPr>
          <p:cNvSpPr txBox="1"/>
          <p:nvPr/>
        </p:nvSpPr>
        <p:spPr>
          <a:xfrm>
            <a:off x="2685979" y="4839436"/>
            <a:ext cx="662890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E2EB9DF-7872-B7D3-61D6-223CBCA54CC9}"/>
              </a:ext>
            </a:extLst>
          </p:cNvPr>
          <p:cNvSpPr txBox="1"/>
          <p:nvPr/>
        </p:nvSpPr>
        <p:spPr>
          <a:xfrm>
            <a:off x="2685979" y="4282966"/>
            <a:ext cx="662890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3F3876F-A674-150A-BA8D-8245ADF3878B}"/>
              </a:ext>
            </a:extLst>
          </p:cNvPr>
          <p:cNvSpPr txBox="1"/>
          <p:nvPr/>
        </p:nvSpPr>
        <p:spPr>
          <a:xfrm>
            <a:off x="2678555" y="4707718"/>
            <a:ext cx="662890" cy="95958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87E5BE9-693B-68CF-2AFD-6ED027515CB9}"/>
              </a:ext>
            </a:extLst>
          </p:cNvPr>
          <p:cNvSpPr txBox="1"/>
          <p:nvPr/>
        </p:nvSpPr>
        <p:spPr>
          <a:xfrm>
            <a:off x="2668905" y="5009424"/>
            <a:ext cx="662890" cy="95958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684D84D-3910-0961-B82A-AE1DB8E88BD6}"/>
              </a:ext>
            </a:extLst>
          </p:cNvPr>
          <p:cNvSpPr txBox="1"/>
          <p:nvPr/>
        </p:nvSpPr>
        <p:spPr>
          <a:xfrm>
            <a:off x="2698425" y="3686700"/>
            <a:ext cx="662890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F366595-AB72-58C2-6044-3338EECFF257}"/>
              </a:ext>
            </a:extLst>
          </p:cNvPr>
          <p:cNvSpPr txBox="1"/>
          <p:nvPr/>
        </p:nvSpPr>
        <p:spPr>
          <a:xfrm>
            <a:off x="2711633" y="3551141"/>
            <a:ext cx="642019" cy="91745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B68C14E-20A3-4266-0662-A405ACBAF009}"/>
              </a:ext>
            </a:extLst>
          </p:cNvPr>
          <p:cNvSpPr txBox="1"/>
          <p:nvPr/>
        </p:nvSpPr>
        <p:spPr>
          <a:xfrm>
            <a:off x="2697043" y="5277940"/>
            <a:ext cx="662890" cy="95958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21">
            <a:extLst>
              <a:ext uri="{FF2B5EF4-FFF2-40B4-BE49-F238E27FC236}">
                <a16:creationId xmlns:a16="http://schemas.microsoft.com/office/drawing/2014/main" id="{4A31182C-4D2E-E6D5-4717-918AB5C52F1E}"/>
              </a:ext>
            </a:extLst>
          </p:cNvPr>
          <p:cNvGrpSpPr>
            <a:grpSpLocks/>
          </p:cNvGrpSpPr>
          <p:nvPr/>
        </p:nvGrpSpPr>
        <p:grpSpPr bwMode="auto">
          <a:xfrm>
            <a:off x="2631614" y="2545901"/>
            <a:ext cx="261064" cy="165100"/>
            <a:chOff x="3125393" y="1499499"/>
            <a:chExt cx="252000" cy="165260"/>
          </a:xfrm>
        </p:grpSpPr>
        <p:sp>
          <p:nvSpPr>
            <p:cNvPr id="17" name="모서리가 둥근 사각형 설명선 321">
              <a:extLst>
                <a:ext uri="{FF2B5EF4-FFF2-40B4-BE49-F238E27FC236}">
                  <a16:creationId xmlns:a16="http://schemas.microsoft.com/office/drawing/2014/main" id="{BEB65D42-34E6-1D4E-A2F6-082CA17DD74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TextBox 23">
              <a:extLst>
                <a:ext uri="{FF2B5EF4-FFF2-40B4-BE49-F238E27FC236}">
                  <a16:creationId xmlns:a16="http://schemas.microsoft.com/office/drawing/2014/main" id="{10BBB6CC-817A-AEE1-2C29-C0D42D3237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6" name="그룹 21">
            <a:extLst>
              <a:ext uri="{FF2B5EF4-FFF2-40B4-BE49-F238E27FC236}">
                <a16:creationId xmlns:a16="http://schemas.microsoft.com/office/drawing/2014/main" id="{B20B77FC-9B85-44E3-7787-CE59BC4E3E95}"/>
              </a:ext>
            </a:extLst>
          </p:cNvPr>
          <p:cNvGrpSpPr>
            <a:grpSpLocks/>
          </p:cNvGrpSpPr>
          <p:nvPr/>
        </p:nvGrpSpPr>
        <p:grpSpPr bwMode="auto">
          <a:xfrm>
            <a:off x="8342842" y="1770252"/>
            <a:ext cx="261064" cy="165100"/>
            <a:chOff x="3125393" y="1499499"/>
            <a:chExt cx="252000" cy="165260"/>
          </a:xfrm>
        </p:grpSpPr>
        <p:sp>
          <p:nvSpPr>
            <p:cNvPr id="19" name="모서리가 둥근 사각형 설명선 321">
              <a:extLst>
                <a:ext uri="{FF2B5EF4-FFF2-40B4-BE49-F238E27FC236}">
                  <a16:creationId xmlns:a16="http://schemas.microsoft.com/office/drawing/2014/main" id="{8863DB1D-C90D-2554-48CF-ADD39AD18F2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TextBox 23">
              <a:extLst>
                <a:ext uri="{FF2B5EF4-FFF2-40B4-BE49-F238E27FC236}">
                  <a16:creationId xmlns:a16="http://schemas.microsoft.com/office/drawing/2014/main" id="{32C9D286-EB2D-ABB8-744E-F84828AE2F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8616363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544987"/>
              </p:ext>
            </p:extLst>
          </p:nvPr>
        </p:nvGraphicFramePr>
        <p:xfrm>
          <a:off x="254000" y="1343534"/>
          <a:ext cx="11691939" cy="184912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SERPWEB.SFTY_XMNT_READ_INFO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안전 검토 상태 이력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8463F950-2552-D7AF-1D72-BAA68B4C2F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372429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16728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689591"/>
              </p:ext>
            </p:extLst>
          </p:nvPr>
        </p:nvGraphicFramePr>
        <p:xfrm>
          <a:off x="254000" y="1343534"/>
          <a:ext cx="11698679" cy="2928375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40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직수입 추가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식품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제품처리구분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멸균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제품보관분류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내장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냉동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진행상태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조검부완료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결재상태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결재완료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298866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8261415"/>
                  </a:ext>
                </a:extLst>
              </a:tr>
              <a:tr h="265432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구분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선택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85861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 선택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 스펙 확정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 원료 변경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수급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발급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부적합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성적서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협력사 대응 미흡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888452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검토 미완료 항목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품보서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70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80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수입신고서류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9071333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5142285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2199188"/>
              </p:ext>
            </p:extLst>
          </p:nvPr>
        </p:nvGraphicFramePr>
        <p:xfrm>
          <a:off x="247260" y="5414842"/>
          <a:ext cx="11698678" cy="9230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BE9DF18D-0E0E-E9DF-27E8-49330A2D2B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372429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5615615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6171564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[2]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결재요청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구분값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특화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이커머스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같은 종류끼리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검토완료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묶음결재 가능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*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 변경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자동 문구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“(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포함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문구 적용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 문서구분은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신규상품 안전성 검토 및 조건부 완료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같이 묶여 있음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연결된 전자결재 문서 본문의 제품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나열 순서는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 완료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우선 나열</a:t>
                      </a: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상태 체크 로직 추가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진행상태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조건부완료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검토완료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 +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결재상태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(null/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상신전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:10) 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원인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어드민에서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상태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[3]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컬럼추가 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1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규정미준수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여부 </a:t>
                      </a:r>
                      <a:r>
                        <a:rPr kumimoji="1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걸럼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추가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NNCMPL_YN = Y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" name="그림 1">
            <a:extLst>
              <a:ext uri="{FF2B5EF4-FFF2-40B4-BE49-F238E27FC236}">
                <a16:creationId xmlns:a16="http://schemas.microsoft.com/office/drawing/2014/main" id="{BE069931-966C-78FF-69AE-CD185215B93B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5519" y="1614375"/>
            <a:ext cx="168591" cy="168591"/>
          </a:xfrm>
          <a:prstGeom prst="rect">
            <a:avLst/>
          </a:prstGeom>
        </p:spPr>
      </p:pic>
      <p:graphicFrame>
        <p:nvGraphicFramePr>
          <p:cNvPr id="3" name="Group 234">
            <a:extLst>
              <a:ext uri="{FF2B5EF4-FFF2-40B4-BE49-F238E27FC236}">
                <a16:creationId xmlns:a16="http://schemas.microsoft.com/office/drawing/2014/main" id="{68B922CB-68CC-6D16-0162-BE048C656E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372429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4" name="그림 3">
            <a:extLst>
              <a:ext uri="{FF2B5EF4-FFF2-40B4-BE49-F238E27FC236}">
                <a16:creationId xmlns:a16="http://schemas.microsoft.com/office/drawing/2014/main" id="{CBD72320-5BA0-70F6-853A-6778E41EA705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887551" y="1782966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82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" name="Group 233">
            <a:extLst>
              <a:ext uri="{FF2B5EF4-FFF2-40B4-BE49-F238E27FC236}">
                <a16:creationId xmlns:a16="http://schemas.microsoft.com/office/drawing/2014/main" id="{63ACD592-9A83-7554-FE77-07A256A38A1B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43" name="그림 42">
            <a:extLst>
              <a:ext uri="{FF2B5EF4-FFF2-40B4-BE49-F238E27FC236}">
                <a16:creationId xmlns:a16="http://schemas.microsoft.com/office/drawing/2014/main" id="{35BAE6C2-FC60-444A-D48D-4E4D41A04CD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519" y="1594327"/>
            <a:ext cx="9495872" cy="4797764"/>
          </a:xfrm>
          <a:prstGeom prst="rect">
            <a:avLst/>
          </a:prstGeom>
        </p:spPr>
      </p:pic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903275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(1/2)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 내역을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055565"/>
              </p:ext>
            </p:extLst>
          </p:nvPr>
        </p:nvGraphicFramePr>
        <p:xfrm>
          <a:off x="9846998" y="1664954"/>
          <a:ext cx="2088000" cy="4861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안전성검토 조회 팝업출력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SKU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별 불러오기 사용 시 이전의 모든 검토 의견과 모든 첨부파일 가져오기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 번호만 신규생성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 자동 등록</a:t>
                      </a:r>
                      <a:endParaRPr lang="en-US" altLang="ko-KR" sz="7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700" kern="120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신규등록시 관리자에 설정한 요청자의 참조자 자동설정 </a:t>
                      </a:r>
                      <a:endParaRPr lang="en-US" altLang="ko-KR" sz="7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2) ‘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제조구분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 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선택시에  참조자는 자동으로 사전 등록된 참조자 추가 등록</a:t>
                      </a:r>
                      <a:endParaRPr kumimoji="0" lang="en-US" altLang="ko-KR" sz="700" b="0" i="0" u="none" strike="noStrike" kern="120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1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 참조자는 </a:t>
                      </a:r>
                      <a:r>
                        <a:rPr lang="ko-KR" altLang="en-US" sz="700" b="1" kern="120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첨부파일 등록 항목에 대해 파일을 첨부할 수 있고</a:t>
                      </a:r>
                      <a:r>
                        <a:rPr lang="en-US" altLang="ko-KR" sz="700" b="1" kern="120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00" b="1" kern="120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 의견을 작성할 수 있다</a:t>
                      </a:r>
                      <a:endParaRPr lang="en-US" altLang="ko-KR" sz="700" b="1" kern="120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 참조자 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= 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구매담당자 사번등록</a:t>
                      </a:r>
                      <a:endParaRPr kumimoji="0" lang="en-US" altLang="ko-KR" sz="700" b="0" i="0" u="none" strike="noStrike" kern="120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3) </a:t>
                      </a:r>
                      <a:r>
                        <a:rPr lang="ko-KR" altLang="en-US" sz="700" kern="120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 참조자  중복 시 중복제거</a:t>
                      </a:r>
                      <a:endParaRPr lang="en-US" altLang="ko-KR" sz="7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제조구분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 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선택값 추가 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 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</a:t>
                      </a:r>
                      <a:endParaRPr kumimoji="0" lang="en-US" altLang="ko-KR" sz="700" b="0" i="0" u="none" strike="noStrike" kern="120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 일 때  참조자는 자동으로 사전 등록된 값이 등록 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구매담당자</a:t>
                      </a: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 참조자는 관리자 화면에서 관리</a:t>
                      </a:r>
                      <a:endParaRPr kumimoji="0" lang="en-US" altLang="ko-KR" sz="700" b="0" i="0" u="none" strike="noStrike" kern="120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체크루틴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후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제품분류’에서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신제품’만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검토요청 준수 확인 팝업 출력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제품분류가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신제품’이고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출시일’이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현재일 기준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과거일자’면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요청불가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대상여부가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‘Y’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 때는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직접입력 선택이면 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필수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확정전선택이면 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필수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 체크하여   알림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14259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검토요청 준수 확인 팝업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 → 검토요청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아니요 →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</a:t>
                      </a:r>
                      <a:r>
                        <a:rPr kumimoji="1" lang="en-US" altLang="ko-KR" sz="7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7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규정 </a:t>
                      </a:r>
                      <a:r>
                        <a:rPr kumimoji="1" lang="ko-KR" altLang="en-US" sz="700" b="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7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)’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0699006"/>
                  </a:ext>
                </a:extLst>
              </a:tr>
            </a:tbl>
          </a:graphicData>
        </a:graphic>
      </p:graphicFrame>
      <p:grpSp>
        <p:nvGrpSpPr>
          <p:cNvPr id="66" name="그룹 21">
            <a:extLst>
              <a:ext uri="{FF2B5EF4-FFF2-40B4-BE49-F238E27FC236}">
                <a16:creationId xmlns:a16="http://schemas.microsoft.com/office/drawing/2014/main" id="{FAE8DED3-B62D-DBBC-9051-2A17281D2C02}"/>
              </a:ext>
            </a:extLst>
          </p:cNvPr>
          <p:cNvGrpSpPr>
            <a:grpSpLocks/>
          </p:cNvGrpSpPr>
          <p:nvPr/>
        </p:nvGrpSpPr>
        <p:grpSpPr bwMode="auto">
          <a:xfrm>
            <a:off x="4961248" y="2400668"/>
            <a:ext cx="252413" cy="165100"/>
            <a:chOff x="3125393" y="1499499"/>
            <a:chExt cx="252000" cy="165260"/>
          </a:xfrm>
        </p:grpSpPr>
        <p:sp>
          <p:nvSpPr>
            <p:cNvPr id="68" name="모서리가 둥근 사각형 설명선 321">
              <a:extLst>
                <a:ext uri="{FF2B5EF4-FFF2-40B4-BE49-F238E27FC236}">
                  <a16:creationId xmlns:a16="http://schemas.microsoft.com/office/drawing/2014/main" id="{70344CE1-E442-BFF7-B46F-4D7ABB8F5C7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23">
              <a:extLst>
                <a:ext uri="{FF2B5EF4-FFF2-40B4-BE49-F238E27FC236}">
                  <a16:creationId xmlns:a16="http://schemas.microsoft.com/office/drawing/2014/main" id="{F1694F26-5B8B-7628-1358-8553D58CA2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pic>
        <p:nvPicPr>
          <p:cNvPr id="181" name="그림 180">
            <a:extLst>
              <a:ext uri="{FF2B5EF4-FFF2-40B4-BE49-F238E27FC236}">
                <a16:creationId xmlns:a16="http://schemas.microsoft.com/office/drawing/2014/main" id="{4420BBE5-F092-A308-056B-5F5A3786AFD6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29337"/>
          <a:stretch/>
        </p:blipFill>
        <p:spPr>
          <a:xfrm>
            <a:off x="334423" y="3186609"/>
            <a:ext cx="9495872" cy="3390255"/>
          </a:xfrm>
          <a:prstGeom prst="rect">
            <a:avLst/>
          </a:prstGeom>
        </p:spPr>
      </p:pic>
      <p:grpSp>
        <p:nvGrpSpPr>
          <p:cNvPr id="60" name="그룹 21">
            <a:extLst>
              <a:ext uri="{FF2B5EF4-FFF2-40B4-BE49-F238E27FC236}">
                <a16:creationId xmlns:a16="http://schemas.microsoft.com/office/drawing/2014/main" id="{9FE89528-D71F-53DB-771A-5F6D78CDE08A}"/>
              </a:ext>
            </a:extLst>
          </p:cNvPr>
          <p:cNvGrpSpPr>
            <a:grpSpLocks/>
          </p:cNvGrpSpPr>
          <p:nvPr/>
        </p:nvGrpSpPr>
        <p:grpSpPr bwMode="auto">
          <a:xfrm>
            <a:off x="7312862" y="1963296"/>
            <a:ext cx="252413" cy="165100"/>
            <a:chOff x="3125393" y="1499499"/>
            <a:chExt cx="252000" cy="165260"/>
          </a:xfrm>
        </p:grpSpPr>
        <p:sp>
          <p:nvSpPr>
            <p:cNvPr id="61" name="모서리가 둥근 사각형 설명선 321">
              <a:extLst>
                <a:ext uri="{FF2B5EF4-FFF2-40B4-BE49-F238E27FC236}">
                  <a16:creationId xmlns:a16="http://schemas.microsoft.com/office/drawing/2014/main" id="{3EE88270-4FDF-9901-4C14-95101C20873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23">
              <a:extLst>
                <a:ext uri="{FF2B5EF4-FFF2-40B4-BE49-F238E27FC236}">
                  <a16:creationId xmlns:a16="http://schemas.microsoft.com/office/drawing/2014/main" id="{48A1B526-92A7-E407-64BA-BA4E1F441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7AFA0ACB-8C3A-56CA-9297-12228E7FFD7A}"/>
              </a:ext>
            </a:extLst>
          </p:cNvPr>
          <p:cNvGrpSpPr/>
          <p:nvPr/>
        </p:nvGrpSpPr>
        <p:grpSpPr>
          <a:xfrm>
            <a:off x="6555923" y="3346426"/>
            <a:ext cx="3110592" cy="829170"/>
            <a:chOff x="988658" y="2795638"/>
            <a:chExt cx="3697035" cy="1248372"/>
          </a:xfrm>
        </p:grpSpPr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06EE4E1C-BF91-472A-4873-4D95738A77FD}"/>
                </a:ext>
              </a:extLst>
            </p:cNvPr>
            <p:cNvSpPr/>
            <p:nvPr/>
          </p:nvSpPr>
          <p:spPr>
            <a:xfrm>
              <a:off x="988658" y="2795638"/>
              <a:ext cx="3697035" cy="1248372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안전성 검토 규정을 준수하셨습니까</a:t>
              </a:r>
              <a:r>
                <a:rPr kumimoji="1" lang="en-US" altLang="ko-KR" sz="8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??</a:t>
              </a:r>
            </a:p>
            <a:p>
              <a:pPr algn="ctr"/>
              <a:endParaRPr kumimoji="1" lang="en-US" altLang="ko-KR" sz="10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Font typeface="Arial" panose="020B0604020202020204" pitchFamily="34" charset="0"/>
                <a:buChar char="•"/>
              </a:pP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경쟁입찰 건 및 직수입은 출시 예정일 기준 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최소 </a:t>
              </a:r>
              <a:r>
                <a:rPr kumimoji="1" lang="en-US" altLang="ko-KR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 전 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검토 요청</a:t>
              </a:r>
              <a:endPara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Font typeface="Arial" panose="020B0604020202020204" pitchFamily="34" charset="0"/>
                <a:buChar char="•"/>
              </a:pP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그 외 신규</a:t>
              </a:r>
              <a:r>
                <a:rPr kumimoji="1" lang="en-US" altLang="ko-KR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기존 상품은 출시 예정일 기준 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최소 </a:t>
              </a:r>
              <a:r>
                <a:rPr kumimoji="1" lang="en-US" altLang="ko-KR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 전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검토 요청</a:t>
              </a:r>
              <a:endPara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endParaRPr kumimoji="1" lang="ko-KR" altLang="en-US" sz="105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2D25991E-4510-E1C1-F239-4BB296A25647}"/>
                </a:ext>
              </a:extLst>
            </p:cNvPr>
            <p:cNvSpPr/>
            <p:nvPr/>
          </p:nvSpPr>
          <p:spPr>
            <a:xfrm>
              <a:off x="2013351" y="3737991"/>
              <a:ext cx="868187" cy="242238"/>
            </a:xfrm>
            <a:prstGeom prst="rect">
              <a:avLst/>
            </a:prstGeom>
            <a:solidFill>
              <a:schemeClr val="bg2">
                <a:lumMod val="2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예</a:t>
              </a: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54859541-AEED-29B5-61A4-5D7333DAE278}"/>
                </a:ext>
              </a:extLst>
            </p:cNvPr>
            <p:cNvSpPr/>
            <p:nvPr/>
          </p:nvSpPr>
          <p:spPr>
            <a:xfrm>
              <a:off x="3038044" y="3737989"/>
              <a:ext cx="868187" cy="24223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b="1" dirty="0" err="1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아니오</a:t>
              </a:r>
              <a:endParaRPr kumimoji="1" lang="ko-KR" altLang="en-US" sz="700" b="1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3" name="그룹 21">
            <a:extLst>
              <a:ext uri="{FF2B5EF4-FFF2-40B4-BE49-F238E27FC236}">
                <a16:creationId xmlns:a16="http://schemas.microsoft.com/office/drawing/2014/main" id="{48A86C0E-FABB-5E72-F7FA-8E31B68B229F}"/>
              </a:ext>
            </a:extLst>
          </p:cNvPr>
          <p:cNvGrpSpPr>
            <a:grpSpLocks/>
          </p:cNvGrpSpPr>
          <p:nvPr/>
        </p:nvGrpSpPr>
        <p:grpSpPr bwMode="auto">
          <a:xfrm>
            <a:off x="8553489" y="1963296"/>
            <a:ext cx="252413" cy="165100"/>
            <a:chOff x="3125393" y="1499499"/>
            <a:chExt cx="252000" cy="165260"/>
          </a:xfrm>
        </p:grpSpPr>
        <p:sp>
          <p:nvSpPr>
            <p:cNvPr id="124" name="모서리가 둥근 사각형 설명선 321">
              <a:extLst>
                <a:ext uri="{FF2B5EF4-FFF2-40B4-BE49-F238E27FC236}">
                  <a16:creationId xmlns:a16="http://schemas.microsoft.com/office/drawing/2014/main" id="{B58FFF86-D5DD-3C33-9FAF-890356AD2DD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" name="TextBox 23">
              <a:extLst>
                <a:ext uri="{FF2B5EF4-FFF2-40B4-BE49-F238E27FC236}">
                  <a16:creationId xmlns:a16="http://schemas.microsoft.com/office/drawing/2014/main" id="{F5D03D92-435E-3E84-BDAD-95EAF2ACA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cxnSp>
        <p:nvCxnSpPr>
          <p:cNvPr id="146" name="연결선: 꺾임 145">
            <a:extLst>
              <a:ext uri="{FF2B5EF4-FFF2-40B4-BE49-F238E27FC236}">
                <a16:creationId xmlns:a16="http://schemas.microsoft.com/office/drawing/2014/main" id="{A7D1CD96-7C57-7879-BF78-7CF938388BB6}"/>
              </a:ext>
            </a:extLst>
          </p:cNvPr>
          <p:cNvCxnSpPr>
            <a:endCxn id="120" idx="0"/>
          </p:cNvCxnSpPr>
          <p:nvPr/>
        </p:nvCxnSpPr>
        <p:spPr bwMode="auto">
          <a:xfrm rot="5400000">
            <a:off x="7943588" y="2484112"/>
            <a:ext cx="1029946" cy="694683"/>
          </a:xfrm>
          <a:prstGeom prst="bentConnector3">
            <a:avLst/>
          </a:prstGeom>
          <a:solidFill>
            <a:schemeClr val="accent1"/>
          </a:solidFill>
          <a:ln w="9525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74" name="모서리가 둥근 직사각형 55">
            <a:extLst>
              <a:ext uri="{FF2B5EF4-FFF2-40B4-BE49-F238E27FC236}">
                <a16:creationId xmlns:a16="http://schemas.microsoft.com/office/drawing/2014/main" id="{9400C4BD-61FC-FD64-C3C3-BA4DC4D83906}"/>
              </a:ext>
            </a:extLst>
          </p:cNvPr>
          <p:cNvSpPr/>
          <p:nvPr/>
        </p:nvSpPr>
        <p:spPr>
          <a:xfrm>
            <a:off x="6596026" y="2163007"/>
            <a:ext cx="759699" cy="165100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0000"/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 err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미준수</a:t>
            </a:r>
            <a:r>
              <a:rPr lang="ko-KR" altLang="en-US" sz="8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 사유</a:t>
            </a:r>
          </a:p>
        </p:txBody>
      </p:sp>
      <p:grpSp>
        <p:nvGrpSpPr>
          <p:cNvPr id="175" name="그룹 21">
            <a:extLst>
              <a:ext uri="{FF2B5EF4-FFF2-40B4-BE49-F238E27FC236}">
                <a16:creationId xmlns:a16="http://schemas.microsoft.com/office/drawing/2014/main" id="{7CF747B4-57D5-E69C-7BE6-DCB722A644D5}"/>
              </a:ext>
            </a:extLst>
          </p:cNvPr>
          <p:cNvGrpSpPr>
            <a:grpSpLocks/>
          </p:cNvGrpSpPr>
          <p:nvPr/>
        </p:nvGrpSpPr>
        <p:grpSpPr bwMode="auto">
          <a:xfrm>
            <a:off x="6849668" y="3130954"/>
            <a:ext cx="252413" cy="165100"/>
            <a:chOff x="3125393" y="1499499"/>
            <a:chExt cx="252000" cy="165260"/>
          </a:xfrm>
        </p:grpSpPr>
        <p:sp>
          <p:nvSpPr>
            <p:cNvPr id="176" name="모서리가 둥근 사각형 설명선 321">
              <a:extLst>
                <a:ext uri="{FF2B5EF4-FFF2-40B4-BE49-F238E27FC236}">
                  <a16:creationId xmlns:a16="http://schemas.microsoft.com/office/drawing/2014/main" id="{BF8FBF55-3660-D15B-EED0-19AE39FA67F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7" name="TextBox 23">
              <a:extLst>
                <a:ext uri="{FF2B5EF4-FFF2-40B4-BE49-F238E27FC236}">
                  <a16:creationId xmlns:a16="http://schemas.microsoft.com/office/drawing/2014/main" id="{A5F20884-10B5-C3D3-E9C6-7BBD10BF19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grpSp>
        <p:nvGrpSpPr>
          <p:cNvPr id="178" name="그룹 21">
            <a:extLst>
              <a:ext uri="{FF2B5EF4-FFF2-40B4-BE49-F238E27FC236}">
                <a16:creationId xmlns:a16="http://schemas.microsoft.com/office/drawing/2014/main" id="{704966FF-BC75-53E3-A0A9-3D2C68D8E9D5}"/>
              </a:ext>
            </a:extLst>
          </p:cNvPr>
          <p:cNvGrpSpPr>
            <a:grpSpLocks/>
          </p:cNvGrpSpPr>
          <p:nvPr/>
        </p:nvGrpSpPr>
        <p:grpSpPr bwMode="auto">
          <a:xfrm>
            <a:off x="6587773" y="1971189"/>
            <a:ext cx="252413" cy="165100"/>
            <a:chOff x="3125393" y="1499499"/>
            <a:chExt cx="252000" cy="165260"/>
          </a:xfrm>
        </p:grpSpPr>
        <p:sp>
          <p:nvSpPr>
            <p:cNvPr id="179" name="모서리가 둥근 사각형 설명선 321">
              <a:extLst>
                <a:ext uri="{FF2B5EF4-FFF2-40B4-BE49-F238E27FC236}">
                  <a16:creationId xmlns:a16="http://schemas.microsoft.com/office/drawing/2014/main" id="{F8C39053-7388-2539-3176-F64B11B1C03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0" name="TextBox 23">
              <a:extLst>
                <a:ext uri="{FF2B5EF4-FFF2-40B4-BE49-F238E27FC236}">
                  <a16:creationId xmlns:a16="http://schemas.microsoft.com/office/drawing/2014/main" id="{D022BD0E-7212-B8F5-180F-4945AD9735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grpSp>
        <p:nvGrpSpPr>
          <p:cNvPr id="63" name="그룹 21">
            <a:extLst>
              <a:ext uri="{FF2B5EF4-FFF2-40B4-BE49-F238E27FC236}">
                <a16:creationId xmlns:a16="http://schemas.microsoft.com/office/drawing/2014/main" id="{E66F1A5A-905B-8887-34DD-5F03EE3B2891}"/>
              </a:ext>
            </a:extLst>
          </p:cNvPr>
          <p:cNvGrpSpPr>
            <a:grpSpLocks/>
          </p:cNvGrpSpPr>
          <p:nvPr/>
        </p:nvGrpSpPr>
        <p:grpSpPr bwMode="auto">
          <a:xfrm>
            <a:off x="245775" y="3622887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BC4575A4-97AA-935F-DC58-0EBFF175953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BCA69941-A6DF-0FD8-29D6-CB037C37F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40F3EB99-B4ED-B737-DCA7-7CBF48F593F1}"/>
              </a:ext>
            </a:extLst>
          </p:cNvPr>
          <p:cNvSpPr/>
          <p:nvPr/>
        </p:nvSpPr>
        <p:spPr bwMode="auto">
          <a:xfrm>
            <a:off x="2731539" y="3030904"/>
            <a:ext cx="866584" cy="178063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*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소비기한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선택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86E2ECAC-9B65-A7B3-4114-F807E743A353}"/>
              </a:ext>
            </a:extLst>
          </p:cNvPr>
          <p:cNvSpPr/>
          <p:nvPr/>
        </p:nvSpPr>
        <p:spPr bwMode="auto">
          <a:xfrm>
            <a:off x="5040810" y="3030905"/>
            <a:ext cx="916091" cy="164538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*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소비기한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일수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C9794ED4-00CC-45D5-5301-6C253C7FA773}"/>
              </a:ext>
            </a:extLst>
          </p:cNvPr>
          <p:cNvSpPr/>
          <p:nvPr/>
        </p:nvSpPr>
        <p:spPr bwMode="auto">
          <a:xfrm>
            <a:off x="452126" y="3027413"/>
            <a:ext cx="866584" cy="178063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600" b="0" i="0" u="none" strike="noStrike" cap="none" normalizeH="0" baseline="0" dirty="0">
                <a:ln>
                  <a:noFill/>
                </a:ln>
                <a:effectLst/>
                <a:latin typeface="맑은 고딕" pitchFamily="50" charset="-127"/>
                <a:ea typeface="맑은 고딕" pitchFamily="50" charset="-127"/>
              </a:rPr>
              <a:t>소비기한 대상</a:t>
            </a:r>
            <a:r>
              <a:rPr lang="ko-KR" altLang="en-US" sz="600" dirty="0">
                <a:latin typeface="맑은 고딕" pitchFamily="50" charset="-127"/>
                <a:ea typeface="맑은 고딕" pitchFamily="50" charset="-127"/>
              </a:rPr>
              <a:t> 여부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CA590BAC-27DB-01FE-7298-762C90460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9730" y="3033595"/>
            <a:ext cx="1431080" cy="134266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직접입력</a:t>
            </a:r>
            <a:r>
              <a:rPr kumimoji="1"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b="1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확정전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186" name="Picture 103">
            <a:extLst>
              <a:ext uri="{FF2B5EF4-FFF2-40B4-BE49-F238E27FC236}">
                <a16:creationId xmlns:a16="http://schemas.microsoft.com/office/drawing/2014/main" id="{B8D17438-6ED6-6A40-7D62-0E6AC8467C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 t="15633" r="9297"/>
          <a:stretch>
            <a:fillRect/>
          </a:stretch>
        </p:blipFill>
        <p:spPr bwMode="auto">
          <a:xfrm>
            <a:off x="4859744" y="3069004"/>
            <a:ext cx="119911" cy="70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8D69AA64-EFE2-D273-2714-2404A08F57D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54512" y="3007430"/>
            <a:ext cx="1422014" cy="146805"/>
          </a:xfrm>
          <a:prstGeom prst="rect">
            <a:avLst/>
          </a:prstGeom>
        </p:spPr>
      </p:pic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EE1D8FF4-3321-6FA1-856E-6A0B93F3F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5895" y="3023409"/>
            <a:ext cx="1385573" cy="172034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Y/N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13D4258D-F980-B7D1-AF90-4FEEF2BCA0FF}"/>
              </a:ext>
            </a:extLst>
          </p:cNvPr>
          <p:cNvSpPr txBox="1"/>
          <p:nvPr/>
        </p:nvSpPr>
        <p:spPr>
          <a:xfrm>
            <a:off x="6573613" y="3004022"/>
            <a:ext cx="34496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90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</a:t>
            </a:r>
          </a:p>
        </p:txBody>
      </p:sp>
      <p:grpSp>
        <p:nvGrpSpPr>
          <p:cNvPr id="191" name="그룹 21">
            <a:extLst>
              <a:ext uri="{FF2B5EF4-FFF2-40B4-BE49-F238E27FC236}">
                <a16:creationId xmlns:a16="http://schemas.microsoft.com/office/drawing/2014/main" id="{A37A740E-6E6D-7CB6-7E5D-A1C7239396AA}"/>
              </a:ext>
            </a:extLst>
          </p:cNvPr>
          <p:cNvGrpSpPr>
            <a:grpSpLocks/>
          </p:cNvGrpSpPr>
          <p:nvPr/>
        </p:nvGrpSpPr>
        <p:grpSpPr bwMode="auto">
          <a:xfrm>
            <a:off x="197716" y="2929585"/>
            <a:ext cx="252413" cy="165100"/>
            <a:chOff x="3125393" y="1499499"/>
            <a:chExt cx="252000" cy="165260"/>
          </a:xfrm>
        </p:grpSpPr>
        <p:sp>
          <p:nvSpPr>
            <p:cNvPr id="192" name="모서리가 둥근 사각형 설명선 321">
              <a:extLst>
                <a:ext uri="{FF2B5EF4-FFF2-40B4-BE49-F238E27FC236}">
                  <a16:creationId xmlns:a16="http://schemas.microsoft.com/office/drawing/2014/main" id="{8E3E99EE-416D-CDDC-D2A5-AF33E5D348D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3" name="TextBox 23">
              <a:extLst>
                <a:ext uri="{FF2B5EF4-FFF2-40B4-BE49-F238E27FC236}">
                  <a16:creationId xmlns:a16="http://schemas.microsoft.com/office/drawing/2014/main" id="{5731EE54-9956-44A4-7DCC-15896AC6C9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grpSp>
        <p:nvGrpSpPr>
          <p:cNvPr id="194" name="그룹 21">
            <a:extLst>
              <a:ext uri="{FF2B5EF4-FFF2-40B4-BE49-F238E27FC236}">
                <a16:creationId xmlns:a16="http://schemas.microsoft.com/office/drawing/2014/main" id="{FA3FB9F7-689D-50B9-3B2F-DD3C23A031E3}"/>
              </a:ext>
            </a:extLst>
          </p:cNvPr>
          <p:cNvGrpSpPr>
            <a:grpSpLocks/>
          </p:cNvGrpSpPr>
          <p:nvPr/>
        </p:nvGrpSpPr>
        <p:grpSpPr bwMode="auto">
          <a:xfrm>
            <a:off x="2554105" y="2866754"/>
            <a:ext cx="252413" cy="165100"/>
            <a:chOff x="3125393" y="1499499"/>
            <a:chExt cx="252000" cy="165260"/>
          </a:xfrm>
        </p:grpSpPr>
        <p:sp>
          <p:nvSpPr>
            <p:cNvPr id="195" name="모서리가 둥근 사각형 설명선 321">
              <a:extLst>
                <a:ext uri="{FF2B5EF4-FFF2-40B4-BE49-F238E27FC236}">
                  <a16:creationId xmlns:a16="http://schemas.microsoft.com/office/drawing/2014/main" id="{CD6690ED-00DB-AC7D-4047-5F9FD9C52F4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6" name="TextBox 23">
              <a:extLst>
                <a:ext uri="{FF2B5EF4-FFF2-40B4-BE49-F238E27FC236}">
                  <a16:creationId xmlns:a16="http://schemas.microsoft.com/office/drawing/2014/main" id="{A87BBF1E-1459-5B78-4638-389FB14F34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grpSp>
        <p:nvGrpSpPr>
          <p:cNvPr id="197" name="그룹 21">
            <a:extLst>
              <a:ext uri="{FF2B5EF4-FFF2-40B4-BE49-F238E27FC236}">
                <a16:creationId xmlns:a16="http://schemas.microsoft.com/office/drawing/2014/main" id="{ED981E67-899F-4B98-72E4-EDA35B8C2990}"/>
              </a:ext>
            </a:extLst>
          </p:cNvPr>
          <p:cNvGrpSpPr>
            <a:grpSpLocks/>
          </p:cNvGrpSpPr>
          <p:nvPr/>
        </p:nvGrpSpPr>
        <p:grpSpPr bwMode="auto">
          <a:xfrm>
            <a:off x="4894897" y="2857359"/>
            <a:ext cx="252413" cy="165100"/>
            <a:chOff x="3125393" y="1499499"/>
            <a:chExt cx="252000" cy="165260"/>
          </a:xfrm>
        </p:grpSpPr>
        <p:sp>
          <p:nvSpPr>
            <p:cNvPr id="198" name="모서리가 둥근 사각형 설명선 321">
              <a:extLst>
                <a:ext uri="{FF2B5EF4-FFF2-40B4-BE49-F238E27FC236}">
                  <a16:creationId xmlns:a16="http://schemas.microsoft.com/office/drawing/2014/main" id="{53C43B0E-AC19-4554-2E28-B16D17A330C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9" name="TextBox 23">
              <a:extLst>
                <a:ext uri="{FF2B5EF4-FFF2-40B4-BE49-F238E27FC236}">
                  <a16:creationId xmlns:a16="http://schemas.microsoft.com/office/drawing/2014/main" id="{AE9A5AF5-4E05-E5B6-D202-643207727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aphicFrame>
        <p:nvGraphicFramePr>
          <p:cNvPr id="200" name="표 199">
            <a:extLst>
              <a:ext uri="{FF2B5EF4-FFF2-40B4-BE49-F238E27FC236}">
                <a16:creationId xmlns:a16="http://schemas.microsoft.com/office/drawing/2014/main" id="{BE636640-AEDD-3CDE-6F33-3FE98EB544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9829967"/>
              </p:ext>
            </p:extLst>
          </p:nvPr>
        </p:nvGraphicFramePr>
        <p:xfrm>
          <a:off x="11942980" y="1664954"/>
          <a:ext cx="2088000" cy="48659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401625555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34379126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사유가 없거나 검토요청 반려 시  버튼 비활성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 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규정미준수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사유가 있으면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'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미준수사유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버튼을 이용하여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규정미준수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내용 확인 가능한 팝업출력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버튼색상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-RED   (07/07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PM)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961447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 여부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등록시에 </a:t>
                      </a:r>
                      <a:r>
                        <a:rPr kumimoji="0" lang="en-US" altLang="ko-KR" sz="700" b="0" i="0" u="none" strike="sng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MDM I./F </a:t>
                      </a:r>
                      <a:r>
                        <a:rPr kumimoji="0" lang="ko-KR" altLang="en-US" sz="700" b="0" i="0" u="none" strike="sng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결과 출력</a:t>
                      </a:r>
                      <a:br>
                        <a:rPr kumimoji="0" lang="en-US" altLang="ko-KR" sz="700" b="0" i="0" u="none" strike="sng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</a:b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SKU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마스터 테이블에서 조회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(07/18)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신규테이블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SCKTS.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SKU_QLTY_INFO(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수정프로시저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PRC_SK_MDM_MIS_SUB_010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Y: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관리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활성화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비활성화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N: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비관리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),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비활성화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642545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최대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1~9999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까지 입력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직접입력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활성화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 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비활성화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064456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일수 계산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팝업 출력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020-p02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팝업에서 계산된 일수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71768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품목제조보고번호 필드추가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(2025.06.25)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초기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Null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형태로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VC16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자리 화면에 해당 값 입력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69702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불러오기로 데이터 출력시에 수정일시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미출력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PM 07/07)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9228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 생성 시 출시일 기준변경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(07/10)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~ +1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조회시작일은 과거로 일자로 변경불가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검토요청시 저장된 시작일이 과거일이라면 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출력하여 변경 유도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20830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→ 소비기한 대상여부 </a:t>
                      </a:r>
                      <a:r>
                        <a:rPr lang="en-US" altLang="ko-KR" sz="700" dirty="0"/>
                        <a:t>Y</a:t>
                      </a:r>
                      <a:r>
                        <a:rPr lang="ko-KR" altLang="en-US" sz="700" dirty="0" err="1"/>
                        <a:t>일때</a:t>
                      </a:r>
                      <a:r>
                        <a:rPr lang="ko-KR" altLang="en-US" sz="700" dirty="0"/>
                        <a:t> 검토완료를 할 때 체크 팝업 </a:t>
                      </a:r>
                      <a:r>
                        <a:rPr lang="ko-KR" altLang="en-US" sz="700" dirty="0" err="1"/>
                        <a:t>알림출력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(07/07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PM)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4916256"/>
                  </a:ext>
                </a:extLst>
              </a:tr>
            </a:tbl>
          </a:graphicData>
        </a:graphic>
      </p:graphicFrame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40C36F4B-7CFF-3FD6-610E-20174FBB589B}"/>
              </a:ext>
            </a:extLst>
          </p:cNvPr>
          <p:cNvGrpSpPr/>
          <p:nvPr/>
        </p:nvGrpSpPr>
        <p:grpSpPr>
          <a:xfrm>
            <a:off x="4418562" y="6069920"/>
            <a:ext cx="2894300" cy="732883"/>
            <a:chOff x="4236385" y="5315769"/>
            <a:chExt cx="2894300" cy="732883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12DA57A8-C7B1-BF53-3138-90218B6D6288}"/>
                </a:ext>
              </a:extLst>
            </p:cNvPr>
            <p:cNvGrpSpPr/>
            <p:nvPr/>
          </p:nvGrpSpPr>
          <p:grpSpPr>
            <a:xfrm>
              <a:off x="4236385" y="5315769"/>
              <a:ext cx="2894300" cy="732883"/>
              <a:chOff x="5113602" y="4601159"/>
              <a:chExt cx="2894300" cy="618624"/>
            </a:xfrm>
          </p:grpSpPr>
          <p:pic>
            <p:nvPicPr>
              <p:cNvPr id="204" name="그림 203">
                <a:extLst>
                  <a:ext uri="{FF2B5EF4-FFF2-40B4-BE49-F238E27FC236}">
                    <a16:creationId xmlns:a16="http://schemas.microsoft.com/office/drawing/2014/main" id="{BA1C6144-70C1-834A-EC70-83FF06CE2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113602" y="4601159"/>
                <a:ext cx="2894300" cy="618624"/>
              </a:xfrm>
              <a:prstGeom prst="rect">
                <a:avLst/>
              </a:prstGeom>
              <a:ln>
                <a:solidFill>
                  <a:srgbClr val="56A123"/>
                </a:solidFill>
              </a:ln>
            </p:spPr>
          </p:pic>
          <p:pic>
            <p:nvPicPr>
              <p:cNvPr id="205" name="그림 204">
                <a:extLst>
                  <a:ext uri="{FF2B5EF4-FFF2-40B4-BE49-F238E27FC236}">
                    <a16:creationId xmlns:a16="http://schemas.microsoft.com/office/drawing/2014/main" id="{2F1CE106-5DF8-C631-F18E-85B7F2F705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294705" y="5047966"/>
                <a:ext cx="514351" cy="165100"/>
              </a:xfrm>
              <a:prstGeom prst="rect">
                <a:avLst/>
              </a:prstGeom>
            </p:spPr>
          </p:pic>
        </p:grp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AD477679-AF2E-AA8A-B1AD-ABC5FE30DB46}"/>
                </a:ext>
              </a:extLst>
            </p:cNvPr>
            <p:cNvSpPr txBox="1"/>
            <p:nvPr/>
          </p:nvSpPr>
          <p:spPr bwMode="auto">
            <a:xfrm>
              <a:off x="4838982" y="5526707"/>
              <a:ext cx="1832553" cy="234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none" rtlCol="0" anchor="t">
              <a:spAutoFit/>
            </a:bodyPr>
            <a:lstStyle/>
            <a:p>
              <a:pPr marL="0" indent="0" algn="l" defTabSz="371464" fontAlgn="base">
                <a:lnSpc>
                  <a:spcPct val="130000"/>
                </a:lnSpc>
                <a:spcAft>
                  <a:spcPct val="0"/>
                </a:spcAft>
                <a:buClr>
                  <a:srgbClr val="000000">
                    <a:lumMod val="75000"/>
                    <a:lumOff val="25000"/>
                  </a:srgbClr>
                </a:buClr>
                <a:buNone/>
              </a:pPr>
              <a:r>
                <a:rPr kumimoji="1" lang="ko-KR" altLang="en-US" sz="8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소비기한</a:t>
              </a:r>
              <a:r>
                <a:rPr kumimoji="1" lang="en-US" altLang="ko-KR" sz="8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(</a:t>
              </a:r>
              <a:r>
                <a:rPr kumimoji="1" lang="ko-KR" altLang="en-US" sz="8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 </a:t>
              </a:r>
              <a:r>
                <a:rPr kumimoji="1" lang="en-US" altLang="ko-KR" sz="8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)</a:t>
              </a:r>
              <a:r>
                <a:rPr kumimoji="1" lang="ko-KR" altLang="en-US" sz="8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은 필수 입력 항목입니다</a:t>
              </a:r>
            </a:p>
          </p:txBody>
        </p:sp>
      </p:grpSp>
      <p:grpSp>
        <p:nvGrpSpPr>
          <p:cNvPr id="206" name="그룹 21">
            <a:extLst>
              <a:ext uri="{FF2B5EF4-FFF2-40B4-BE49-F238E27FC236}">
                <a16:creationId xmlns:a16="http://schemas.microsoft.com/office/drawing/2014/main" id="{05FC57CB-BBE4-EE89-EA5B-7552CAD2D307}"/>
              </a:ext>
            </a:extLst>
          </p:cNvPr>
          <p:cNvGrpSpPr>
            <a:grpSpLocks/>
          </p:cNvGrpSpPr>
          <p:nvPr/>
        </p:nvGrpSpPr>
        <p:grpSpPr bwMode="auto">
          <a:xfrm>
            <a:off x="4292355" y="5852969"/>
            <a:ext cx="252413" cy="165100"/>
            <a:chOff x="3125393" y="1499499"/>
            <a:chExt cx="252000" cy="165260"/>
          </a:xfrm>
        </p:grpSpPr>
        <p:sp>
          <p:nvSpPr>
            <p:cNvPr id="207" name="모서리가 둥근 사각형 설명선 321">
              <a:extLst>
                <a:ext uri="{FF2B5EF4-FFF2-40B4-BE49-F238E27FC236}">
                  <a16:creationId xmlns:a16="http://schemas.microsoft.com/office/drawing/2014/main" id="{3CF4956B-FA38-9F03-B188-1D20A3C1828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8" name="TextBox 23">
              <a:extLst>
                <a:ext uri="{FF2B5EF4-FFF2-40B4-BE49-F238E27FC236}">
                  <a16:creationId xmlns:a16="http://schemas.microsoft.com/office/drawing/2014/main" id="{3E546A4D-42A3-0906-CDFA-2CE016C9FA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C8B4F3B1-B4BD-8734-A226-1F60F6F9869B}"/>
              </a:ext>
            </a:extLst>
          </p:cNvPr>
          <p:cNvSpPr/>
          <p:nvPr/>
        </p:nvSpPr>
        <p:spPr bwMode="auto">
          <a:xfrm>
            <a:off x="414239" y="5044568"/>
            <a:ext cx="915024" cy="171578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600" b="0" i="0" u="none" strike="noStrike" cap="none" normalizeH="0" baseline="0" dirty="0">
                <a:ln>
                  <a:noFill/>
                </a:ln>
                <a:effectLst/>
                <a:latin typeface="맑은 고딕" pitchFamily="50" charset="-127"/>
                <a:ea typeface="맑은 고딕" pitchFamily="50" charset="-127"/>
              </a:rPr>
              <a:t> 품목제조보고번호</a:t>
            </a: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303F73D8-8B47-F40A-110F-28483957B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5966" y="5044111"/>
            <a:ext cx="1385573" cy="172034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1234567890123456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211" name="그룹 21">
            <a:extLst>
              <a:ext uri="{FF2B5EF4-FFF2-40B4-BE49-F238E27FC236}">
                <a16:creationId xmlns:a16="http://schemas.microsoft.com/office/drawing/2014/main" id="{24E237D1-1435-CA4A-1686-83AF4A47D076}"/>
              </a:ext>
            </a:extLst>
          </p:cNvPr>
          <p:cNvGrpSpPr>
            <a:grpSpLocks/>
          </p:cNvGrpSpPr>
          <p:nvPr/>
        </p:nvGrpSpPr>
        <p:grpSpPr bwMode="auto">
          <a:xfrm>
            <a:off x="245776" y="4902038"/>
            <a:ext cx="252413" cy="165100"/>
            <a:chOff x="3125393" y="1499499"/>
            <a:chExt cx="252000" cy="165260"/>
          </a:xfrm>
        </p:grpSpPr>
        <p:sp>
          <p:nvSpPr>
            <p:cNvPr id="212" name="모서리가 둥근 사각형 설명선 321">
              <a:extLst>
                <a:ext uri="{FF2B5EF4-FFF2-40B4-BE49-F238E27FC236}">
                  <a16:creationId xmlns:a16="http://schemas.microsoft.com/office/drawing/2014/main" id="{B2095A85-198E-9AD9-DB76-36B891651B7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3" name="TextBox 23">
              <a:extLst>
                <a:ext uri="{FF2B5EF4-FFF2-40B4-BE49-F238E27FC236}">
                  <a16:creationId xmlns:a16="http://schemas.microsoft.com/office/drawing/2014/main" id="{0CAC4616-73DA-6AF7-A538-D9A4AB1349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2154BE39-2363-0511-FF04-782F99378A83}"/>
              </a:ext>
            </a:extLst>
          </p:cNvPr>
          <p:cNvGrpSpPr>
            <a:grpSpLocks/>
          </p:cNvGrpSpPr>
          <p:nvPr/>
        </p:nvGrpSpPr>
        <p:grpSpPr bwMode="auto">
          <a:xfrm>
            <a:off x="7278552" y="2731687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3C1E6391-4150-5809-63E3-1131A003F83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82E50661-B98F-DA57-B0D8-CCA6EEE7EE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  <p:grpSp>
        <p:nvGrpSpPr>
          <p:cNvPr id="5" name="그룹 21">
            <a:extLst>
              <a:ext uri="{FF2B5EF4-FFF2-40B4-BE49-F238E27FC236}">
                <a16:creationId xmlns:a16="http://schemas.microsoft.com/office/drawing/2014/main" id="{7EEA05D0-58EA-3F9B-D52E-5534EAF30B61}"/>
              </a:ext>
            </a:extLst>
          </p:cNvPr>
          <p:cNvGrpSpPr>
            <a:grpSpLocks/>
          </p:cNvGrpSpPr>
          <p:nvPr/>
        </p:nvGrpSpPr>
        <p:grpSpPr bwMode="auto">
          <a:xfrm>
            <a:off x="7271587" y="2446824"/>
            <a:ext cx="252413" cy="165100"/>
            <a:chOff x="3125393" y="1499499"/>
            <a:chExt cx="252000" cy="165260"/>
          </a:xfrm>
        </p:grpSpPr>
        <p:sp>
          <p:nvSpPr>
            <p:cNvPr id="6" name="모서리가 둥근 사각형 설명선 321">
              <a:extLst>
                <a:ext uri="{FF2B5EF4-FFF2-40B4-BE49-F238E27FC236}">
                  <a16:creationId xmlns:a16="http://schemas.microsoft.com/office/drawing/2014/main" id="{988944E7-C4B1-6A54-6411-3DFBD68BC51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" name="TextBox 23">
              <a:extLst>
                <a:ext uri="{FF2B5EF4-FFF2-40B4-BE49-F238E27FC236}">
                  <a16:creationId xmlns:a16="http://schemas.microsoft.com/office/drawing/2014/main" id="{0F3B9CC0-4AED-48E9-9354-3AFC1ECF5B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12</a:t>
              </a:r>
            </a:p>
          </p:txBody>
        </p:sp>
      </p:grpSp>
      <p:grpSp>
        <p:nvGrpSpPr>
          <p:cNvPr id="8" name="그룹 21">
            <a:extLst>
              <a:ext uri="{FF2B5EF4-FFF2-40B4-BE49-F238E27FC236}">
                <a16:creationId xmlns:a16="http://schemas.microsoft.com/office/drawing/2014/main" id="{67D48435-BB0A-C418-5AE3-CD8C2F850976}"/>
              </a:ext>
            </a:extLst>
          </p:cNvPr>
          <p:cNvGrpSpPr>
            <a:grpSpLocks/>
          </p:cNvGrpSpPr>
          <p:nvPr/>
        </p:nvGrpSpPr>
        <p:grpSpPr bwMode="auto">
          <a:xfrm>
            <a:off x="7950432" y="5701823"/>
            <a:ext cx="252413" cy="165100"/>
            <a:chOff x="3125393" y="1499499"/>
            <a:chExt cx="252000" cy="165260"/>
          </a:xfrm>
        </p:grpSpPr>
        <p:sp>
          <p:nvSpPr>
            <p:cNvPr id="10" name="모서리가 둥근 사각형 설명선 321">
              <a:extLst>
                <a:ext uri="{FF2B5EF4-FFF2-40B4-BE49-F238E27FC236}">
                  <a16:creationId xmlns:a16="http://schemas.microsoft.com/office/drawing/2014/main" id="{DD25152A-98B2-E891-BA2F-5E3BB3F9F1F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TextBox 23">
              <a:extLst>
                <a:ext uri="{FF2B5EF4-FFF2-40B4-BE49-F238E27FC236}">
                  <a16:creationId xmlns:a16="http://schemas.microsoft.com/office/drawing/2014/main" id="{171E76AE-3DF6-D10B-12B7-66E242E13D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b</a:t>
              </a:r>
            </a:p>
          </p:txBody>
        </p:sp>
      </p:grpSp>
      <p:sp>
        <p:nvSpPr>
          <p:cNvPr id="12" name="양쪽 모서리가 둥근 사각형 56">
            <a:extLst>
              <a:ext uri="{FF2B5EF4-FFF2-40B4-BE49-F238E27FC236}">
                <a16:creationId xmlns:a16="http://schemas.microsoft.com/office/drawing/2014/main" id="{6B1BA814-A8EB-13E7-4BDE-EB9757CD6492}"/>
              </a:ext>
            </a:extLst>
          </p:cNvPr>
          <p:cNvSpPr/>
          <p:nvPr/>
        </p:nvSpPr>
        <p:spPr>
          <a:xfrm>
            <a:off x="7732705" y="5969273"/>
            <a:ext cx="1827754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출시일의  시작일이 과거일 입니다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8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조회시작일을 오늘 날짜 이후로 변경하신 후 검토 요청 하시기 바랍니다</a:t>
            </a:r>
            <a:endParaRPr lang="en-US" altLang="ko-KR" sz="8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3893C42-45BA-F306-65D6-6B9CEF7F851D}"/>
              </a:ext>
            </a:extLst>
          </p:cNvPr>
          <p:cNvSpPr/>
          <p:nvPr/>
        </p:nvSpPr>
        <p:spPr>
          <a:xfrm>
            <a:off x="7732705" y="6518295"/>
            <a:ext cx="1827754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3974404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184259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(2/2)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637971"/>
              </p:ext>
            </p:extLst>
          </p:nvPr>
        </p:nvGraphicFramePr>
        <p:xfrm>
          <a:off x="9857335" y="1664954"/>
          <a:ext cx="2067327" cy="14217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21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"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원재료 표시사항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"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 필수 값 제외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시에 항목에서 제외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글자 색상변경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레드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블랙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명표 추가에 따른  검토상세내역에 출력부분 추가 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공통코드 </a:t>
                      </a:r>
                      <a:r>
                        <a:rPr kumimoji="0" lang="en-US" altLang="ko-KR" sz="6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SFT008 &gt;&gt; 120 </a:t>
                      </a:r>
                      <a:r>
                        <a:rPr kumimoji="0" lang="ko-KR" altLang="en-US" sz="6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코드 추가</a:t>
                      </a:r>
                      <a:endParaRPr kumimoji="0" lang="en-US" altLang="ko-KR" sz="6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 </a:t>
                      </a:r>
                      <a:r>
                        <a:rPr lang="ko-KR" altLang="en-US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b="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신설</a:t>
                      </a:r>
                      <a:endParaRPr lang="en-US" altLang="ko-KR" sz="700" b="0" strike="noStrik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오픈시에 소스에서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리마크하여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Invisible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1" name="그림 10">
            <a:extLst>
              <a:ext uri="{FF2B5EF4-FFF2-40B4-BE49-F238E27FC236}">
                <a16:creationId xmlns:a16="http://schemas.microsoft.com/office/drawing/2014/main" id="{9B1E7D67-260A-DCF1-6C40-3B3969EE3AD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19410"/>
          <a:stretch/>
        </p:blipFill>
        <p:spPr>
          <a:xfrm>
            <a:off x="323923" y="1529748"/>
            <a:ext cx="9285286" cy="3373178"/>
          </a:xfrm>
          <a:prstGeom prst="rect">
            <a:avLst/>
          </a:prstGeom>
        </p:spPr>
      </p:pic>
      <p:grpSp>
        <p:nvGrpSpPr>
          <p:cNvPr id="13" name="그룹 21">
            <a:extLst>
              <a:ext uri="{FF2B5EF4-FFF2-40B4-BE49-F238E27FC236}">
                <a16:creationId xmlns:a16="http://schemas.microsoft.com/office/drawing/2014/main" id="{0661FCCF-B3EE-8193-04CF-654A48F32461}"/>
              </a:ext>
            </a:extLst>
          </p:cNvPr>
          <p:cNvGrpSpPr>
            <a:grpSpLocks/>
          </p:cNvGrpSpPr>
          <p:nvPr/>
        </p:nvGrpSpPr>
        <p:grpSpPr bwMode="auto">
          <a:xfrm>
            <a:off x="3343665" y="1314554"/>
            <a:ext cx="252412" cy="165100"/>
            <a:chOff x="3134094" y="1499499"/>
            <a:chExt cx="252000" cy="165260"/>
          </a:xfrm>
        </p:grpSpPr>
        <p:sp>
          <p:nvSpPr>
            <p:cNvPr id="14" name="모서리가 둥근 사각형 설명선 321">
              <a:extLst>
                <a:ext uri="{FF2B5EF4-FFF2-40B4-BE49-F238E27FC236}">
                  <a16:creationId xmlns:a16="http://schemas.microsoft.com/office/drawing/2014/main" id="{6DC1F3FD-92E1-F4CE-52B3-94C17EC33AD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TextBox 23">
              <a:extLst>
                <a:ext uri="{FF2B5EF4-FFF2-40B4-BE49-F238E27FC236}">
                  <a16:creationId xmlns:a16="http://schemas.microsoft.com/office/drawing/2014/main" id="{FA2AFFBD-17DF-5EA9-44F2-AF3A13DA1E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4088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13</a:t>
              </a:r>
            </a:p>
          </p:txBody>
        </p:sp>
      </p:grpSp>
      <p:pic>
        <p:nvPicPr>
          <p:cNvPr id="16" name="그림 15">
            <a:extLst>
              <a:ext uri="{FF2B5EF4-FFF2-40B4-BE49-F238E27FC236}">
                <a16:creationId xmlns:a16="http://schemas.microsoft.com/office/drawing/2014/main" id="{8432D992-8833-CC16-3C32-E72B76D0F28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9161" y="3731132"/>
            <a:ext cx="2916126" cy="1147470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A3D3BDDA-D3BE-6F97-4D93-5A9AD65614FA}"/>
              </a:ext>
            </a:extLst>
          </p:cNvPr>
          <p:cNvSpPr txBox="1"/>
          <p:nvPr/>
        </p:nvSpPr>
        <p:spPr>
          <a:xfrm>
            <a:off x="6609161" y="3765968"/>
            <a:ext cx="1263381" cy="123111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명표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95352D3-75A8-1297-F5E4-7C908736AD74}"/>
              </a:ext>
            </a:extLst>
          </p:cNvPr>
          <p:cNvSpPr/>
          <p:nvPr/>
        </p:nvSpPr>
        <p:spPr bwMode="auto">
          <a:xfrm>
            <a:off x="6532071" y="3668108"/>
            <a:ext cx="2993216" cy="1210494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9" name="그룹 21">
            <a:extLst>
              <a:ext uri="{FF2B5EF4-FFF2-40B4-BE49-F238E27FC236}">
                <a16:creationId xmlns:a16="http://schemas.microsoft.com/office/drawing/2014/main" id="{9FA214B8-9EE6-6D90-E089-1287ECD7DD54}"/>
              </a:ext>
            </a:extLst>
          </p:cNvPr>
          <p:cNvGrpSpPr>
            <a:grpSpLocks/>
          </p:cNvGrpSpPr>
          <p:nvPr/>
        </p:nvGrpSpPr>
        <p:grpSpPr bwMode="auto">
          <a:xfrm>
            <a:off x="6356749" y="3644826"/>
            <a:ext cx="252412" cy="165100"/>
            <a:chOff x="3125399" y="1499499"/>
            <a:chExt cx="252000" cy="165260"/>
          </a:xfrm>
        </p:grpSpPr>
        <p:sp>
          <p:nvSpPr>
            <p:cNvPr id="20" name="모서리가 둥근 사각형 설명선 321">
              <a:extLst>
                <a:ext uri="{FF2B5EF4-FFF2-40B4-BE49-F238E27FC236}">
                  <a16:creationId xmlns:a16="http://schemas.microsoft.com/office/drawing/2014/main" id="{8AE5CA89-C69F-DA05-BE49-14EEC63F51C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TextBox 23">
              <a:extLst>
                <a:ext uri="{FF2B5EF4-FFF2-40B4-BE49-F238E27FC236}">
                  <a16:creationId xmlns:a16="http://schemas.microsoft.com/office/drawing/2014/main" id="{E7C819C9-A31F-80D3-D2EB-6DB5CAD682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14</a:t>
              </a: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0B82C2D3-CAD4-6754-C138-F36B1CD91309}"/>
              </a:ext>
            </a:extLst>
          </p:cNvPr>
          <p:cNvSpPr txBox="1"/>
          <p:nvPr/>
        </p:nvSpPr>
        <p:spPr>
          <a:xfrm>
            <a:off x="3473912" y="1591267"/>
            <a:ext cx="1263381" cy="123111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원재료 표시 사항</a:t>
            </a:r>
          </a:p>
        </p:txBody>
      </p:sp>
      <p:pic>
        <p:nvPicPr>
          <p:cNvPr id="23" name="그림 22">
            <a:extLst>
              <a:ext uri="{FF2B5EF4-FFF2-40B4-BE49-F238E27FC236}">
                <a16:creationId xmlns:a16="http://schemas.microsoft.com/office/drawing/2014/main" id="{D1B8591C-93BC-5C38-015E-C0707240AE3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80384"/>
          <a:stretch/>
        </p:blipFill>
        <p:spPr>
          <a:xfrm>
            <a:off x="323923" y="6036946"/>
            <a:ext cx="9285286" cy="821054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A1FA44A7-5F6B-C9B7-95E2-958547E62FE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013" y="4870452"/>
            <a:ext cx="2916126" cy="114747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EAC211F8-8B69-D175-3975-A8C1F851B6CB}"/>
              </a:ext>
            </a:extLst>
          </p:cNvPr>
          <p:cNvSpPr txBox="1"/>
          <p:nvPr/>
        </p:nvSpPr>
        <p:spPr>
          <a:xfrm>
            <a:off x="401013" y="4905288"/>
            <a:ext cx="1263381" cy="123111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27701DA-F297-CB6E-8F9A-EEDE8DB10D27}"/>
              </a:ext>
            </a:extLst>
          </p:cNvPr>
          <p:cNvSpPr/>
          <p:nvPr/>
        </p:nvSpPr>
        <p:spPr bwMode="auto">
          <a:xfrm>
            <a:off x="323923" y="4807428"/>
            <a:ext cx="2993216" cy="1210494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7" name="그룹 21">
            <a:extLst>
              <a:ext uri="{FF2B5EF4-FFF2-40B4-BE49-F238E27FC236}">
                <a16:creationId xmlns:a16="http://schemas.microsoft.com/office/drawing/2014/main" id="{0CF8EFB7-A428-D27A-7BE4-384612ED2F6F}"/>
              </a:ext>
            </a:extLst>
          </p:cNvPr>
          <p:cNvGrpSpPr>
            <a:grpSpLocks/>
          </p:cNvGrpSpPr>
          <p:nvPr/>
        </p:nvGrpSpPr>
        <p:grpSpPr bwMode="auto">
          <a:xfrm>
            <a:off x="148601" y="4784146"/>
            <a:ext cx="252412" cy="165100"/>
            <a:chOff x="3125399" y="1499499"/>
            <a:chExt cx="252000" cy="165260"/>
          </a:xfrm>
        </p:grpSpPr>
        <p:sp>
          <p:nvSpPr>
            <p:cNvPr id="28" name="모서리가 둥근 사각형 설명선 321">
              <a:extLst>
                <a:ext uri="{FF2B5EF4-FFF2-40B4-BE49-F238E27FC236}">
                  <a16:creationId xmlns:a16="http://schemas.microsoft.com/office/drawing/2014/main" id="{B8F4351D-7693-1650-EE98-7A33B0CF091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3">
              <a:extLst>
                <a:ext uri="{FF2B5EF4-FFF2-40B4-BE49-F238E27FC236}">
                  <a16:creationId xmlns:a16="http://schemas.microsoft.com/office/drawing/2014/main" id="{5DF46402-FD58-EFAF-ACDF-5FD4E7391C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15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0FC9351D-1382-720E-732A-74FDF9D57235}"/>
              </a:ext>
            </a:extLst>
          </p:cNvPr>
          <p:cNvSpPr txBox="1"/>
          <p:nvPr/>
        </p:nvSpPr>
        <p:spPr>
          <a:xfrm>
            <a:off x="3884022" y="5322893"/>
            <a:ext cx="53209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모든 첨부파일 업로드시 특수문자</a:t>
            </a:r>
            <a:r>
              <a:rPr lang="en-US" altLang="ko-KR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들어가서 오작동 발생되니 첨부 시 </a:t>
            </a:r>
            <a:r>
              <a:rPr lang="en-US" altLang="ko-KR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Alert</a:t>
            </a:r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으로 팝업 표기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4661FE72-877B-EFB1-6C0E-3588B6B64D34}"/>
              </a:ext>
            </a:extLst>
          </p:cNvPr>
          <p:cNvCxnSpPr>
            <a:cxnSpLocks/>
          </p:cNvCxnSpPr>
          <p:nvPr/>
        </p:nvCxnSpPr>
        <p:spPr bwMode="auto">
          <a:xfrm flipH="1">
            <a:off x="6810103" y="3889079"/>
            <a:ext cx="1611086" cy="1379607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374070371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5EE592-6063-B934-CE74-8ABC7B9EBE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16F082D3-0E6E-2FD9-20B7-7661ADEEC0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455028"/>
              </p:ext>
            </p:extLst>
          </p:nvPr>
        </p:nvGraphicFramePr>
        <p:xfrm>
          <a:off x="254000" y="1343534"/>
          <a:ext cx="11691939" cy="438748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SERPWEB.SFTY_XMNT_RFRNR_INFO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참조자구분코드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(REFR_DIV_CODE)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668274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803889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77443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SERPWEB.SFTY_XMNT_ATFL_XMNT_OPN_RDN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 열람 여부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SERPWEB.SFTY_XMNT_NNCMPL_RSN_INFO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안정검토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미준수사유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1568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SERPWEB.SFTY_XMNT_BASIC_INFO_HIST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기본정보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957773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SERPWEB.SFTY_XMNT_ITEM_INFO_HIST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제품정보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757275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 SFTY_XMNT_REFR_SETNG_INFO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설정정보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690575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SCKTS.SKU_QLTY_INFO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품질정보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660237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07841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C66AA70F-06AE-8D37-4AD2-F376AAAA1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4D1794A9-DD49-C547-487D-58F7305D25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892737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56501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8AC53-BD3C-185D-8441-996B9AF4CC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18834786-4917-749E-23B2-BD3017D7A9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8217428"/>
              </p:ext>
            </p:extLst>
          </p:nvPr>
        </p:nvGraphicFramePr>
        <p:xfrm>
          <a:off x="254000" y="2312253"/>
          <a:ext cx="11698679" cy="334938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881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8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 추가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제품처리구분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멸균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제품보관분류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내장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냉동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식품첨부파일분류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품목제조보고서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103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한글 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104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원재료 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105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106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107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108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흡습제 사진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109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수입신고필증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 보완 서류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명표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130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130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추가</a:t>
                      </a:r>
                      <a:endParaRPr lang="en-US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구분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선택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626305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 선택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 스펙 확정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 원료 변경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수급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발급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부적합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성적서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협력사 대응 미흡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51796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검토 미완료 항목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품보서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70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80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수입신고서류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8277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소비기한 선택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직접입력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MDM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767323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(MD),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임원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85742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자동등록 부서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코드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부서코드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참조값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8082383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5951E56-189A-BB07-F87F-F00EC8BFC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2067415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26D10E7-B669-FCAD-EF25-C65325431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5811711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B94B8761-B148-AF7C-80C3-D8241B7A77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577401"/>
              </p:ext>
            </p:extLst>
          </p:nvPr>
        </p:nvGraphicFramePr>
        <p:xfrm>
          <a:off x="247260" y="6146587"/>
          <a:ext cx="11698678" cy="4615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6A64A2D4-80CF-7E3D-DCDF-A2D3AAEA5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971514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7B2FB3A4-D7B3-199B-1E57-812FAE6D23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100170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8" name="Group 107">
            <a:extLst>
              <a:ext uri="{FF2B5EF4-FFF2-40B4-BE49-F238E27FC236}">
                <a16:creationId xmlns:a16="http://schemas.microsoft.com/office/drawing/2014/main" id="{F14E2DB7-17C8-5F03-173D-9691BA0A38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4922691"/>
              </p:ext>
            </p:extLst>
          </p:nvPr>
        </p:nvGraphicFramePr>
        <p:xfrm>
          <a:off x="247260" y="1372727"/>
          <a:ext cx="11710849" cy="521683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923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655731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84B920-13A4-3386-204C-62D2F95714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CB8BCA01-03C0-EB09-67D8-FA323CD999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7324808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항목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추가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명표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(120),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(130)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코드 추가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SFT008 : 120 ,130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8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 </a:t>
                      </a:r>
                      <a:r>
                        <a:rPr kumimoji="0" lang="en-US" altLang="ko-KR" sz="8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오픈시에 소스에서 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리마크하여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Invisible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endParaRPr kumimoji="0" lang="en-US" altLang="ko-KR" sz="9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파일업로드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특수문자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(%)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업로드 시 파일명에 특수 문자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‘%’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 로직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불어오기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별 불러오기 사용 시 이전의 모든 검토 의견과 모든 첨부파일 및 의견 등 모두 가져오기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제외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0" lang="ko-KR" altLang="en-US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 번호만 신규생성 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불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러오기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데이터 출력시에 수정일시 미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불러온 첨부파일은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CM_ATCH_FILE_INFO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ref3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컬럼에 원래 안전성검토번호 저장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일괄다운로드에서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디폴트 미선택시 사용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자동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신규등록시 관리자에 설정한 식품의 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자동설정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로그인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부서 코드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자동등록 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로 확인 후 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푸드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or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음료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으로 등록한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자동등록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제조구분에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‘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선택시에  참조자는 자동으로 사전 등록된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추가 등록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구분으로 등록한 직수입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자동등록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직수입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'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참조자는 신규 안전성검토 문서의 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권한과 동일하다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  <a:r>
                        <a:rPr lang="ko-KR" altLang="en-US" sz="900" b="1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항목에 대해 파일을 첨부할 수 있고</a:t>
                      </a:r>
                      <a:r>
                        <a:rPr lang="en-US" altLang="ko-KR" sz="900" b="1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1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 의견을 작성할 수 있다</a:t>
                      </a:r>
                      <a:endParaRPr lang="en-US" altLang="ko-KR" sz="900" b="1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중복 시 중복제거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[5]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 생성 시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출시일 기준변경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조회일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~ +1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조회시작일은 과거로 일자로 변경불가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공통 팝업으로 변경불가 따라서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검토요청시 저장된 시작일이 과거일이라면 팝업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출력하여 변경 유도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[6]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영역에 품목제조보고번호 컬럼 추가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초기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Null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형태로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VC16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자리 화면에 해당 값 입력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SERPWEB.SFTY_XMNT_ITEM_INFO_HIST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에 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UPDATE/INSERT</a:t>
                      </a: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" name="Group 234">
            <a:extLst>
              <a:ext uri="{FF2B5EF4-FFF2-40B4-BE49-F238E27FC236}">
                <a16:creationId xmlns:a16="http://schemas.microsoft.com/office/drawing/2014/main" id="{1B6D0855-34BB-085D-025E-FF66BBF3D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971514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782823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81F9EB-5D9B-48CB-2D7C-EAA49400A3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E7938FE5-312D-D6C1-477B-03B71009A1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8268672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[7]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사유 처리 로직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클릭 시 체크 루틴 후 ‘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제품분류’에서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‘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신제품’만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검토요청 준수 확인 팝업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클릭시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검토요청 준수 확인 팝업 에서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 → 검토요청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아니요 →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규정 </a:t>
                      </a:r>
                      <a:r>
                        <a:rPr kumimoji="1" lang="ko-KR" altLang="en-US" sz="900" b="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SFTY000020_P02)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미준수사유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버튼 출력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사유가 없거나 검토요청 반려 시  버튼 비활성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,  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</a:rPr>
                        <a:t>규정미준수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사유가 있으면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 = Y),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'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</a:rPr>
                        <a:t>미준수사유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버튼을 이용하여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</a:rPr>
                        <a:t>규정미준수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내용 확인 가능한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VIEW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팝업출력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버튼색상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-RED   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[8]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소비기한 로직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b="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 여부 체크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마스터 테이블에서 조회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-&gt;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신규테이블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SCKTS. SKU_QLTY_INFO(SKU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품질정보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MDM_IF.ZTS1MDZSK010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SCKTS. SKU_QLTY_INFO(SKU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품질정보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로 데이터 저장 프로시저 수정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PRC_SK_MDM_MIS_SUB_010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 영역에 소비기한 컬럼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 추가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소비기한 대상여부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직접입력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SKU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 팝업에서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돌려 줄 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번호의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SCKTS. SKU_QLTY_INFO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값을 가져와서 처리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화면 컨트롤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관리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비활성화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직접입력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활성화 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                                                                           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비활성화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N: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비관리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),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비활성화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활성화  시 입력란에 직접 입력 금지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돋보기 아이콘 클릭 시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에브리데이고딕 R" panose="02020603020101020101" pitchFamily="18" charset="-127"/>
                          <a:ea typeface="에브리데이고딕 R" panose="02020603020101020101" pitchFamily="18" charset="-127"/>
                          <a:cs typeface="+mn-cs"/>
                        </a:rPr>
                        <a:t>소비기한 일수 계산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출력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SFTY000020_P03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최대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1~9999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까지 입력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임시저장시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저장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체크로직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‘Y’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 때는  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직접입력 선택이면 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필수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확정전선택이면 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만 필수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 체크하여   알림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 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" name="Group 234">
            <a:extLst>
              <a:ext uri="{FF2B5EF4-FFF2-40B4-BE49-F238E27FC236}">
                <a16:creationId xmlns:a16="http://schemas.microsoft.com/office/drawing/2014/main" id="{57DC6EB3-18ED-6DF4-5B68-5B08A11FDBBB}"/>
              </a:ext>
            </a:extLst>
          </p:cNvPr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5568315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54" name="그림 53">
            <a:extLst>
              <a:ext uri="{FF2B5EF4-FFF2-40B4-BE49-F238E27FC236}">
                <a16:creationId xmlns:a16="http://schemas.microsoft.com/office/drawing/2014/main" id="{73666948-297F-933B-6DE8-8CC270F237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889" y="1573466"/>
            <a:ext cx="9339247" cy="2908855"/>
          </a:xfrm>
          <a:prstGeom prst="rect">
            <a:avLst/>
          </a:prstGeom>
        </p:spPr>
      </p:pic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65375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 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0176608"/>
              </p:ext>
            </p:extLst>
          </p:nvPr>
        </p:nvGraphicFramePr>
        <p:xfrm>
          <a:off x="9846998" y="1664954"/>
          <a:ext cx="2088000" cy="2494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알림 표시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검토자에게만 아이콘 출력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요청자에게만 아이콘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현재는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모두에게 표시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엑셀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함목추가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 안전성 검토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해당 여부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미해당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②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③ 검토 미완료 항목 </a:t>
                      </a:r>
                      <a:endParaRPr lang="en-US" altLang="ko-KR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 '</a:t>
                      </a:r>
                      <a:r>
                        <a:rPr lang="ko-KR" altLang="ko-KR" sz="700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미준수</a:t>
                      </a:r>
                      <a:r>
                        <a:rPr lang="ko-KR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사유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 </a:t>
                      </a:r>
                      <a:r>
                        <a:rPr lang="ko-KR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및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'</a:t>
                      </a:r>
                      <a:r>
                        <a:rPr lang="ko-KR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 미완료 항목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</a:t>
                      </a:r>
                      <a:r>
                        <a:rPr lang="ko-KR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 내용은 콤마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(,) </a:t>
                      </a:r>
                      <a:r>
                        <a:rPr lang="ko-KR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구분하여 출력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(07/10)</a:t>
                      </a:r>
                      <a:endParaRPr lang="ko-KR" altLang="ko-KR" sz="700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컬럼추가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규정미준수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안전성 검토 준수 여부 출력 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미준수시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lang="ko-KR" altLang="en-US" sz="700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미준수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붉은색으로 출력 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6791776"/>
                  </a:ext>
                </a:extLst>
              </a:tr>
            </a:tbl>
          </a:graphicData>
        </a:graphic>
      </p:graphicFrame>
      <p:grpSp>
        <p:nvGrpSpPr>
          <p:cNvPr id="67" name="그룹 21">
            <a:extLst>
              <a:ext uri="{FF2B5EF4-FFF2-40B4-BE49-F238E27FC236}">
                <a16:creationId xmlns:a16="http://schemas.microsoft.com/office/drawing/2014/main" id="{B6E819A7-0E17-FCE0-152E-E35BEC7DF10F}"/>
              </a:ext>
            </a:extLst>
          </p:cNvPr>
          <p:cNvGrpSpPr>
            <a:grpSpLocks/>
          </p:cNvGrpSpPr>
          <p:nvPr/>
        </p:nvGrpSpPr>
        <p:grpSpPr bwMode="auto">
          <a:xfrm>
            <a:off x="181204" y="2461848"/>
            <a:ext cx="252413" cy="165100"/>
            <a:chOff x="3125393" y="1499499"/>
            <a:chExt cx="252000" cy="165260"/>
          </a:xfrm>
        </p:grpSpPr>
        <p:sp>
          <p:nvSpPr>
            <p:cNvPr id="70" name="모서리가 둥근 사각형 설명선 321">
              <a:extLst>
                <a:ext uri="{FF2B5EF4-FFF2-40B4-BE49-F238E27FC236}">
                  <a16:creationId xmlns:a16="http://schemas.microsoft.com/office/drawing/2014/main" id="{DCFB8618-F697-08BD-232D-7236D64C018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TextBox 23">
              <a:extLst>
                <a:ext uri="{FF2B5EF4-FFF2-40B4-BE49-F238E27FC236}">
                  <a16:creationId xmlns:a16="http://schemas.microsoft.com/office/drawing/2014/main" id="{4DBD942D-4433-A191-3E31-DE8464283F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pic>
        <p:nvPicPr>
          <p:cNvPr id="5" name="그림 4">
            <a:extLst>
              <a:ext uri="{FF2B5EF4-FFF2-40B4-BE49-F238E27FC236}">
                <a16:creationId xmlns:a16="http://schemas.microsoft.com/office/drawing/2014/main" id="{56CEE215-09DF-5095-7A1A-2CE6BCEB890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4372" t="39534" r="7973" b="-1"/>
          <a:stretch/>
        </p:blipFill>
        <p:spPr>
          <a:xfrm>
            <a:off x="3317966" y="2723433"/>
            <a:ext cx="6318502" cy="1758888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87C13D3B-B7C2-2471-94A6-DF8FA4E92D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3698" t="39534" r="38656" b="-1"/>
          <a:stretch/>
        </p:blipFill>
        <p:spPr>
          <a:xfrm>
            <a:off x="2644997" y="2723433"/>
            <a:ext cx="692744" cy="175888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78DE174-4A12-33FB-0781-44CCEF176C7B}"/>
              </a:ext>
            </a:extLst>
          </p:cNvPr>
          <p:cNvSpPr txBox="1"/>
          <p:nvPr/>
        </p:nvSpPr>
        <p:spPr>
          <a:xfrm>
            <a:off x="2739931" y="2744189"/>
            <a:ext cx="633507" cy="200055"/>
          </a:xfrm>
          <a:prstGeom prst="rect">
            <a:avLst/>
          </a:prstGeom>
          <a:solidFill>
            <a:srgbClr val="E4E1E1"/>
          </a:solidFill>
        </p:spPr>
        <p:txBody>
          <a:bodyPr wrap="none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규정미준수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14DEC84-6F50-79CD-415E-418519E02139}"/>
              </a:ext>
            </a:extLst>
          </p:cNvPr>
          <p:cNvSpPr txBox="1"/>
          <p:nvPr/>
        </p:nvSpPr>
        <p:spPr>
          <a:xfrm>
            <a:off x="2697221" y="3423842"/>
            <a:ext cx="620744" cy="92333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2229F7A-8D8C-3AFE-C92E-68F761CEB16B}"/>
              </a:ext>
            </a:extLst>
          </p:cNvPr>
          <p:cNvSpPr txBox="1"/>
          <p:nvPr/>
        </p:nvSpPr>
        <p:spPr>
          <a:xfrm>
            <a:off x="2636659" y="2998185"/>
            <a:ext cx="773145" cy="92333"/>
          </a:xfrm>
          <a:prstGeom prst="rect">
            <a:avLst/>
          </a:prstGeom>
          <a:solidFill>
            <a:srgbClr val="FCECC1"/>
          </a:solidFill>
        </p:spPr>
        <p:txBody>
          <a:bodyPr wrap="square" t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DC22CF5-B61C-58CA-1D2F-6279ADEDE0EA}"/>
              </a:ext>
            </a:extLst>
          </p:cNvPr>
          <p:cNvSpPr txBox="1"/>
          <p:nvPr/>
        </p:nvSpPr>
        <p:spPr>
          <a:xfrm>
            <a:off x="2666740" y="3721316"/>
            <a:ext cx="773145" cy="92333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3C20AD5-FF8F-5E6D-94F6-B4D52033B443}"/>
              </a:ext>
            </a:extLst>
          </p:cNvPr>
          <p:cNvSpPr txBox="1"/>
          <p:nvPr/>
        </p:nvSpPr>
        <p:spPr>
          <a:xfrm>
            <a:off x="2658159" y="4009485"/>
            <a:ext cx="773145" cy="92333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0A6F309-0DE7-4261-6096-B957AEF69F50}"/>
              </a:ext>
            </a:extLst>
          </p:cNvPr>
          <p:cNvSpPr txBox="1"/>
          <p:nvPr/>
        </p:nvSpPr>
        <p:spPr>
          <a:xfrm>
            <a:off x="2636658" y="4297654"/>
            <a:ext cx="773145" cy="92333"/>
          </a:xfrm>
          <a:prstGeom prst="rect">
            <a:avLst/>
          </a:prstGeom>
          <a:solidFill>
            <a:srgbClr val="F3F3F3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057CCAE-FBC1-F927-8DAA-E677BC758536}"/>
              </a:ext>
            </a:extLst>
          </p:cNvPr>
          <p:cNvSpPr txBox="1"/>
          <p:nvPr/>
        </p:nvSpPr>
        <p:spPr>
          <a:xfrm>
            <a:off x="2658158" y="4163307"/>
            <a:ext cx="773145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EE521D3-D5CC-0A5E-69A6-ED5895271451}"/>
              </a:ext>
            </a:extLst>
          </p:cNvPr>
          <p:cNvSpPr txBox="1"/>
          <p:nvPr/>
        </p:nvSpPr>
        <p:spPr>
          <a:xfrm>
            <a:off x="2675322" y="3880823"/>
            <a:ext cx="773145" cy="92333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 algn="ctr"/>
            <a:endParaRPr lang="ko-KR" altLang="en-US" sz="6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" name="그룹 21">
            <a:extLst>
              <a:ext uri="{FF2B5EF4-FFF2-40B4-BE49-F238E27FC236}">
                <a16:creationId xmlns:a16="http://schemas.microsoft.com/office/drawing/2014/main" id="{B9BB958F-BA61-BE7B-11E5-8E23964BD057}"/>
              </a:ext>
            </a:extLst>
          </p:cNvPr>
          <p:cNvGrpSpPr>
            <a:grpSpLocks/>
          </p:cNvGrpSpPr>
          <p:nvPr/>
        </p:nvGrpSpPr>
        <p:grpSpPr bwMode="auto">
          <a:xfrm>
            <a:off x="2675322" y="2542965"/>
            <a:ext cx="252413" cy="165100"/>
            <a:chOff x="3125393" y="1499499"/>
            <a:chExt cx="252000" cy="165260"/>
          </a:xfrm>
        </p:grpSpPr>
        <p:sp>
          <p:nvSpPr>
            <p:cNvPr id="18" name="모서리가 둥근 사각형 설명선 321">
              <a:extLst>
                <a:ext uri="{FF2B5EF4-FFF2-40B4-BE49-F238E27FC236}">
                  <a16:creationId xmlns:a16="http://schemas.microsoft.com/office/drawing/2014/main" id="{B07B3F48-BE57-A4DC-D0EA-6D1F1F37C97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TextBox 23">
              <a:extLst>
                <a:ext uri="{FF2B5EF4-FFF2-40B4-BE49-F238E27FC236}">
                  <a16:creationId xmlns:a16="http://schemas.microsoft.com/office/drawing/2014/main" id="{DEEB87D6-6F89-C6F5-0F84-67D185B6D3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D02C0947-DF58-C575-EB33-7578637D4051}"/>
              </a:ext>
            </a:extLst>
          </p:cNvPr>
          <p:cNvGrpSpPr>
            <a:grpSpLocks/>
          </p:cNvGrpSpPr>
          <p:nvPr/>
        </p:nvGrpSpPr>
        <p:grpSpPr bwMode="auto">
          <a:xfrm>
            <a:off x="3163972" y="2951176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B9123EBD-2D56-B989-AEE5-ED40D6EB7C9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F988302D-2C35-4C93-8285-5B17610E9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9619960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36308-C57A-E7F4-A409-DBD73F3148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DC3485D4-94DF-D3D1-8AE4-70E49FCE15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347015"/>
              </p:ext>
            </p:extLst>
          </p:nvPr>
        </p:nvGraphicFramePr>
        <p:xfrm>
          <a:off x="254000" y="1343534"/>
          <a:ext cx="11691939" cy="244780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SERPWEB.SFTY_XMNT_READ_INFO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 SFTY_XMNT_CNSMP_TMLMT_INTRF_INFO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소비기한 인터페이스정보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6BFBAE1E-0764-7531-FC0A-FF8DF5AF3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C059AA-0D11-5396-EAC8-38F2E3C2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586850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70E6B90-EBFA-BEC3-B3E9-7AB031EF8B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5935483"/>
              </p:ext>
            </p:extLst>
          </p:nvPr>
        </p:nvGraphicFramePr>
        <p:xfrm>
          <a:off x="247260" y="4851018"/>
          <a:ext cx="11710849" cy="13845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E69C7ECC-BE81-4E8A-DF02-E9FE1861F2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4861799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 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657854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119463-BEF0-D460-EE20-F23ACD25CB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EE745586-9BD5-2A90-F70E-7D4ED20361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379557"/>
              </p:ext>
            </p:extLst>
          </p:nvPr>
        </p:nvGraphicFramePr>
        <p:xfrm>
          <a:off x="254000" y="1343534"/>
          <a:ext cx="11698679" cy="2697615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40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직수입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제품처리구분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멸균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제품보관분류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내장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냉동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진행상태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조검부완료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결재상태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결재완료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799969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구분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선택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7117768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 선택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 스펙 확정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 원료 변경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수급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발급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부적합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성적서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협력사 대응 미흡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604051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검토 미완료 항목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품보서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70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80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수입신고서류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505246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E499B215-1DDD-AD05-6FFE-CB0DEE31A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B2E45DA0-246D-CDE8-347C-074A1C21A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4604143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499C2C3E-7BBE-F6EB-295A-54BD9BC85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2946080"/>
              </p:ext>
            </p:extLst>
          </p:nvPr>
        </p:nvGraphicFramePr>
        <p:xfrm>
          <a:off x="247260" y="4885089"/>
          <a:ext cx="11698678" cy="13845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7B3C9FF5-D0B0-9C58-3613-06E69788B9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4861799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 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773098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0D71B3-329D-9E73-C908-013C73D446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F1FEBDDE-C49B-85C6-9D34-5FFDF2C01D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9229023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[2]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엑셀다운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엑셀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함목추가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 안전성 검토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해당 여부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미해당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②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③ 검토 미완료 항목 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</a:t>
                      </a:r>
                      <a:r>
                        <a:rPr lang="ko-KR" altLang="ko-KR" sz="900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미준수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사유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 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및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'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 미완료 항목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 내용은 콤마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(,) 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구분하여 출력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[3]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컬럼추가 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1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규정미준수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여부 </a:t>
                      </a:r>
                      <a:r>
                        <a:rPr kumimoji="1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걸럼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추가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NNCMPL_YN = Y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" name="그림 1">
            <a:extLst>
              <a:ext uri="{FF2B5EF4-FFF2-40B4-BE49-F238E27FC236}">
                <a16:creationId xmlns:a16="http://schemas.microsoft.com/office/drawing/2014/main" id="{9942931A-4DE0-AA01-CB32-65172772304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907167" y="1775478"/>
            <a:ext cx="168591" cy="168591"/>
          </a:xfrm>
          <a:prstGeom prst="rect">
            <a:avLst/>
          </a:prstGeom>
        </p:spPr>
      </p:pic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EEDE626A-FDE6-5C2B-3D59-7148BAA378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4861799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 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FBCBCFD7-FD34-4D61-CF89-96BC1DAA8EBA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13064" y="1606887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94279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6" name="그림 25">
            <a:extLst>
              <a:ext uri="{FF2B5EF4-FFF2-40B4-BE49-F238E27FC236}">
                <a16:creationId xmlns:a16="http://schemas.microsoft.com/office/drawing/2014/main" id="{75400CE3-5B06-FF22-444C-CC88D60B14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060" y="1506753"/>
            <a:ext cx="9439718" cy="4508775"/>
          </a:xfrm>
          <a:prstGeom prst="rect">
            <a:avLst/>
          </a:prstGeom>
        </p:spPr>
      </p:pic>
      <p:graphicFrame>
        <p:nvGraphicFramePr>
          <p:cNvPr id="9" name="Group 234"/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(1/2)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773488"/>
              </p:ext>
            </p:extLst>
          </p:nvPr>
        </p:nvGraphicFramePr>
        <p:xfrm>
          <a:off x="9846998" y="1664954"/>
          <a:ext cx="2088000" cy="4909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"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원재료 표시사항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"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 필수 값 제외</a:t>
                      </a:r>
                      <a:b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</a:b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글자 색상변경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레드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블랙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구분에 프로모션 지정시에 프로모션 번호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 값이 지정되지 않아도 검토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 완료 가능하도록 로직 변경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비식품도 동일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알림 표시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검토자에게만 아이콘 출력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요청자에게만 아이콘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현재는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모두에게 표시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메일에 검토자의 마지막 의견이 항목별 노출되어 메일 전송메일에 검토자의 마지막 의견이 항목별 노출되어 메일 전송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메일내용 다음 페이지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3655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버튼 순서변경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사유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재검토요청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 완료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클릭시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메세지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팝업 출력하여 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정말로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완료하시겠습니까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?'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안내 팝업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PM 07/07)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46189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다운로드 팝업 출력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SFTY000040_FILEDOWN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kumimoji="1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189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사유 없으면 버튼 비활성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색상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-RED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84751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d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(2025.07.22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PM)</a:t>
                      </a: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기본정보이력보기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)(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 컬럼추가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구분과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제품분류컬럼사이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84441"/>
                  </a:ext>
                </a:extLst>
              </a:tr>
            </a:tbl>
          </a:graphicData>
        </a:graphic>
      </p:graphicFrame>
      <p:grpSp>
        <p:nvGrpSpPr>
          <p:cNvPr id="52" name="그룹 21">
            <a:extLst>
              <a:ext uri="{FF2B5EF4-FFF2-40B4-BE49-F238E27FC236}">
                <a16:creationId xmlns:a16="http://schemas.microsoft.com/office/drawing/2014/main" id="{71767BAC-2456-2CB5-534B-CD8144D70818}"/>
              </a:ext>
            </a:extLst>
          </p:cNvPr>
          <p:cNvGrpSpPr>
            <a:grpSpLocks/>
          </p:cNvGrpSpPr>
          <p:nvPr/>
        </p:nvGrpSpPr>
        <p:grpSpPr bwMode="auto">
          <a:xfrm>
            <a:off x="4812355" y="1960688"/>
            <a:ext cx="252413" cy="165100"/>
            <a:chOff x="3125393" y="1499499"/>
            <a:chExt cx="252000" cy="165260"/>
          </a:xfrm>
        </p:grpSpPr>
        <p:sp>
          <p:nvSpPr>
            <p:cNvPr id="55" name="모서리가 둥근 사각형 설명선 321">
              <a:extLst>
                <a:ext uri="{FF2B5EF4-FFF2-40B4-BE49-F238E27FC236}">
                  <a16:creationId xmlns:a16="http://schemas.microsoft.com/office/drawing/2014/main" id="{90EB3EB1-AC25-90BA-4710-623816A1805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23">
              <a:extLst>
                <a:ext uri="{FF2B5EF4-FFF2-40B4-BE49-F238E27FC236}">
                  <a16:creationId xmlns:a16="http://schemas.microsoft.com/office/drawing/2014/main" id="{331F705E-6BB1-D3FB-C666-E027B59DD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46" name="그룹 21">
            <a:extLst>
              <a:ext uri="{FF2B5EF4-FFF2-40B4-BE49-F238E27FC236}">
                <a16:creationId xmlns:a16="http://schemas.microsoft.com/office/drawing/2014/main" id="{D84840EF-B52C-4D64-5DFC-22E70EB5B44A}"/>
              </a:ext>
            </a:extLst>
          </p:cNvPr>
          <p:cNvGrpSpPr>
            <a:grpSpLocks/>
          </p:cNvGrpSpPr>
          <p:nvPr/>
        </p:nvGrpSpPr>
        <p:grpSpPr bwMode="auto">
          <a:xfrm>
            <a:off x="9471576" y="1740219"/>
            <a:ext cx="252413" cy="165100"/>
            <a:chOff x="3125393" y="1499499"/>
            <a:chExt cx="252000" cy="165260"/>
          </a:xfrm>
        </p:grpSpPr>
        <p:sp>
          <p:nvSpPr>
            <p:cNvPr id="47" name="모서리가 둥근 사각형 설명선 321">
              <a:extLst>
                <a:ext uri="{FF2B5EF4-FFF2-40B4-BE49-F238E27FC236}">
                  <a16:creationId xmlns:a16="http://schemas.microsoft.com/office/drawing/2014/main" id="{7D1E2B1E-BEB0-6BFB-1563-22426B4C2CF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23">
              <a:extLst>
                <a:ext uri="{FF2B5EF4-FFF2-40B4-BE49-F238E27FC236}">
                  <a16:creationId xmlns:a16="http://schemas.microsoft.com/office/drawing/2014/main" id="{85F9085B-AA2B-A256-072B-6F1396EB3C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E3B956E-0562-9123-8687-73E2079DE573}"/>
              </a:ext>
            </a:extLst>
          </p:cNvPr>
          <p:cNvSpPr/>
          <p:nvPr/>
        </p:nvSpPr>
        <p:spPr bwMode="auto">
          <a:xfrm>
            <a:off x="5230655" y="1969397"/>
            <a:ext cx="4490124" cy="215763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2" name="모서리가 둥근 직사각형 55">
            <a:extLst>
              <a:ext uri="{FF2B5EF4-FFF2-40B4-BE49-F238E27FC236}">
                <a16:creationId xmlns:a16="http://schemas.microsoft.com/office/drawing/2014/main" id="{4001554A-E004-E4CE-6DE0-317CE898B8AB}"/>
              </a:ext>
            </a:extLst>
          </p:cNvPr>
          <p:cNvSpPr/>
          <p:nvPr/>
        </p:nvSpPr>
        <p:spPr>
          <a:xfrm>
            <a:off x="6450051" y="1974639"/>
            <a:ext cx="759699" cy="165100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0000"/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 err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미준수</a:t>
            </a:r>
            <a:r>
              <a:rPr lang="ko-KR" altLang="en-US" sz="8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 사유</a:t>
            </a:r>
          </a:p>
        </p:txBody>
      </p:sp>
      <p:grpSp>
        <p:nvGrpSpPr>
          <p:cNvPr id="95" name="그룹 21">
            <a:extLst>
              <a:ext uri="{FF2B5EF4-FFF2-40B4-BE49-F238E27FC236}">
                <a16:creationId xmlns:a16="http://schemas.microsoft.com/office/drawing/2014/main" id="{8D82E6AB-8B55-F16D-DC10-29942C859DB5}"/>
              </a:ext>
            </a:extLst>
          </p:cNvPr>
          <p:cNvGrpSpPr>
            <a:grpSpLocks/>
          </p:cNvGrpSpPr>
          <p:nvPr/>
        </p:nvGrpSpPr>
        <p:grpSpPr bwMode="auto">
          <a:xfrm>
            <a:off x="6362121" y="1820526"/>
            <a:ext cx="252413" cy="165100"/>
            <a:chOff x="3125393" y="1499499"/>
            <a:chExt cx="252000" cy="165260"/>
          </a:xfrm>
        </p:grpSpPr>
        <p:sp>
          <p:nvSpPr>
            <p:cNvPr id="98" name="모서리가 둥근 사각형 설명선 321">
              <a:extLst>
                <a:ext uri="{FF2B5EF4-FFF2-40B4-BE49-F238E27FC236}">
                  <a16:creationId xmlns:a16="http://schemas.microsoft.com/office/drawing/2014/main" id="{D694A5EB-E3D3-FA4B-BB26-073C5B616BF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0" name="TextBox 23">
              <a:extLst>
                <a:ext uri="{FF2B5EF4-FFF2-40B4-BE49-F238E27FC236}">
                  <a16:creationId xmlns:a16="http://schemas.microsoft.com/office/drawing/2014/main" id="{5A2F1D38-3E2E-5F2D-4708-1674096527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pic>
        <p:nvPicPr>
          <p:cNvPr id="101" name="그림 100">
            <a:extLst>
              <a:ext uri="{FF2B5EF4-FFF2-40B4-BE49-F238E27FC236}">
                <a16:creationId xmlns:a16="http://schemas.microsoft.com/office/drawing/2014/main" id="{D46AA4EF-67CC-2172-4CB5-0918E4B7A2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26602"/>
          <a:stretch/>
        </p:blipFill>
        <p:spPr>
          <a:xfrm>
            <a:off x="281060" y="2849538"/>
            <a:ext cx="9439718" cy="3309318"/>
          </a:xfrm>
          <a:prstGeom prst="rect">
            <a:avLst/>
          </a:prstGeom>
        </p:spPr>
      </p:pic>
      <p:grpSp>
        <p:nvGrpSpPr>
          <p:cNvPr id="49" name="그룹 21">
            <a:extLst>
              <a:ext uri="{FF2B5EF4-FFF2-40B4-BE49-F238E27FC236}">
                <a16:creationId xmlns:a16="http://schemas.microsoft.com/office/drawing/2014/main" id="{34AF700D-20E9-5D97-1B87-CC920B4611EC}"/>
              </a:ext>
            </a:extLst>
          </p:cNvPr>
          <p:cNvGrpSpPr>
            <a:grpSpLocks/>
          </p:cNvGrpSpPr>
          <p:nvPr/>
        </p:nvGrpSpPr>
        <p:grpSpPr bwMode="auto">
          <a:xfrm>
            <a:off x="150621" y="5535833"/>
            <a:ext cx="252413" cy="165100"/>
            <a:chOff x="3125393" y="1499499"/>
            <a:chExt cx="252000" cy="165260"/>
          </a:xfrm>
        </p:grpSpPr>
        <p:sp>
          <p:nvSpPr>
            <p:cNvPr id="50" name="모서리가 둥근 사각형 설명선 321">
              <a:extLst>
                <a:ext uri="{FF2B5EF4-FFF2-40B4-BE49-F238E27FC236}">
                  <a16:creationId xmlns:a16="http://schemas.microsoft.com/office/drawing/2014/main" id="{000E9AFE-35BB-A3C5-A332-9DB3E0CE70E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23">
              <a:extLst>
                <a:ext uri="{FF2B5EF4-FFF2-40B4-BE49-F238E27FC236}">
                  <a16:creationId xmlns:a16="http://schemas.microsoft.com/office/drawing/2014/main" id="{F8BFFFE2-3B8C-B494-AE8C-33569E050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93" name="그룹 21">
            <a:extLst>
              <a:ext uri="{FF2B5EF4-FFF2-40B4-BE49-F238E27FC236}">
                <a16:creationId xmlns:a16="http://schemas.microsoft.com/office/drawing/2014/main" id="{48E38AF8-3744-3C31-4452-CE54449027D7}"/>
              </a:ext>
            </a:extLst>
          </p:cNvPr>
          <p:cNvGrpSpPr>
            <a:grpSpLocks/>
          </p:cNvGrpSpPr>
          <p:nvPr/>
        </p:nvGrpSpPr>
        <p:grpSpPr bwMode="auto">
          <a:xfrm>
            <a:off x="1300934" y="4937846"/>
            <a:ext cx="252413" cy="165100"/>
            <a:chOff x="3125393" y="1499499"/>
            <a:chExt cx="252000" cy="165260"/>
          </a:xfrm>
        </p:grpSpPr>
        <p:sp>
          <p:nvSpPr>
            <p:cNvPr id="96" name="모서리가 둥근 사각형 설명선 321">
              <a:extLst>
                <a:ext uri="{FF2B5EF4-FFF2-40B4-BE49-F238E27FC236}">
                  <a16:creationId xmlns:a16="http://schemas.microsoft.com/office/drawing/2014/main" id="{5543FF95-AB73-B6C9-4900-973202D4091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7" name="TextBox 23">
              <a:extLst>
                <a:ext uri="{FF2B5EF4-FFF2-40B4-BE49-F238E27FC236}">
                  <a16:creationId xmlns:a16="http://schemas.microsoft.com/office/drawing/2014/main" id="{96D1ED1C-61FF-0224-0017-D9C189933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59460EFA-0F16-26E9-260C-B50A18E176CE}"/>
              </a:ext>
            </a:extLst>
          </p:cNvPr>
          <p:cNvSpPr txBox="1"/>
          <p:nvPr/>
        </p:nvSpPr>
        <p:spPr>
          <a:xfrm>
            <a:off x="361759" y="5807455"/>
            <a:ext cx="939175" cy="92333"/>
          </a:xfrm>
          <a:prstGeom prst="rect">
            <a:avLst/>
          </a:prstGeom>
          <a:solidFill>
            <a:srgbClr val="E2EAD5"/>
          </a:solidFill>
        </p:spPr>
        <p:txBody>
          <a:bodyPr wrap="square" lIns="0" tIns="0" bIns="0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원재료 표시 사항</a:t>
            </a:r>
          </a:p>
        </p:txBody>
      </p:sp>
      <p:grpSp>
        <p:nvGrpSpPr>
          <p:cNvPr id="30" name="그룹 21">
            <a:extLst>
              <a:ext uri="{FF2B5EF4-FFF2-40B4-BE49-F238E27FC236}">
                <a16:creationId xmlns:a16="http://schemas.microsoft.com/office/drawing/2014/main" id="{C6551538-7935-4006-9A08-D70DC846B995}"/>
              </a:ext>
            </a:extLst>
          </p:cNvPr>
          <p:cNvGrpSpPr>
            <a:grpSpLocks/>
          </p:cNvGrpSpPr>
          <p:nvPr/>
        </p:nvGrpSpPr>
        <p:grpSpPr bwMode="auto">
          <a:xfrm>
            <a:off x="9188101" y="4538222"/>
            <a:ext cx="252413" cy="165100"/>
            <a:chOff x="3125393" y="1499499"/>
            <a:chExt cx="252000" cy="165260"/>
          </a:xfrm>
        </p:grpSpPr>
        <p:sp>
          <p:nvSpPr>
            <p:cNvPr id="32" name="모서리가 둥근 사각형 설명선 321">
              <a:extLst>
                <a:ext uri="{FF2B5EF4-FFF2-40B4-BE49-F238E27FC236}">
                  <a16:creationId xmlns:a16="http://schemas.microsoft.com/office/drawing/2014/main" id="{004C4579-34E8-E92D-3956-481610F851B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TextBox 23">
              <a:extLst>
                <a:ext uri="{FF2B5EF4-FFF2-40B4-BE49-F238E27FC236}">
                  <a16:creationId xmlns:a16="http://schemas.microsoft.com/office/drawing/2014/main" id="{59D6153B-CC0D-2A7B-03F7-548AE6D20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sp>
        <p:nvSpPr>
          <p:cNvPr id="74" name="모서리가 둥근 직사각형 55">
            <a:extLst>
              <a:ext uri="{FF2B5EF4-FFF2-40B4-BE49-F238E27FC236}">
                <a16:creationId xmlns:a16="http://schemas.microsoft.com/office/drawing/2014/main" id="{E8A1D0A6-4A6C-6792-1727-FFCEF32554A3}"/>
              </a:ext>
            </a:extLst>
          </p:cNvPr>
          <p:cNvSpPr/>
          <p:nvPr/>
        </p:nvSpPr>
        <p:spPr>
          <a:xfrm>
            <a:off x="8288585" y="4795257"/>
            <a:ext cx="859022" cy="122991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일괄다운로드</a:t>
            </a:r>
          </a:p>
        </p:txBody>
      </p:sp>
      <p:grpSp>
        <p:nvGrpSpPr>
          <p:cNvPr id="75" name="그룹 21">
            <a:extLst>
              <a:ext uri="{FF2B5EF4-FFF2-40B4-BE49-F238E27FC236}">
                <a16:creationId xmlns:a16="http://schemas.microsoft.com/office/drawing/2014/main" id="{2535F136-0C4C-8548-A7B1-BCB923732547}"/>
              </a:ext>
            </a:extLst>
          </p:cNvPr>
          <p:cNvGrpSpPr>
            <a:grpSpLocks/>
          </p:cNvGrpSpPr>
          <p:nvPr/>
        </p:nvGrpSpPr>
        <p:grpSpPr bwMode="auto">
          <a:xfrm>
            <a:off x="8077446" y="4596132"/>
            <a:ext cx="252413" cy="165100"/>
            <a:chOff x="3125393" y="1499499"/>
            <a:chExt cx="252000" cy="165260"/>
          </a:xfrm>
        </p:grpSpPr>
        <p:sp>
          <p:nvSpPr>
            <p:cNvPr id="78" name="모서리가 둥근 사각형 설명선 321">
              <a:extLst>
                <a:ext uri="{FF2B5EF4-FFF2-40B4-BE49-F238E27FC236}">
                  <a16:creationId xmlns:a16="http://schemas.microsoft.com/office/drawing/2014/main" id="{851382B5-282B-DFFA-B5DC-C5DB55D1348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9" name="TextBox 23">
              <a:extLst>
                <a:ext uri="{FF2B5EF4-FFF2-40B4-BE49-F238E27FC236}">
                  <a16:creationId xmlns:a16="http://schemas.microsoft.com/office/drawing/2014/main" id="{20001167-3468-E214-93B5-2105CF3469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75EAE2-86D7-DF98-9021-EA64BF342CE1}"/>
              </a:ext>
            </a:extLst>
          </p:cNvPr>
          <p:cNvSpPr/>
          <p:nvPr/>
        </p:nvSpPr>
        <p:spPr bwMode="auto">
          <a:xfrm>
            <a:off x="2688275" y="2721987"/>
            <a:ext cx="1074014" cy="151975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*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소비기한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선택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46A8D0B-A200-5BE3-B461-48FF71F158F0}"/>
              </a:ext>
            </a:extLst>
          </p:cNvPr>
          <p:cNvSpPr/>
          <p:nvPr/>
        </p:nvSpPr>
        <p:spPr bwMode="auto">
          <a:xfrm>
            <a:off x="5007942" y="2721382"/>
            <a:ext cx="1074013" cy="132381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*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소비기한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일수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5C9FE2AF-C558-3C0E-0CB2-A4E9C820D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474" y="2733123"/>
            <a:ext cx="1197469" cy="12064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직접입력</a:t>
            </a:r>
            <a:r>
              <a:rPr kumimoji="1"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b="1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확정전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122" name="Picture 103">
            <a:extLst>
              <a:ext uri="{FF2B5EF4-FFF2-40B4-BE49-F238E27FC236}">
                <a16:creationId xmlns:a16="http://schemas.microsoft.com/office/drawing/2014/main" id="{0E215ECE-F136-B682-1450-4846DEB9B4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 t="15633" r="9297"/>
          <a:stretch>
            <a:fillRect/>
          </a:stretch>
        </p:blipFill>
        <p:spPr bwMode="auto">
          <a:xfrm>
            <a:off x="4916454" y="2768532"/>
            <a:ext cx="119911" cy="70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124" name="그림 123">
            <a:extLst>
              <a:ext uri="{FF2B5EF4-FFF2-40B4-BE49-F238E27FC236}">
                <a16:creationId xmlns:a16="http://schemas.microsoft.com/office/drawing/2014/main" id="{4A89302B-241A-6E68-4D6A-E12DC18FD15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37856" y="2706958"/>
            <a:ext cx="1422014" cy="146805"/>
          </a:xfrm>
          <a:prstGeom prst="rect">
            <a:avLst/>
          </a:prstGeom>
        </p:spPr>
      </p:pic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273FBD3F-6B12-1B2F-F4C3-BB5DA9A2F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9240" y="2722937"/>
            <a:ext cx="1265476" cy="144452"/>
          </a:xfrm>
          <a:prstGeom prst="rect">
            <a:avLst/>
          </a:prstGeom>
          <a:solidFill>
            <a:srgbClr val="F7F7F7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Y/N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64B78FD-0438-04EC-6FDC-1DE548FCC74E}"/>
              </a:ext>
            </a:extLst>
          </p:cNvPr>
          <p:cNvSpPr txBox="1"/>
          <p:nvPr/>
        </p:nvSpPr>
        <p:spPr>
          <a:xfrm>
            <a:off x="6656957" y="2703550"/>
            <a:ext cx="34496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90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</a:t>
            </a:r>
          </a:p>
        </p:txBody>
      </p:sp>
      <p:grpSp>
        <p:nvGrpSpPr>
          <p:cNvPr id="137" name="그룹 21">
            <a:extLst>
              <a:ext uri="{FF2B5EF4-FFF2-40B4-BE49-F238E27FC236}">
                <a16:creationId xmlns:a16="http://schemas.microsoft.com/office/drawing/2014/main" id="{E0B05FBA-94D4-B1FA-B613-0E375E081E0C}"/>
              </a:ext>
            </a:extLst>
          </p:cNvPr>
          <p:cNvGrpSpPr>
            <a:grpSpLocks/>
          </p:cNvGrpSpPr>
          <p:nvPr/>
        </p:nvGrpSpPr>
        <p:grpSpPr bwMode="auto">
          <a:xfrm>
            <a:off x="2637449" y="2566282"/>
            <a:ext cx="252413" cy="165100"/>
            <a:chOff x="3125393" y="1499499"/>
            <a:chExt cx="252000" cy="165260"/>
          </a:xfrm>
        </p:grpSpPr>
        <p:sp>
          <p:nvSpPr>
            <p:cNvPr id="138" name="모서리가 둥근 사각형 설명선 321">
              <a:extLst>
                <a:ext uri="{FF2B5EF4-FFF2-40B4-BE49-F238E27FC236}">
                  <a16:creationId xmlns:a16="http://schemas.microsoft.com/office/drawing/2014/main" id="{83712468-A96F-0879-E6F0-C0F66915907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" name="TextBox 23">
              <a:extLst>
                <a:ext uri="{FF2B5EF4-FFF2-40B4-BE49-F238E27FC236}">
                  <a16:creationId xmlns:a16="http://schemas.microsoft.com/office/drawing/2014/main" id="{4AE1984C-CF8E-D0CD-9680-A196055466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grpSp>
        <p:nvGrpSpPr>
          <p:cNvPr id="140" name="그룹 21">
            <a:extLst>
              <a:ext uri="{FF2B5EF4-FFF2-40B4-BE49-F238E27FC236}">
                <a16:creationId xmlns:a16="http://schemas.microsoft.com/office/drawing/2014/main" id="{5C7C8F6C-2B27-A433-7CDC-E4C153A245F7}"/>
              </a:ext>
            </a:extLst>
          </p:cNvPr>
          <p:cNvGrpSpPr>
            <a:grpSpLocks/>
          </p:cNvGrpSpPr>
          <p:nvPr/>
        </p:nvGrpSpPr>
        <p:grpSpPr bwMode="auto">
          <a:xfrm>
            <a:off x="4978241" y="2556887"/>
            <a:ext cx="252413" cy="165100"/>
            <a:chOff x="3125393" y="1499499"/>
            <a:chExt cx="252000" cy="165260"/>
          </a:xfrm>
        </p:grpSpPr>
        <p:sp>
          <p:nvSpPr>
            <p:cNvPr id="141" name="모서리가 둥근 사각형 설명선 321">
              <a:extLst>
                <a:ext uri="{FF2B5EF4-FFF2-40B4-BE49-F238E27FC236}">
                  <a16:creationId xmlns:a16="http://schemas.microsoft.com/office/drawing/2014/main" id="{BEC2F272-58EE-7C77-E00E-3DB2DE39F3D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" name="TextBox 23">
              <a:extLst>
                <a:ext uri="{FF2B5EF4-FFF2-40B4-BE49-F238E27FC236}">
                  <a16:creationId xmlns:a16="http://schemas.microsoft.com/office/drawing/2014/main" id="{17D43157-05B5-E4D5-1736-843AE567B5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3DAF1793-A593-4AC6-44FD-51E071819977}"/>
              </a:ext>
            </a:extLst>
          </p:cNvPr>
          <p:cNvSpPr/>
          <p:nvPr/>
        </p:nvSpPr>
        <p:spPr bwMode="auto">
          <a:xfrm>
            <a:off x="371380" y="2721382"/>
            <a:ext cx="866584" cy="178063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600" b="0" i="0" u="none" strike="noStrike" cap="none" normalizeH="0" baseline="0" dirty="0">
                <a:ln>
                  <a:noFill/>
                </a:ln>
                <a:effectLst/>
                <a:latin typeface="맑은 고딕" pitchFamily="50" charset="-127"/>
                <a:ea typeface="맑은 고딕" pitchFamily="50" charset="-127"/>
              </a:rPr>
              <a:t>소비기한 대상</a:t>
            </a:r>
            <a:r>
              <a:rPr lang="ko-KR" altLang="en-US" sz="600" dirty="0">
                <a:latin typeface="맑은 고딕" pitchFamily="50" charset="-127"/>
                <a:ea typeface="맑은 고딕" pitchFamily="50" charset="-127"/>
              </a:rPr>
              <a:t> 여부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30" name="그룹 21">
            <a:extLst>
              <a:ext uri="{FF2B5EF4-FFF2-40B4-BE49-F238E27FC236}">
                <a16:creationId xmlns:a16="http://schemas.microsoft.com/office/drawing/2014/main" id="{7DE89099-0371-8F09-FE62-7D60EF97B4D5}"/>
              </a:ext>
            </a:extLst>
          </p:cNvPr>
          <p:cNvGrpSpPr>
            <a:grpSpLocks/>
          </p:cNvGrpSpPr>
          <p:nvPr/>
        </p:nvGrpSpPr>
        <p:grpSpPr bwMode="auto">
          <a:xfrm>
            <a:off x="157654" y="2596034"/>
            <a:ext cx="252413" cy="165100"/>
            <a:chOff x="3125393" y="1499499"/>
            <a:chExt cx="252000" cy="165260"/>
          </a:xfrm>
        </p:grpSpPr>
        <p:sp>
          <p:nvSpPr>
            <p:cNvPr id="131" name="모서리가 둥근 사각형 설명선 321">
              <a:extLst>
                <a:ext uri="{FF2B5EF4-FFF2-40B4-BE49-F238E27FC236}">
                  <a16:creationId xmlns:a16="http://schemas.microsoft.com/office/drawing/2014/main" id="{7430326C-729D-D823-2C2D-CC10DF43EAA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" name="TextBox 23">
              <a:extLst>
                <a:ext uri="{FF2B5EF4-FFF2-40B4-BE49-F238E27FC236}">
                  <a16:creationId xmlns:a16="http://schemas.microsoft.com/office/drawing/2014/main" id="{2023034F-40CE-E26D-B8D2-55558D1F1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aphicFrame>
        <p:nvGraphicFramePr>
          <p:cNvPr id="156" name="표 155">
            <a:extLst>
              <a:ext uri="{FF2B5EF4-FFF2-40B4-BE49-F238E27FC236}">
                <a16:creationId xmlns:a16="http://schemas.microsoft.com/office/drawing/2014/main" id="{60AD8D8C-0305-33AB-C6F4-32F1C03BD7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7633161"/>
              </p:ext>
            </p:extLst>
          </p:nvPr>
        </p:nvGraphicFramePr>
        <p:xfrm>
          <a:off x="11934270" y="1664954"/>
          <a:ext cx="2313879" cy="5033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9156">
                  <a:extLst>
                    <a:ext uri="{9D8B030D-6E8A-4147-A177-3AD203B41FA5}">
                      <a16:colId xmlns:a16="http://schemas.microsoft.com/office/drawing/2014/main" val="2401625555"/>
                    </a:ext>
                  </a:extLst>
                </a:gridCol>
                <a:gridCol w="1994723">
                  <a:extLst>
                    <a:ext uri="{9D8B030D-6E8A-4147-A177-3AD203B41FA5}">
                      <a16:colId xmlns:a16="http://schemas.microsoft.com/office/drawing/2014/main" val="34379126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대상여부 관리테이블에서 체크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변경되었다면 알림 팝업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대상여부가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 때는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정보확인 팝업 출력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직접입력 선택이면 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필수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확정전선택이면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체크하여  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알림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 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보충설명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 </a:t>
                      </a:r>
                    </a:p>
                    <a:p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 대상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값이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이며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날짜를 확정하지 못하여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 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 상태일 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선택 가능함</a:t>
                      </a:r>
                      <a:b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하지만 최종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하기위해서는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값에 정수 값만 입력되어야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한다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PM 07/07)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검토완료시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인터페이스에러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네크워크에러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응답값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또는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E)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발생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 -&gt;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검토완료는 진행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전송 에러발생 체크하여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수동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재전송 버튼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출력하여 재전송 하도록 함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37466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여뷰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등록 값 출력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642545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등록 값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064456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일수출력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등록 값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71768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품목제조보고번호 필드추가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(2025.06.25)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VC16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자리로 요청자가 입력한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값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742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알림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491625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정보확인 팝업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0639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전송 에러 발생시 해당 컬럼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확인하여 출력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Y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이면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MDM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안전성검토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SKU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소비기한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I/F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 호출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성공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성공 팝업 후 에러 체크 컬럼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로변경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실패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실패 팝업 출력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7748207"/>
                  </a:ext>
                </a:extLst>
              </a:tr>
            </a:tbl>
          </a:graphicData>
        </a:graphic>
      </p:graphicFrame>
      <p:grpSp>
        <p:nvGrpSpPr>
          <p:cNvPr id="157" name="그룹 21">
            <a:extLst>
              <a:ext uri="{FF2B5EF4-FFF2-40B4-BE49-F238E27FC236}">
                <a16:creationId xmlns:a16="http://schemas.microsoft.com/office/drawing/2014/main" id="{DA3EED68-6F23-4F43-89F1-D76008434DB8}"/>
              </a:ext>
            </a:extLst>
          </p:cNvPr>
          <p:cNvGrpSpPr>
            <a:grpSpLocks/>
          </p:cNvGrpSpPr>
          <p:nvPr/>
        </p:nvGrpSpPr>
        <p:grpSpPr bwMode="auto">
          <a:xfrm>
            <a:off x="8339057" y="1795588"/>
            <a:ext cx="252413" cy="165100"/>
            <a:chOff x="3125393" y="1499499"/>
            <a:chExt cx="252000" cy="165260"/>
          </a:xfrm>
        </p:grpSpPr>
        <p:sp>
          <p:nvSpPr>
            <p:cNvPr id="159" name="모서리가 둥근 사각형 설명선 321">
              <a:extLst>
                <a:ext uri="{FF2B5EF4-FFF2-40B4-BE49-F238E27FC236}">
                  <a16:creationId xmlns:a16="http://schemas.microsoft.com/office/drawing/2014/main" id="{9D9E6569-A13D-674C-024E-A9EEC880553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0" name="TextBox 23">
              <a:extLst>
                <a:ext uri="{FF2B5EF4-FFF2-40B4-BE49-F238E27FC236}">
                  <a16:creationId xmlns:a16="http://schemas.microsoft.com/office/drawing/2014/main" id="{17FB8B83-1192-BC28-E711-29F86DD329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06B606B3-F34D-2A9C-C7A2-38C6760AC67F}"/>
              </a:ext>
            </a:extLst>
          </p:cNvPr>
          <p:cNvGrpSpPr/>
          <p:nvPr/>
        </p:nvGrpSpPr>
        <p:grpSpPr>
          <a:xfrm>
            <a:off x="2031978" y="6072428"/>
            <a:ext cx="2782064" cy="623999"/>
            <a:chOff x="7285763" y="4593275"/>
            <a:chExt cx="2782064" cy="1072394"/>
          </a:xfrm>
        </p:grpSpPr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8A6802FF-8A6D-6594-DCB9-50F56399B268}"/>
                </a:ext>
              </a:extLst>
            </p:cNvPr>
            <p:cNvSpPr/>
            <p:nvPr/>
          </p:nvSpPr>
          <p:spPr>
            <a:xfrm>
              <a:off x="7285763" y="4593275"/>
              <a:ext cx="2782064" cy="1072394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en-US" altLang="ko-KR" sz="105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endParaRPr>
            </a:p>
            <a:p>
              <a:pPr algn="ctr"/>
              <a:r>
                <a:rPr kumimoji="1" lang="en-US" altLang="ko-KR" sz="1050" b="0" i="0" u="none" strike="noStrike" kern="1200" cap="none" spc="0" normalizeH="0" baseline="0" noProof="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effectLst/>
                  <a:uLnTx/>
                  <a:uFillTx/>
                  <a:latin typeface="에브리데이고딕 R" panose="02020603020101020101" pitchFamily="18" charset="-127"/>
                  <a:ea typeface="에브리데이고딕 R" panose="02020603020101020101" pitchFamily="18" charset="-127"/>
                  <a:cs typeface="+mn-cs"/>
                </a:rPr>
                <a:t>‘</a:t>
              </a:r>
              <a:r>
                <a:rPr kumimoji="1" lang="ko-KR" altLang="en-US" sz="1050" b="0" i="0" u="none" strike="noStrike" kern="1200" cap="none" spc="0" normalizeH="0" baseline="0" noProof="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effectLst/>
                  <a:uLnTx/>
                  <a:uFillTx/>
                  <a:latin typeface="에브리데이고딕 R" panose="02020603020101020101" pitchFamily="18" charset="-127"/>
                  <a:ea typeface="에브리데이고딕 R" panose="02020603020101020101" pitchFamily="18" charset="-127"/>
                  <a:cs typeface="+mn-cs"/>
                </a:rPr>
                <a:t>소비기한</a:t>
              </a:r>
              <a:r>
                <a:rPr kumimoji="1" lang="en-US" altLang="ko-KR" sz="1050" b="0" i="0" u="none" strike="noStrike" kern="1200" cap="none" spc="0" normalizeH="0" baseline="0" noProof="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effectLst/>
                  <a:uLnTx/>
                  <a:uFillTx/>
                  <a:latin typeface="에브리데이고딕 R" panose="02020603020101020101" pitchFamily="18" charset="-127"/>
                  <a:ea typeface="에브리데이고딕 R" panose="02020603020101020101" pitchFamily="18" charset="-127"/>
                  <a:cs typeface="+mn-cs"/>
                </a:rPr>
                <a:t>’ </a:t>
              </a:r>
              <a:r>
                <a:rPr kumimoji="1" lang="ko-KR" altLang="en-US" sz="1050" b="0" i="0" u="none" strike="noStrike" kern="1200" cap="none" spc="0" normalizeH="0" baseline="0" noProof="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effectLst/>
                  <a:uLnTx/>
                  <a:uFillTx/>
                  <a:latin typeface="에브리데이고딕 R" panose="02020603020101020101" pitchFamily="18" charset="-127"/>
                  <a:ea typeface="에브리데이고딕 R" panose="02020603020101020101" pitchFamily="18" charset="-127"/>
                  <a:cs typeface="+mn-cs"/>
                </a:rPr>
                <a:t>정보를</a:t>
              </a:r>
              <a:r>
                <a:rPr kumimoji="1" lang="en-US" altLang="ko-KR" sz="105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 </a:t>
              </a:r>
              <a:r>
                <a:rPr kumimoji="1" lang="ko-KR" altLang="en-US" sz="1050" b="0" i="0" u="none" strike="noStrike" kern="1200" cap="none" spc="0" normalizeH="0" baseline="0" noProof="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effectLst/>
                  <a:uLnTx/>
                  <a:uFillTx/>
                  <a:latin typeface="에브리데이고딕 R" panose="02020603020101020101" pitchFamily="18" charset="-127"/>
                  <a:ea typeface="에브리데이고딕 R" panose="02020603020101020101" pitchFamily="18" charset="-127"/>
                  <a:cs typeface="+mn-cs"/>
                </a:rPr>
                <a:t>확인하셨습니까</a:t>
              </a:r>
              <a:r>
                <a:rPr kumimoji="1" lang="en-US" altLang="ko-KR" sz="1050" b="0" i="0" u="none" strike="noStrike" kern="1200" cap="none" spc="0" normalizeH="0" baseline="0" noProof="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0000CC"/>
                  </a:solidFill>
                  <a:effectLst/>
                  <a:uLnTx/>
                  <a:uFillTx/>
                  <a:latin typeface="에브리데이고딕 R" panose="02020603020101020101" pitchFamily="18" charset="-127"/>
                  <a:ea typeface="에브리데이고딕 R" panose="02020603020101020101" pitchFamily="18" charset="-127"/>
                  <a:cs typeface="+mn-cs"/>
                </a:rPr>
                <a:t>??</a:t>
              </a:r>
              <a:endParaRPr kumimoji="1" lang="en-US" altLang="ko-KR" sz="105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endParaRPr>
            </a:p>
            <a:p>
              <a:pPr algn="ctr"/>
              <a:endParaRPr kumimoji="1" lang="en-US" altLang="ko-KR" sz="11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endParaRPr>
            </a:p>
            <a:p>
              <a:pPr algn="ctr"/>
              <a:endParaRPr kumimoji="1" lang="ko-KR" altLang="en-US" sz="11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2D53E290-77E8-5134-9DC1-52E304FAE471}"/>
                </a:ext>
              </a:extLst>
            </p:cNvPr>
            <p:cNvSpPr/>
            <p:nvPr/>
          </p:nvSpPr>
          <p:spPr>
            <a:xfrm>
              <a:off x="7650401" y="5300711"/>
              <a:ext cx="942152" cy="314598"/>
            </a:xfrm>
            <a:prstGeom prst="rect">
              <a:avLst/>
            </a:prstGeom>
            <a:solidFill>
              <a:schemeClr val="bg2">
                <a:lumMod val="2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예 </a:t>
              </a:r>
              <a:r>
                <a:rPr kumimoji="1" lang="en-US" altLang="ko-KR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(</a:t>
              </a:r>
              <a:r>
                <a:rPr kumimoji="1" lang="ko-KR" altLang="en-US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검토 완료</a:t>
              </a:r>
              <a:r>
                <a:rPr kumimoji="1" lang="en-US" altLang="ko-KR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)</a:t>
              </a:r>
              <a:endParaRPr kumimoji="1" lang="ko-KR" altLang="en-US" sz="900" b="1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chemeClr val="bg1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endParaRPr>
            </a:p>
          </p:txBody>
        </p: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FB327443-8C84-DD5C-ACBE-69CDADD5AE9A}"/>
                </a:ext>
              </a:extLst>
            </p:cNvPr>
            <p:cNvSpPr/>
            <p:nvPr/>
          </p:nvSpPr>
          <p:spPr>
            <a:xfrm>
              <a:off x="8720274" y="5300711"/>
              <a:ext cx="942152" cy="31459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900" b="1" dirty="0" err="1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아니오</a:t>
              </a:r>
              <a:r>
                <a:rPr kumimoji="1" lang="ko-KR" altLang="en-US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 </a:t>
              </a:r>
              <a:r>
                <a:rPr kumimoji="1" lang="en-US" altLang="ko-KR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(</a:t>
              </a:r>
              <a:r>
                <a:rPr kumimoji="1" lang="ko-KR" altLang="en-US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취소</a:t>
              </a:r>
              <a:r>
                <a:rPr kumimoji="1" lang="en-US" altLang="ko-KR" sz="900" b="1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chemeClr val="bg1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)</a:t>
              </a:r>
              <a:endParaRPr kumimoji="1" lang="ko-KR" altLang="en-US" sz="900" b="1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chemeClr val="bg1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020FF184-3A6B-5EE8-741B-D483B40B13A0}"/>
              </a:ext>
            </a:extLst>
          </p:cNvPr>
          <p:cNvGrpSpPr/>
          <p:nvPr/>
        </p:nvGrpSpPr>
        <p:grpSpPr>
          <a:xfrm>
            <a:off x="5823796" y="6018125"/>
            <a:ext cx="2894300" cy="732883"/>
            <a:chOff x="7235406" y="5315769"/>
            <a:chExt cx="2894300" cy="732883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B1730B7E-96FE-C23F-6B3F-C3993A2A20BA}"/>
                </a:ext>
              </a:extLst>
            </p:cNvPr>
            <p:cNvGrpSpPr/>
            <p:nvPr/>
          </p:nvGrpSpPr>
          <p:grpSpPr>
            <a:xfrm>
              <a:off x="7235406" y="5315769"/>
              <a:ext cx="2894300" cy="732883"/>
              <a:chOff x="5113602" y="4601159"/>
              <a:chExt cx="2894300" cy="618624"/>
            </a:xfrm>
          </p:grpSpPr>
          <p:pic>
            <p:nvPicPr>
              <p:cNvPr id="168" name="그림 167">
                <a:extLst>
                  <a:ext uri="{FF2B5EF4-FFF2-40B4-BE49-F238E27FC236}">
                    <a16:creationId xmlns:a16="http://schemas.microsoft.com/office/drawing/2014/main" id="{56A71263-B9A9-B9FB-3C42-65F5A6992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113602" y="4601159"/>
                <a:ext cx="2894300" cy="618624"/>
              </a:xfrm>
              <a:prstGeom prst="rect">
                <a:avLst/>
              </a:prstGeom>
              <a:ln>
                <a:solidFill>
                  <a:srgbClr val="56A123"/>
                </a:solidFill>
              </a:ln>
            </p:spPr>
          </p:pic>
          <p:pic>
            <p:nvPicPr>
              <p:cNvPr id="169" name="그림 168">
                <a:extLst>
                  <a:ext uri="{FF2B5EF4-FFF2-40B4-BE49-F238E27FC236}">
                    <a16:creationId xmlns:a16="http://schemas.microsoft.com/office/drawing/2014/main" id="{4355DF49-5DE2-DC85-C99C-528EF25BD3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294705" y="5047966"/>
                <a:ext cx="514351" cy="165100"/>
              </a:xfrm>
              <a:prstGeom prst="rect">
                <a:avLst/>
              </a:prstGeom>
            </p:spPr>
          </p:pic>
        </p:grp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B5366D41-9821-8EE0-F515-C9C86673B5F5}"/>
                </a:ext>
              </a:extLst>
            </p:cNvPr>
            <p:cNvSpPr txBox="1"/>
            <p:nvPr/>
          </p:nvSpPr>
          <p:spPr bwMode="auto">
            <a:xfrm>
              <a:off x="7835854" y="5559711"/>
              <a:ext cx="2175596" cy="216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 anchor="t">
              <a:spAutoFit/>
            </a:bodyPr>
            <a:lstStyle/>
            <a:p>
              <a:pPr marL="0" indent="0" algn="l" defTabSz="371464" fontAlgn="base">
                <a:lnSpc>
                  <a:spcPct val="130000"/>
                </a:lnSpc>
                <a:spcAft>
                  <a:spcPct val="0"/>
                </a:spcAft>
                <a:buClr>
                  <a:srgbClr val="000000">
                    <a:lumMod val="75000"/>
                    <a:lumOff val="25000"/>
                  </a:srgbClr>
                </a:buClr>
                <a:buNone/>
              </a:pP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소비기한이 </a:t>
              </a:r>
              <a:r>
                <a:rPr kumimoji="1" lang="en-US" altLang="ko-KR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‘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확정 전</a:t>
              </a:r>
              <a:r>
                <a:rPr kumimoji="1" lang="en-US" altLang="ko-KR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’</a:t>
              </a:r>
              <a:r>
                <a:rPr kumimoji="1" lang="ko-KR" altLang="en-US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 으로 입력되어 있습니다</a:t>
              </a:r>
              <a:r>
                <a:rPr kumimoji="1" lang="en-US" altLang="ko-KR" sz="700" dirty="0">
                  <a:ln>
                    <a:solidFill>
                      <a:srgbClr val="000000">
                        <a:alpha val="20000"/>
                      </a:srgbClr>
                    </a:solidFill>
                  </a:ln>
                  <a:solidFill>
                    <a:srgbClr val="404040"/>
                  </a:solidFill>
                  <a:latin typeface="에브리데이고딕 R" panose="02020603020101020101" pitchFamily="18" charset="-127"/>
                  <a:ea typeface="에브리데이고딕 R" panose="02020603020101020101" pitchFamily="18" charset="-127"/>
                </a:rPr>
                <a:t>.</a:t>
              </a:r>
              <a:endPara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endParaRPr>
            </a:p>
          </p:txBody>
        </p:sp>
      </p:grpSp>
      <p:grpSp>
        <p:nvGrpSpPr>
          <p:cNvPr id="170" name="그룹 21">
            <a:extLst>
              <a:ext uri="{FF2B5EF4-FFF2-40B4-BE49-F238E27FC236}">
                <a16:creationId xmlns:a16="http://schemas.microsoft.com/office/drawing/2014/main" id="{8729BF88-65DB-E1E9-458B-7BC7C457D7E2}"/>
              </a:ext>
            </a:extLst>
          </p:cNvPr>
          <p:cNvGrpSpPr>
            <a:grpSpLocks/>
          </p:cNvGrpSpPr>
          <p:nvPr/>
        </p:nvGrpSpPr>
        <p:grpSpPr bwMode="auto">
          <a:xfrm>
            <a:off x="5785443" y="5838934"/>
            <a:ext cx="252413" cy="165100"/>
            <a:chOff x="3125393" y="1499499"/>
            <a:chExt cx="252000" cy="165260"/>
          </a:xfrm>
        </p:grpSpPr>
        <p:sp>
          <p:nvSpPr>
            <p:cNvPr id="171" name="모서리가 둥근 사각형 설명선 321">
              <a:extLst>
                <a:ext uri="{FF2B5EF4-FFF2-40B4-BE49-F238E27FC236}">
                  <a16:creationId xmlns:a16="http://schemas.microsoft.com/office/drawing/2014/main" id="{D2C3B1B1-F7B5-ABCF-079F-4F7C8436D78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2" name="TextBox 23">
              <a:extLst>
                <a:ext uri="{FF2B5EF4-FFF2-40B4-BE49-F238E27FC236}">
                  <a16:creationId xmlns:a16="http://schemas.microsoft.com/office/drawing/2014/main" id="{EFB17E4A-3177-7853-7256-60C9E7EB7E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grpSp>
        <p:nvGrpSpPr>
          <p:cNvPr id="173" name="그룹 21">
            <a:extLst>
              <a:ext uri="{FF2B5EF4-FFF2-40B4-BE49-F238E27FC236}">
                <a16:creationId xmlns:a16="http://schemas.microsoft.com/office/drawing/2014/main" id="{6FE7BB13-B112-225E-733D-60970C03C100}"/>
              </a:ext>
            </a:extLst>
          </p:cNvPr>
          <p:cNvGrpSpPr>
            <a:grpSpLocks/>
          </p:cNvGrpSpPr>
          <p:nvPr/>
        </p:nvGrpSpPr>
        <p:grpSpPr bwMode="auto">
          <a:xfrm>
            <a:off x="1935039" y="5878878"/>
            <a:ext cx="252413" cy="165100"/>
            <a:chOff x="3125393" y="1499499"/>
            <a:chExt cx="252000" cy="165260"/>
          </a:xfrm>
        </p:grpSpPr>
        <p:sp>
          <p:nvSpPr>
            <p:cNvPr id="174" name="모서리가 둥근 사각형 설명선 321">
              <a:extLst>
                <a:ext uri="{FF2B5EF4-FFF2-40B4-BE49-F238E27FC236}">
                  <a16:creationId xmlns:a16="http://schemas.microsoft.com/office/drawing/2014/main" id="{AF98DDED-5B7B-1B96-75E8-9D1C4545BD2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5" name="TextBox 23">
              <a:extLst>
                <a:ext uri="{FF2B5EF4-FFF2-40B4-BE49-F238E27FC236}">
                  <a16:creationId xmlns:a16="http://schemas.microsoft.com/office/drawing/2014/main" id="{13FD8B37-1404-9964-2896-48E315940E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b</a:t>
              </a:r>
            </a:p>
          </p:txBody>
        </p:sp>
      </p:grp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F4BE3A73-27FF-1C1F-C6B4-DDB6E62939F1}"/>
              </a:ext>
            </a:extLst>
          </p:cNvPr>
          <p:cNvSpPr/>
          <p:nvPr/>
        </p:nvSpPr>
        <p:spPr bwMode="auto">
          <a:xfrm>
            <a:off x="347416" y="4670236"/>
            <a:ext cx="1051824" cy="130628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600" b="0" i="0" u="none" strike="noStrike" cap="none" normalizeH="0" baseline="0" dirty="0">
                <a:ln>
                  <a:noFill/>
                </a:ln>
                <a:effectLst/>
                <a:latin typeface="맑은 고딕" pitchFamily="50" charset="-127"/>
                <a:ea typeface="맑은 고딕" pitchFamily="50" charset="-127"/>
              </a:rPr>
              <a:t> 품목제조보고번호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053A216E-0DD0-FF2F-CEBC-7075BE264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7895" y="4658875"/>
            <a:ext cx="1236821" cy="141989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1234567890123456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178" name="그룹 21">
            <a:extLst>
              <a:ext uri="{FF2B5EF4-FFF2-40B4-BE49-F238E27FC236}">
                <a16:creationId xmlns:a16="http://schemas.microsoft.com/office/drawing/2014/main" id="{75D6D47D-A69A-4570-28E9-71102C359150}"/>
              </a:ext>
            </a:extLst>
          </p:cNvPr>
          <p:cNvGrpSpPr>
            <a:grpSpLocks/>
          </p:cNvGrpSpPr>
          <p:nvPr/>
        </p:nvGrpSpPr>
        <p:grpSpPr bwMode="auto">
          <a:xfrm>
            <a:off x="130795" y="4585089"/>
            <a:ext cx="252413" cy="165100"/>
            <a:chOff x="3125393" y="1499499"/>
            <a:chExt cx="252000" cy="165260"/>
          </a:xfrm>
        </p:grpSpPr>
        <p:sp>
          <p:nvSpPr>
            <p:cNvPr id="179" name="모서리가 둥근 사각형 설명선 321">
              <a:extLst>
                <a:ext uri="{FF2B5EF4-FFF2-40B4-BE49-F238E27FC236}">
                  <a16:creationId xmlns:a16="http://schemas.microsoft.com/office/drawing/2014/main" id="{6085903F-72BA-1049-50D4-036F28B7560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0" name="TextBox 23">
              <a:extLst>
                <a:ext uri="{FF2B5EF4-FFF2-40B4-BE49-F238E27FC236}">
                  <a16:creationId xmlns:a16="http://schemas.microsoft.com/office/drawing/2014/main" id="{AD74CA86-900B-F7BC-753E-90306B111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12</a:t>
              </a:r>
            </a:p>
          </p:txBody>
        </p:sp>
      </p:grpSp>
      <p:sp>
        <p:nvSpPr>
          <p:cNvPr id="181" name="모서리가 둥근 직사각형 55">
            <a:extLst>
              <a:ext uri="{FF2B5EF4-FFF2-40B4-BE49-F238E27FC236}">
                <a16:creationId xmlns:a16="http://schemas.microsoft.com/office/drawing/2014/main" id="{741E426F-3829-52E8-AA8C-906B66DEF841}"/>
              </a:ext>
            </a:extLst>
          </p:cNvPr>
          <p:cNvSpPr/>
          <p:nvPr/>
        </p:nvSpPr>
        <p:spPr>
          <a:xfrm>
            <a:off x="5327761" y="1983131"/>
            <a:ext cx="1074013" cy="165100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0000"/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소비기한</a:t>
            </a:r>
            <a:r>
              <a:rPr lang="en-US" altLang="ko-KR" sz="8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8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재전송</a:t>
            </a:r>
          </a:p>
        </p:txBody>
      </p:sp>
      <p:grpSp>
        <p:nvGrpSpPr>
          <p:cNvPr id="182" name="그룹 21">
            <a:extLst>
              <a:ext uri="{FF2B5EF4-FFF2-40B4-BE49-F238E27FC236}">
                <a16:creationId xmlns:a16="http://schemas.microsoft.com/office/drawing/2014/main" id="{0D0F0848-34F3-6FF3-2BD1-5FB9FF5551AA}"/>
              </a:ext>
            </a:extLst>
          </p:cNvPr>
          <p:cNvGrpSpPr>
            <a:grpSpLocks/>
          </p:cNvGrpSpPr>
          <p:nvPr/>
        </p:nvGrpSpPr>
        <p:grpSpPr bwMode="auto">
          <a:xfrm>
            <a:off x="5247446" y="1795588"/>
            <a:ext cx="252413" cy="165100"/>
            <a:chOff x="3125393" y="1499499"/>
            <a:chExt cx="252000" cy="165260"/>
          </a:xfrm>
        </p:grpSpPr>
        <p:sp>
          <p:nvSpPr>
            <p:cNvPr id="183" name="모서리가 둥근 사각형 설명선 321">
              <a:extLst>
                <a:ext uri="{FF2B5EF4-FFF2-40B4-BE49-F238E27FC236}">
                  <a16:creationId xmlns:a16="http://schemas.microsoft.com/office/drawing/2014/main" id="{33694D51-EC5F-9E4D-E24E-47A674B9127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4" name="TextBox 23">
              <a:extLst>
                <a:ext uri="{FF2B5EF4-FFF2-40B4-BE49-F238E27FC236}">
                  <a16:creationId xmlns:a16="http://schemas.microsoft.com/office/drawing/2014/main" id="{24D4B908-187C-F226-3246-2C6B7C4F8F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c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03EF0326-5BB4-61CC-9D13-129598111492}"/>
              </a:ext>
            </a:extLst>
          </p:cNvPr>
          <p:cNvGrpSpPr>
            <a:grpSpLocks/>
          </p:cNvGrpSpPr>
          <p:nvPr/>
        </p:nvGrpSpPr>
        <p:grpSpPr bwMode="auto">
          <a:xfrm>
            <a:off x="2143398" y="2397726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994C68C9-7A91-50BF-FB6B-951F90F5737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1F47ED9F-BAC3-CCD0-4982-14416A2FE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7193845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20737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상세내역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(2/2)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3469294"/>
              </p:ext>
            </p:extLst>
          </p:nvPr>
        </p:nvGraphicFramePr>
        <p:xfrm>
          <a:off x="9846998" y="1664954"/>
          <a:ext cx="2088000" cy="32512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등록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명표 추가에 따른  검토상세내역에 출력부분 추가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 </a:t>
                      </a:r>
                      <a:r>
                        <a:rPr lang="ko-KR" altLang="en-US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b="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신설</a:t>
                      </a:r>
                      <a:endParaRPr lang="en-US" altLang="ko-KR" sz="700" b="0" strike="noStrik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오픈시에 소스에서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리마크하여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Invisible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알림전송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시 메일 포맷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QC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추가로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포맷이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다름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69079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97539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5838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8656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8634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9038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600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1001768"/>
                  </a:ext>
                </a:extLst>
              </a:tr>
            </a:tbl>
          </a:graphicData>
        </a:graphic>
      </p:graphicFrame>
      <p:sp>
        <p:nvSpPr>
          <p:cNvPr id="87" name="TextBox 86">
            <a:extLst>
              <a:ext uri="{FF2B5EF4-FFF2-40B4-BE49-F238E27FC236}">
                <a16:creationId xmlns:a16="http://schemas.microsoft.com/office/drawing/2014/main" id="{B288A0D7-3C41-91DC-0A91-51A54FF16F5E}"/>
              </a:ext>
            </a:extLst>
          </p:cNvPr>
          <p:cNvSpPr txBox="1"/>
          <p:nvPr/>
        </p:nvSpPr>
        <p:spPr>
          <a:xfrm>
            <a:off x="262620" y="1481478"/>
            <a:ext cx="10919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 검토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98" name="그림 97">
            <a:extLst>
              <a:ext uri="{FF2B5EF4-FFF2-40B4-BE49-F238E27FC236}">
                <a16:creationId xmlns:a16="http://schemas.microsoft.com/office/drawing/2014/main" id="{76401A95-34BF-B11B-D1BE-EC3CE66FDB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202" y="1821237"/>
            <a:ext cx="9440107" cy="1449288"/>
          </a:xfrm>
          <a:prstGeom prst="rect">
            <a:avLst/>
          </a:prstGeom>
        </p:spPr>
      </p:pic>
      <p:pic>
        <p:nvPicPr>
          <p:cNvPr id="99" name="그림 98">
            <a:extLst>
              <a:ext uri="{FF2B5EF4-FFF2-40B4-BE49-F238E27FC236}">
                <a16:creationId xmlns:a16="http://schemas.microsoft.com/office/drawing/2014/main" id="{09063281-1526-5504-F8A0-ADC91F81683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71662"/>
          <a:stretch/>
        </p:blipFill>
        <p:spPr>
          <a:xfrm>
            <a:off x="311979" y="3325993"/>
            <a:ext cx="9440107" cy="410696"/>
          </a:xfrm>
          <a:prstGeom prst="rect">
            <a:avLst/>
          </a:prstGeom>
        </p:spPr>
      </p:pic>
      <p:pic>
        <p:nvPicPr>
          <p:cNvPr id="100" name="그림 99">
            <a:extLst>
              <a:ext uri="{FF2B5EF4-FFF2-40B4-BE49-F238E27FC236}">
                <a16:creationId xmlns:a16="http://schemas.microsoft.com/office/drawing/2014/main" id="{62C911E8-7907-207E-C131-A8BDE911BA8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686" b="28390"/>
          <a:stretch/>
        </p:blipFill>
        <p:spPr>
          <a:xfrm>
            <a:off x="328783" y="2820089"/>
            <a:ext cx="9440107" cy="259762"/>
          </a:xfrm>
          <a:prstGeom prst="rect">
            <a:avLst/>
          </a:prstGeom>
        </p:spPr>
      </p:pic>
      <p:sp>
        <p:nvSpPr>
          <p:cNvPr id="101" name="TextBox 100">
            <a:extLst>
              <a:ext uri="{FF2B5EF4-FFF2-40B4-BE49-F238E27FC236}">
                <a16:creationId xmlns:a16="http://schemas.microsoft.com/office/drawing/2014/main" id="{4B91F4BA-1537-89E5-6C30-8B651FEA0B60}"/>
              </a:ext>
            </a:extLst>
          </p:cNvPr>
          <p:cNvSpPr txBox="1"/>
          <p:nvPr/>
        </p:nvSpPr>
        <p:spPr>
          <a:xfrm>
            <a:off x="377725" y="2879887"/>
            <a:ext cx="736972" cy="107722"/>
          </a:xfrm>
          <a:prstGeom prst="rect">
            <a:avLst/>
          </a:prstGeom>
          <a:solidFill>
            <a:srgbClr val="E2EAD5"/>
          </a:solidFill>
        </p:spPr>
        <p:txBody>
          <a:bodyPr wrap="square" lIns="0" tIns="0" bIns="0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D55476-ACB4-A2A4-AE20-7080CB4C40EE}"/>
              </a:ext>
            </a:extLst>
          </p:cNvPr>
          <p:cNvSpPr/>
          <p:nvPr/>
        </p:nvSpPr>
        <p:spPr bwMode="auto">
          <a:xfrm>
            <a:off x="322201" y="2830288"/>
            <a:ext cx="9397375" cy="181356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7" name="그룹 21">
            <a:extLst>
              <a:ext uri="{FF2B5EF4-FFF2-40B4-BE49-F238E27FC236}">
                <a16:creationId xmlns:a16="http://schemas.microsoft.com/office/drawing/2014/main" id="{0906D726-2F6B-C7E3-29EB-D9CA1464BA35}"/>
              </a:ext>
            </a:extLst>
          </p:cNvPr>
          <p:cNvGrpSpPr>
            <a:grpSpLocks/>
          </p:cNvGrpSpPr>
          <p:nvPr/>
        </p:nvGrpSpPr>
        <p:grpSpPr bwMode="auto">
          <a:xfrm>
            <a:off x="100841" y="2727950"/>
            <a:ext cx="252413" cy="165100"/>
            <a:chOff x="3125393" y="1499499"/>
            <a:chExt cx="252000" cy="165260"/>
          </a:xfrm>
        </p:grpSpPr>
        <p:sp>
          <p:nvSpPr>
            <p:cNvPr id="8" name="모서리가 둥근 사각형 설명선 321">
              <a:extLst>
                <a:ext uri="{FF2B5EF4-FFF2-40B4-BE49-F238E27FC236}">
                  <a16:creationId xmlns:a16="http://schemas.microsoft.com/office/drawing/2014/main" id="{B6E19918-1330-1BD9-5448-4A30ED3A38A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" name="TextBox 23">
              <a:extLst>
                <a:ext uri="{FF2B5EF4-FFF2-40B4-BE49-F238E27FC236}">
                  <a16:creationId xmlns:a16="http://schemas.microsoft.com/office/drawing/2014/main" id="{8ED25565-2973-BCA5-5821-CA2D27A7C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13</a:t>
              </a: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92170F48-ABB0-6696-EDB3-84712DFB6B0B}"/>
              </a:ext>
            </a:extLst>
          </p:cNvPr>
          <p:cNvGrpSpPr/>
          <p:nvPr/>
        </p:nvGrpSpPr>
        <p:grpSpPr>
          <a:xfrm>
            <a:off x="377725" y="4053373"/>
            <a:ext cx="4161207" cy="2471640"/>
            <a:chOff x="5811252" y="2941726"/>
            <a:chExt cx="3096127" cy="2123570"/>
          </a:xfrm>
        </p:grpSpPr>
        <p:grpSp>
          <p:nvGrpSpPr>
            <p:cNvPr id="105" name="그룹 104">
              <a:extLst>
                <a:ext uri="{FF2B5EF4-FFF2-40B4-BE49-F238E27FC236}">
                  <a16:creationId xmlns:a16="http://schemas.microsoft.com/office/drawing/2014/main" id="{1BF8AD8B-036E-1FA3-EB4B-E2005B7226A7}"/>
                </a:ext>
              </a:extLst>
            </p:cNvPr>
            <p:cNvGrpSpPr/>
            <p:nvPr/>
          </p:nvGrpSpPr>
          <p:grpSpPr>
            <a:xfrm>
              <a:off x="5811252" y="2941726"/>
              <a:ext cx="3096127" cy="2123570"/>
              <a:chOff x="5811252" y="2941726"/>
              <a:chExt cx="3096127" cy="2123570"/>
            </a:xfrm>
          </p:grpSpPr>
          <p:pic>
            <p:nvPicPr>
              <p:cNvPr id="107" name="그림 106">
                <a:extLst>
                  <a:ext uri="{FF2B5EF4-FFF2-40B4-BE49-F238E27FC236}">
                    <a16:creationId xmlns:a16="http://schemas.microsoft.com/office/drawing/2014/main" id="{6E464950-44AE-3B0C-603F-5655CFA2F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811252" y="2941726"/>
                <a:ext cx="3096127" cy="2123570"/>
              </a:xfrm>
              <a:prstGeom prst="rect">
                <a:avLst/>
              </a:prstGeom>
            </p:spPr>
          </p:pic>
          <p:sp>
            <p:nvSpPr>
              <p:cNvPr id="108" name="직사각형 107">
                <a:extLst>
                  <a:ext uri="{FF2B5EF4-FFF2-40B4-BE49-F238E27FC236}">
                    <a16:creationId xmlns:a16="http://schemas.microsoft.com/office/drawing/2014/main" id="{99CF143D-E8C7-6AFF-BD89-A71F3477E4F7}"/>
                  </a:ext>
                </a:extLst>
              </p:cNvPr>
              <p:cNvSpPr/>
              <p:nvPr/>
            </p:nvSpPr>
            <p:spPr>
              <a:xfrm>
                <a:off x="5867400" y="3019926"/>
                <a:ext cx="3031957" cy="20453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109" name="그림 108">
                <a:extLst>
                  <a:ext uri="{FF2B5EF4-FFF2-40B4-BE49-F238E27FC236}">
                    <a16:creationId xmlns:a16="http://schemas.microsoft.com/office/drawing/2014/main" id="{45DD1C37-6649-4F72-57D3-B464FA2BA1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993731" y="3518233"/>
                <a:ext cx="2731168" cy="1282890"/>
              </a:xfrm>
              <a:prstGeom prst="rect">
                <a:avLst/>
              </a:prstGeom>
            </p:spPr>
          </p:pic>
          <p:pic>
            <p:nvPicPr>
              <p:cNvPr id="110" name="그림 109">
                <a:extLst>
                  <a:ext uri="{FF2B5EF4-FFF2-40B4-BE49-F238E27FC236}">
                    <a16:creationId xmlns:a16="http://schemas.microsoft.com/office/drawing/2014/main" id="{08E39328-364D-9D93-0440-C13C405E38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142442" y="3070059"/>
                <a:ext cx="2481872" cy="409073"/>
              </a:xfrm>
              <a:prstGeom prst="rect">
                <a:avLst/>
              </a:prstGeom>
            </p:spPr>
          </p:pic>
        </p:grpSp>
        <p:pic>
          <p:nvPicPr>
            <p:cNvPr id="106" name="그림 105">
              <a:extLst>
                <a:ext uri="{FF2B5EF4-FFF2-40B4-BE49-F238E27FC236}">
                  <a16:creationId xmlns:a16="http://schemas.microsoft.com/office/drawing/2014/main" id="{D83677BD-3A4F-F8D0-A4FB-91BDE326CB9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97856" y="4833701"/>
              <a:ext cx="1779608" cy="199016"/>
            </a:xfrm>
            <a:prstGeom prst="rect">
              <a:avLst/>
            </a:prstGeom>
          </p:spPr>
        </p:pic>
      </p:grpSp>
      <p:grpSp>
        <p:nvGrpSpPr>
          <p:cNvPr id="111" name="그룹 21">
            <a:extLst>
              <a:ext uri="{FF2B5EF4-FFF2-40B4-BE49-F238E27FC236}">
                <a16:creationId xmlns:a16="http://schemas.microsoft.com/office/drawing/2014/main" id="{85FD3E27-719B-C80C-82EC-81F21535E830}"/>
              </a:ext>
            </a:extLst>
          </p:cNvPr>
          <p:cNvGrpSpPr>
            <a:grpSpLocks/>
          </p:cNvGrpSpPr>
          <p:nvPr/>
        </p:nvGrpSpPr>
        <p:grpSpPr bwMode="auto">
          <a:xfrm>
            <a:off x="152413" y="3913603"/>
            <a:ext cx="252413" cy="165100"/>
            <a:chOff x="3134088" y="1499499"/>
            <a:chExt cx="252000" cy="165260"/>
          </a:xfrm>
        </p:grpSpPr>
        <p:sp>
          <p:nvSpPr>
            <p:cNvPr id="112" name="모서리가 둥근 사각형 설명선 321">
              <a:extLst>
                <a:ext uri="{FF2B5EF4-FFF2-40B4-BE49-F238E27FC236}">
                  <a16:creationId xmlns:a16="http://schemas.microsoft.com/office/drawing/2014/main" id="{B10E4700-2D1C-5139-7537-5B210D0448D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" name="TextBox 23">
              <a:extLst>
                <a:ext uri="{FF2B5EF4-FFF2-40B4-BE49-F238E27FC236}">
                  <a16:creationId xmlns:a16="http://schemas.microsoft.com/office/drawing/2014/main" id="{3B0DA5E4-85D2-4D58-E356-431186062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4088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15</a:t>
              </a:r>
            </a:p>
          </p:txBody>
        </p:sp>
      </p:grpSp>
      <p:pic>
        <p:nvPicPr>
          <p:cNvPr id="114" name="그림 113">
            <a:extLst>
              <a:ext uri="{FF2B5EF4-FFF2-40B4-BE49-F238E27FC236}">
                <a16:creationId xmlns:a16="http://schemas.microsoft.com/office/drawing/2014/main" id="{D01BA04B-CB36-BC75-0E56-D462ABF505E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686" b="28390"/>
          <a:stretch/>
        </p:blipFill>
        <p:spPr>
          <a:xfrm>
            <a:off x="328783" y="3016228"/>
            <a:ext cx="9440107" cy="259762"/>
          </a:xfrm>
          <a:prstGeom prst="rect">
            <a:avLst/>
          </a:prstGeom>
        </p:spPr>
      </p:pic>
      <p:sp>
        <p:nvSpPr>
          <p:cNvPr id="115" name="TextBox 114">
            <a:extLst>
              <a:ext uri="{FF2B5EF4-FFF2-40B4-BE49-F238E27FC236}">
                <a16:creationId xmlns:a16="http://schemas.microsoft.com/office/drawing/2014/main" id="{9FBF359D-7364-5657-2B95-B69C4E9866D6}"/>
              </a:ext>
            </a:extLst>
          </p:cNvPr>
          <p:cNvSpPr txBox="1"/>
          <p:nvPr/>
        </p:nvSpPr>
        <p:spPr>
          <a:xfrm>
            <a:off x="377725" y="3092090"/>
            <a:ext cx="736972" cy="107722"/>
          </a:xfrm>
          <a:prstGeom prst="rect">
            <a:avLst/>
          </a:prstGeom>
          <a:solidFill>
            <a:srgbClr val="E2EAD5"/>
          </a:solidFill>
        </p:spPr>
        <p:txBody>
          <a:bodyPr wrap="square" lIns="0" tIns="0" bIns="0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</a:t>
            </a:r>
          </a:p>
        </p:txBody>
      </p:sp>
      <p:grpSp>
        <p:nvGrpSpPr>
          <p:cNvPr id="116" name="그룹 21">
            <a:extLst>
              <a:ext uri="{FF2B5EF4-FFF2-40B4-BE49-F238E27FC236}">
                <a16:creationId xmlns:a16="http://schemas.microsoft.com/office/drawing/2014/main" id="{674085F5-0531-074F-EEE3-F3B38539C37F}"/>
              </a:ext>
            </a:extLst>
          </p:cNvPr>
          <p:cNvGrpSpPr>
            <a:grpSpLocks/>
          </p:cNvGrpSpPr>
          <p:nvPr/>
        </p:nvGrpSpPr>
        <p:grpSpPr bwMode="auto">
          <a:xfrm>
            <a:off x="130696" y="3046101"/>
            <a:ext cx="252413" cy="165100"/>
            <a:chOff x="3125393" y="1499499"/>
            <a:chExt cx="252000" cy="165260"/>
          </a:xfrm>
        </p:grpSpPr>
        <p:sp>
          <p:nvSpPr>
            <p:cNvPr id="117" name="모서리가 둥근 사각형 설명선 321">
              <a:extLst>
                <a:ext uri="{FF2B5EF4-FFF2-40B4-BE49-F238E27FC236}">
                  <a16:creationId xmlns:a16="http://schemas.microsoft.com/office/drawing/2014/main" id="{9D601513-FF5D-FEB6-3770-60EE7904535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" name="TextBox 23">
              <a:extLst>
                <a:ext uri="{FF2B5EF4-FFF2-40B4-BE49-F238E27FC236}">
                  <a16:creationId xmlns:a16="http://schemas.microsoft.com/office/drawing/2014/main" id="{B462BDD7-911D-76EB-C624-1BC7569E4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14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F33B84-E920-BEAD-129B-B79742E1B82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6232"/>
          <a:stretch>
            <a:fillRect/>
          </a:stretch>
        </p:blipFill>
        <p:spPr>
          <a:xfrm>
            <a:off x="1441625" y="4715320"/>
            <a:ext cx="2900276" cy="14931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018854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5EE592-6063-B934-CE74-8ABC7B9EBE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16F082D3-0E6E-2FD9-20B7-7661ADEEC0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7338029"/>
              </p:ext>
            </p:extLst>
          </p:nvPr>
        </p:nvGraphicFramePr>
        <p:xfrm>
          <a:off x="254000" y="1343534"/>
          <a:ext cx="11691939" cy="415672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SERPWEB.SFTY_XMNT_RFRNR_INFO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참조자구분코드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(REFR_DIV_CODE)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668274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803889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77443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SERPWEB.SFTY_XMNT_ATFL_XMNT_OPN_RDN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 열람 여부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SERPWEB.SFTY_XMNT_BASIC_INFO_HIST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기본정보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1568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SERPWEB.SFTY_XMNT_ITEM_INFO_HIST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제품정보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2854628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SFTY_XMNT_NNCMPL_RSN_INFO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안정검토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미준수사유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735924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SERPWEB.SFTY_XMNT_NNCMPL_RSN_INFO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안정검토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미준수사유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377088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SCKTS.SKU_QLTY_INFO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품질정보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4886068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C66AA70F-06AE-8D37-4AD2-F376AAAA1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475D974F-79FB-190C-62FB-64EBEF2440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5463953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365DBCEA-C329-E636-8FDB-591096CBCE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8171670"/>
              </p:ext>
            </p:extLst>
          </p:nvPr>
        </p:nvGraphicFramePr>
        <p:xfrm>
          <a:off x="247260" y="5736512"/>
          <a:ext cx="11710849" cy="752443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923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67FD860F-6EE5-0DBE-C23B-108A2E861A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596408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032762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8AC53-BD3C-185D-8441-996B9AF4CC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18834786-4917-749E-23B2-BD3017D7A9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1773540"/>
              </p:ext>
            </p:extLst>
          </p:nvPr>
        </p:nvGraphicFramePr>
        <p:xfrm>
          <a:off x="254000" y="1343534"/>
          <a:ext cx="11698679" cy="3171705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881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8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제품처리구분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멸균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제품보관분류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내장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냉동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식품첨부파일분류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품목제조보고서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103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한글 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104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원재료 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105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106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107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108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흡습제 사진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109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수입신고필증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 보완 서류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구분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 err="1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r>
                        <a:rPr lang="en-US" altLang="ko-KR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선택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626305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 선택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 스펙 확정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 원료 변경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수급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발급 지연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서류 부적합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성적서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협력사 대응 미흡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259463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 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사유서 검토 미완료 항목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품보서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70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80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수입신고서류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8277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소비기한 선택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직접입력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MDM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222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WEB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SFT023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소비기한 인터페이스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 대상여부 수신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 일수 송신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792385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5951E56-189A-BB07-F87F-F00EC8BFC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26D10E7-B669-FCAD-EF25-C65325431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4617769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B94B8761-B148-AF7C-80C3-D8241B7A77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8265893"/>
              </p:ext>
            </p:extLst>
          </p:nvPr>
        </p:nvGraphicFramePr>
        <p:xfrm>
          <a:off x="247260" y="4881937"/>
          <a:ext cx="11698678" cy="13845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22963D6D-A2EE-2E0F-953D-BA227AF755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945177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423627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84B920-13A4-3386-204C-62D2F95714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CB8BCA01-03C0-EB09-67D8-FA323CD999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3854289"/>
              </p:ext>
            </p:extLst>
          </p:nvPr>
        </p:nvGraphicFramePr>
        <p:xfrm>
          <a:off x="243842" y="1127024"/>
          <a:ext cx="11704318" cy="5546436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버튼 순서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버튼 순서변경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재검토요청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 순서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 클릭 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Alert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표시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 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 필수 제외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구분에 프로모션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지정시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 프로모션 번호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 값이 지정되지 않아도 검토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 완료 가능하도록 로직 변경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식품도 동일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알림전송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메일 내용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메일에 검토자의 마지막 의견이 항목별 노출되어 메일 전송메일에 검토자의 마지막 의견이 항목별 노출되어 메일 전송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---------------------------------------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첨부파일 항목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추가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명표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(120),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(130)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코드 추가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SFT008 : 120 ,130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8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오픈시에 소스에서 </a:t>
                      </a:r>
                      <a:r>
                        <a:rPr kumimoji="0" lang="ko-KR" altLang="en-US" sz="8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리마크하여</a:t>
                      </a:r>
                      <a:r>
                        <a:rPr kumimoji="0" lang="ko-KR" altLang="en-US" sz="8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8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Invisible</a:t>
                      </a:r>
                      <a:r>
                        <a:rPr kumimoji="0" lang="ko-KR" altLang="en-US" sz="8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endParaRPr kumimoji="0" lang="en-US" altLang="ko-KR" sz="8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[5]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영역에 품목제조보고번호 컬럼 추가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SERPWEB.SFTY_XMNT_ITEM_INFO_HIST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에 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에 정보출력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[6]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사유 처리 로직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미준수사유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버튼 출력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사유가 없거나 검토요청 반려 시  버튼 비활성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,  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</a:rPr>
                        <a:t>규정미준수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사유가 있으면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 = Y),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'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</a:rPr>
                        <a:t>미준수사유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버튼을 이용하여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</a:rPr>
                        <a:t>규정미준수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내용 확인 가능한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VIEW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팝업출력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버튼색상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-RED  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검토반려시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해당 안전성검토의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데이터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SFTY_XMNT_NNCMPL_RSN_INFO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에서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 DELETE</a:t>
                      </a: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[7]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기본정보이력보기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)(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 컬럼추가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구분과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제품분류컬럼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-----------------------------------------------------------------------------------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 소비기한 로직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 영역에 소비기한 컬럼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 추가 하여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입력정보 출력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소비기한 대상여부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직접입력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검토자는 수정 불가 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검토완료시 소비기한 체크 로직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대상여부 관리테이블에서 체크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변경되었다면 알림 팝업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대상여부가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 때는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정보확인 팝업 출력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    1)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직접입력 선택이면 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필수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    2)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확정전선택이면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체크하여  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알림 팝업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 대상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값이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이며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날짜를 확정하지 못하여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 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 상태일 때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가능</a:t>
                      </a:r>
                      <a:b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최종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하기위해서는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값에 정수 값만 입력되어야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한다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(*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조건부완료상태에서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수정버트을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클릭하여 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검토완료시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인터페이스에러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네크워크에러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응답값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또는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E)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발생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검토완료는 진행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전송 에러발생 체크하여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수동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재전송 버튼 출력하여 재전송 하도록 함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조건부완료는 재전송 버튼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미출력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" name="Group 234">
            <a:extLst>
              <a:ext uri="{FF2B5EF4-FFF2-40B4-BE49-F238E27FC236}">
                <a16:creationId xmlns:a16="http://schemas.microsoft.com/office/drawing/2014/main" id="{61088C07-4629-60A6-CF33-9692CE2D96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981349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17A98C1-1EB4-8F70-87AC-5F82E322F72C}"/>
              </a:ext>
            </a:extLst>
          </p:cNvPr>
          <p:cNvSpPr/>
          <p:nvPr/>
        </p:nvSpPr>
        <p:spPr bwMode="auto">
          <a:xfrm>
            <a:off x="8093796" y="1575302"/>
            <a:ext cx="3727799" cy="2091351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이메일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내용수정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endParaRPr lang="ko-KR" altLang="en-US" sz="900" dirty="0">
              <a:effectLst/>
              <a:latin typeface="Arial" panose="020B0604020202020204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CCF585F6-81E1-CDA2-3FFB-BAB915353C64}"/>
              </a:ext>
            </a:extLst>
          </p:cNvPr>
          <p:cNvGrpSpPr/>
          <p:nvPr/>
        </p:nvGrpSpPr>
        <p:grpSpPr>
          <a:xfrm>
            <a:off x="8409631" y="1738270"/>
            <a:ext cx="3096127" cy="1855440"/>
            <a:chOff x="5811252" y="2941726"/>
            <a:chExt cx="3096127" cy="2123570"/>
          </a:xfrm>
        </p:grpSpPr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9A26D7DA-F1AB-FEA2-C24B-677F40FFD0A4}"/>
                </a:ext>
              </a:extLst>
            </p:cNvPr>
            <p:cNvGrpSpPr/>
            <p:nvPr/>
          </p:nvGrpSpPr>
          <p:grpSpPr>
            <a:xfrm>
              <a:off x="5811252" y="2941726"/>
              <a:ext cx="3096127" cy="2123570"/>
              <a:chOff x="5811252" y="2941726"/>
              <a:chExt cx="3096127" cy="2123570"/>
            </a:xfrm>
          </p:grpSpPr>
          <p:pic>
            <p:nvPicPr>
              <p:cNvPr id="11" name="그림 10">
                <a:extLst>
                  <a:ext uri="{FF2B5EF4-FFF2-40B4-BE49-F238E27FC236}">
                    <a16:creationId xmlns:a16="http://schemas.microsoft.com/office/drawing/2014/main" id="{D2C8863B-DFDC-6BA0-F84F-DF020D1F24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811252" y="2941726"/>
                <a:ext cx="3096127" cy="2123570"/>
              </a:xfrm>
              <a:prstGeom prst="rect">
                <a:avLst/>
              </a:prstGeom>
            </p:spPr>
          </p:pic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C464BF29-B73D-9FD7-1A9B-A9D1042F06D2}"/>
                  </a:ext>
                </a:extLst>
              </p:cNvPr>
              <p:cNvSpPr/>
              <p:nvPr/>
            </p:nvSpPr>
            <p:spPr>
              <a:xfrm>
                <a:off x="5867400" y="3019926"/>
                <a:ext cx="3031957" cy="20453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968111A5-0EFB-A346-91F3-C80F3D836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893146" y="3550810"/>
                <a:ext cx="2731168" cy="1282889"/>
              </a:xfrm>
              <a:prstGeom prst="rect">
                <a:avLst/>
              </a:prstGeom>
            </p:spPr>
          </p:pic>
          <p:pic>
            <p:nvPicPr>
              <p:cNvPr id="14" name="그림 13">
                <a:extLst>
                  <a:ext uri="{FF2B5EF4-FFF2-40B4-BE49-F238E27FC236}">
                    <a16:creationId xmlns:a16="http://schemas.microsoft.com/office/drawing/2014/main" id="{923C1CF3-4D45-0628-14D8-8115FF4C24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993359" y="3070059"/>
                <a:ext cx="2905997" cy="409073"/>
              </a:xfrm>
              <a:prstGeom prst="rect">
                <a:avLst/>
              </a:prstGeom>
            </p:spPr>
          </p:pic>
        </p:grpSp>
        <p:pic>
          <p:nvPicPr>
            <p:cNvPr id="10" name="그림 9">
              <a:extLst>
                <a:ext uri="{FF2B5EF4-FFF2-40B4-BE49-F238E27FC236}">
                  <a16:creationId xmlns:a16="http://schemas.microsoft.com/office/drawing/2014/main" id="{EB3AF4B6-F988-77B9-4D8D-7E95647214B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97856" y="4833701"/>
              <a:ext cx="1779608" cy="199016"/>
            </a:xfrm>
            <a:prstGeom prst="rect">
              <a:avLst/>
            </a:prstGeom>
          </p:spPr>
        </p:pic>
      </p:grpSp>
      <p:pic>
        <p:nvPicPr>
          <p:cNvPr id="15" name="그림 14">
            <a:extLst>
              <a:ext uri="{FF2B5EF4-FFF2-40B4-BE49-F238E27FC236}">
                <a16:creationId xmlns:a16="http://schemas.microsoft.com/office/drawing/2014/main" id="{99ECEACB-7BEE-7BDB-7F5F-C0F7230D465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6928"/>
          <a:stretch/>
        </p:blipFill>
        <p:spPr>
          <a:xfrm>
            <a:off x="9112524" y="2279156"/>
            <a:ext cx="2110169" cy="1120907"/>
          </a:xfrm>
          <a:prstGeom prst="rect">
            <a:avLst/>
          </a:prstGeom>
        </p:spPr>
      </p:pic>
      <p:pic>
        <p:nvPicPr>
          <p:cNvPr id="17" name="그림 16" descr="텍스트, 소프트웨어, 폰트, 컴퓨터 아이콘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A2C3E09-7011-A85D-3637-58354EA79754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083" t="4038" r="1211" b="3413"/>
          <a:stretch>
            <a:fillRect/>
          </a:stretch>
        </p:blipFill>
        <p:spPr>
          <a:xfrm>
            <a:off x="7985156" y="4617267"/>
            <a:ext cx="3836439" cy="1339914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49441775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0FF862-1F2E-7F18-4EA6-F9AD302C8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397F66C3-DD9D-BA5E-C93E-65B959B6B1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9268198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[8]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 소비기한 로직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 영역에 소비기한 컬럼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 추가 하여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입력정보 출력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소비기한 대상여부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직접입력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검토자는 수정 불가 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검토완료시 소비기한 체크 로직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대상여부 관리테이블에서 체크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변경되었다면 알림 팝업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대상여부가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 때는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정보확인 팝업 출력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    1)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직접입력 선택이면 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필수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    2)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확정전선택이면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체크하여  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확정전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알림 팝업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 대상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값이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이며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날짜를 확정하지 못하여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 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 상태일 때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가능</a:t>
                      </a:r>
                      <a:b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최종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하기위해서는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값에 정수 값만 입력되어야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한다 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(*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조건부완료상태에서 수정버튼을 클릭하여 안전성기본정보 팝업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에서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 직접입력 선택하고 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입력하고 저장해야 검토완료 버튼 활성화 조건 추가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검토완료시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인터페이스에러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네크워크에러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응답값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또는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E)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발생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검토완료는 진행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전송 에러발생 체크하여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수동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재전송 버튼 출력하여 재전송 하도록 함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조건부완료는 재전송 버튼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미출력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indent="0"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indent="0"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[9] 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안전성기본정보 팝업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소비기한 컬럼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 추가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대상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여뷰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등록 값 출력</a:t>
                      </a:r>
                      <a:endParaRPr kumimoji="0" lang="en-US" altLang="ko-KR" sz="9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등록 값 출력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수정가능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일수출력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등록 값 출력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수정가능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indent="0">
                        <a:buFontTx/>
                        <a:buNone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" name="Group 234">
            <a:extLst>
              <a:ext uri="{FF2B5EF4-FFF2-40B4-BE49-F238E27FC236}">
                <a16:creationId xmlns:a16="http://schemas.microsoft.com/office/drawing/2014/main" id="{67FFBBE1-4934-66E6-26B3-F5C4F7851844}"/>
              </a:ext>
            </a:extLst>
          </p:cNvPr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3" name="그림 2">
            <a:extLst>
              <a:ext uri="{FF2B5EF4-FFF2-40B4-BE49-F238E27FC236}">
                <a16:creationId xmlns:a16="http://schemas.microsoft.com/office/drawing/2014/main" id="{7B99786D-39CE-26FD-59E6-436884B9632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16786" y="3429000"/>
            <a:ext cx="7472473" cy="2559283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1447CE7-8159-1956-81E9-C657ED951B3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46709"/>
          <a:stretch>
            <a:fillRect/>
          </a:stretch>
        </p:blipFill>
        <p:spPr>
          <a:xfrm>
            <a:off x="3916786" y="4772616"/>
            <a:ext cx="7472473" cy="1363869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19D03F0-3F0B-9F58-C0CD-89726370A77B}"/>
              </a:ext>
            </a:extLst>
          </p:cNvPr>
          <p:cNvSpPr/>
          <p:nvPr/>
        </p:nvSpPr>
        <p:spPr bwMode="auto">
          <a:xfrm>
            <a:off x="6359073" y="4772616"/>
            <a:ext cx="797150" cy="144452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*</a:t>
            </a:r>
            <a:r>
              <a:rPr kumimoji="1" lang="ko-KR" altLang="en-US" sz="7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소비기한</a:t>
            </a: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7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선택</a:t>
            </a: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F7BF4A-BDB1-A84F-6BF3-51C1B744CDA6}"/>
              </a:ext>
            </a:extLst>
          </p:cNvPr>
          <p:cNvSpPr/>
          <p:nvPr/>
        </p:nvSpPr>
        <p:spPr bwMode="auto">
          <a:xfrm>
            <a:off x="8738563" y="4794950"/>
            <a:ext cx="935581" cy="124471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*</a:t>
            </a:r>
            <a:r>
              <a:rPr kumimoji="1" lang="ko-KR" altLang="en-US" sz="7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소비기한</a:t>
            </a: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7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일수</a:t>
            </a:r>
            <a:r>
              <a:rPr kumimoji="1" lang="en-US" altLang="ko-KR" sz="6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ko-KR" altLang="en-US" sz="6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66CA558-DF9D-165A-875E-144F0F906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6549" y="4772616"/>
            <a:ext cx="1197469" cy="12064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직접입력</a:t>
            </a:r>
            <a:r>
              <a:rPr kumimoji="1"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b="1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확정전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21" name="Picture 103">
            <a:extLst>
              <a:ext uri="{FF2B5EF4-FFF2-40B4-BE49-F238E27FC236}">
                <a16:creationId xmlns:a16="http://schemas.microsoft.com/office/drawing/2014/main" id="{B296B689-3F55-78E7-FC9D-AE8EDA25C0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 t="15633" r="9297"/>
          <a:stretch>
            <a:fillRect/>
          </a:stretch>
        </p:blipFill>
        <p:spPr bwMode="auto">
          <a:xfrm>
            <a:off x="8566335" y="4810899"/>
            <a:ext cx="119911" cy="70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0C2A7C7F-728E-EA1A-D7F2-FDDA1395311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74144" y="4772616"/>
            <a:ext cx="1422014" cy="146805"/>
          </a:xfrm>
          <a:prstGeom prst="rect">
            <a:avLst/>
          </a:prstGeom>
        </p:spPr>
      </p:pic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21EE1E-0DBF-4E01-762C-73891F303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0544" y="4772616"/>
            <a:ext cx="1356211" cy="108521"/>
          </a:xfrm>
          <a:prstGeom prst="rect">
            <a:avLst/>
          </a:prstGeom>
          <a:solidFill>
            <a:srgbClr val="F7F7F7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Y/N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CB4CF5A-3BA3-4E9F-D133-974755DC1909}"/>
              </a:ext>
            </a:extLst>
          </p:cNvPr>
          <p:cNvSpPr/>
          <p:nvPr/>
        </p:nvSpPr>
        <p:spPr bwMode="auto">
          <a:xfrm>
            <a:off x="4000373" y="4739005"/>
            <a:ext cx="866584" cy="178063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700" b="0" i="0" u="none" strike="noStrike" cap="none" normalizeH="0" baseline="0" dirty="0">
                <a:ln>
                  <a:noFill/>
                </a:ln>
                <a:effectLst/>
                <a:latin typeface="맑은 고딕" pitchFamily="50" charset="-127"/>
                <a:ea typeface="맑은 고딕" pitchFamily="50" charset="-127"/>
              </a:rPr>
              <a:t>소비기한 대상</a:t>
            </a:r>
            <a:r>
              <a:rPr lang="ko-KR" altLang="en-US" sz="700" dirty="0">
                <a:latin typeface="맑은 고딕" pitchFamily="50" charset="-127"/>
                <a:ea typeface="맑은 고딕" pitchFamily="50" charset="-127"/>
              </a:rPr>
              <a:t> 여부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2C919C2-5203-838A-F2D2-AB55D88C280F}"/>
              </a:ext>
            </a:extLst>
          </p:cNvPr>
          <p:cNvSpPr/>
          <p:nvPr/>
        </p:nvSpPr>
        <p:spPr bwMode="auto">
          <a:xfrm>
            <a:off x="3668375" y="4701305"/>
            <a:ext cx="7720883" cy="215763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7" name="연결선: 꺾임 26">
            <a:extLst>
              <a:ext uri="{FF2B5EF4-FFF2-40B4-BE49-F238E27FC236}">
                <a16:creationId xmlns:a16="http://schemas.microsoft.com/office/drawing/2014/main" id="{F66197E9-E82D-95CB-99FD-59CF63190246}"/>
              </a:ext>
            </a:extLst>
          </p:cNvPr>
          <p:cNvCxnSpPr>
            <a:cxnSpLocks/>
            <a:endCxn id="25" idx="1"/>
          </p:cNvCxnSpPr>
          <p:nvPr/>
        </p:nvCxnSpPr>
        <p:spPr bwMode="auto">
          <a:xfrm>
            <a:off x="2100404" y="3340729"/>
            <a:ext cx="1567971" cy="1468458"/>
          </a:xfrm>
          <a:prstGeom prst="bentConnector3">
            <a:avLst>
              <a:gd name="adj1" fmla="val 71364"/>
            </a:avLst>
          </a:prstGeom>
          <a:solidFill>
            <a:schemeClr val="accent1"/>
          </a:solidFill>
          <a:ln w="9525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146460134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74" name="그림 73" descr="텍스트, 스크린샷, 소프트웨어, 번호이(가) 표시된 사진&#10;&#10;AI가 생성한 콘텐츠는 부정확할 수 있습니다.">
            <a:extLst>
              <a:ext uri="{FF2B5EF4-FFF2-40B4-BE49-F238E27FC236}">
                <a16:creationId xmlns:a16="http://schemas.microsoft.com/office/drawing/2014/main" id="{837DC6A5-D22D-B5A7-1A0B-A5B83C5BDE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05209" y="1525147"/>
            <a:ext cx="6081792" cy="4498211"/>
          </a:xfrm>
          <a:prstGeom prst="rect">
            <a:avLst/>
          </a:prstGeom>
          <a:ln>
            <a:solidFill>
              <a:schemeClr val="tx1"/>
            </a:solidFill>
          </a:ln>
        </p:spPr>
      </p:pic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325764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5710409"/>
              </p:ext>
            </p:extLst>
          </p:nvPr>
        </p:nvGraphicFramePr>
        <p:xfrm>
          <a:off x="9857655" y="1673663"/>
          <a:ext cx="2067327" cy="37472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21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알림 표시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첨부파일 등록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등록 시 검토자에게만 아이콘 출력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검토자가 첨부파일 등록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등록 시 요청자에게만 아이콘 출력</a:t>
                      </a:r>
                      <a:endParaRPr kumimoji="0" lang="en-US" altLang="ko-KR" sz="8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As-Is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</a:t>
                      </a:r>
                      <a:r>
                        <a:rPr kumimoji="0" lang="ko-KR" altLang="en-US" sz="8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모두에게 표시</a:t>
                      </a:r>
                      <a:endParaRPr kumimoji="0" lang="en-US" altLang="ko-KR" sz="8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132919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파일업로드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특수문자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(%)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업로드 시 파일명에 특수 문자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‘%’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 로직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43216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5697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422027"/>
                  </a:ext>
                </a:extLst>
              </a:tr>
            </a:tbl>
          </a:graphicData>
        </a:graphic>
      </p:graphicFrame>
      <p:grpSp>
        <p:nvGrpSpPr>
          <p:cNvPr id="63" name="그룹 21">
            <a:extLst>
              <a:ext uri="{FF2B5EF4-FFF2-40B4-BE49-F238E27FC236}">
                <a16:creationId xmlns:a16="http://schemas.microsoft.com/office/drawing/2014/main" id="{90D17943-F76D-4874-1ED4-2FB4B1819AC9}"/>
              </a:ext>
            </a:extLst>
          </p:cNvPr>
          <p:cNvGrpSpPr>
            <a:grpSpLocks/>
          </p:cNvGrpSpPr>
          <p:nvPr/>
        </p:nvGrpSpPr>
        <p:grpSpPr bwMode="auto">
          <a:xfrm>
            <a:off x="1379002" y="3833833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0642816F-6849-E824-8E2C-E42FD35708B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84A85304-77F4-E434-FF68-D793E4C1E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E70307DE-373A-A686-27BF-8FA8AE473AC8}"/>
              </a:ext>
            </a:extLst>
          </p:cNvPr>
          <p:cNvGrpSpPr>
            <a:grpSpLocks/>
          </p:cNvGrpSpPr>
          <p:nvPr/>
        </p:nvGrpSpPr>
        <p:grpSpPr bwMode="auto">
          <a:xfrm>
            <a:off x="6773358" y="2220807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82FE1ABA-6D7F-F652-3901-437118500B7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5DB3A918-7EE1-49A8-38B1-58C271C0E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8198102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78BDE2-6078-5621-5065-F8D1CB19AB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955FA30F-2DCC-34A6-BBA7-D2B448681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453666"/>
              </p:ext>
            </p:extLst>
          </p:nvPr>
        </p:nvGraphicFramePr>
        <p:xfrm>
          <a:off x="254000" y="1343534"/>
          <a:ext cx="11691939" cy="207988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SERPWEB.SFTY_XMNT_ATFL_RQST_OPN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요청의견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 SFTY_XMNT_ATFL_OPN_RDN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의견 열람여부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4185209-68FA-8E7A-DA47-820F1CF60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2B69315E-5BAE-9B8F-AACF-9ECABDC5C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44" y="4713592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7E8700C6-1667-4466-3837-A214FCD70E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0314051"/>
              </p:ext>
            </p:extLst>
          </p:nvPr>
        </p:nvGraphicFramePr>
        <p:xfrm>
          <a:off x="256313" y="4977760"/>
          <a:ext cx="11710849" cy="115380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90B7CDED-AD03-9277-2FB6-1A0B590CD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43240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39617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3F1628-0528-5905-C2A1-7FEE459672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F054AB3-8670-E18C-4249-B2FFEA1552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4062249"/>
              </p:ext>
            </p:extLst>
          </p:nvPr>
        </p:nvGraphicFramePr>
        <p:xfrm>
          <a:off x="254000" y="1343534"/>
          <a:ext cx="11698679" cy="309309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042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8255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식품첨부파일분류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품목제조보고서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103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한글 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104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원재료 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105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106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107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108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흡습제 사진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109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수입신고필증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확인증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 보완 서류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명표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130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비식품첨부파일분류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 SCK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 점검 의뢰서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201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한글 표시사항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증빙자료 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lang="ko-KR" altLang="en-US" sz="900" strike="noStrik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202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 정보확약서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203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 자료 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204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205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206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섬유제품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207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 보완 서류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2Q0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216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217 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218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230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명칭변경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ACBBEDB8-2D42-757B-BA2D-9EDCF6F37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3A74D2C0-DA83-152D-C25C-C34166463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5051582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3CA41FD-7E67-C381-0895-7C06D387F6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1036578"/>
              </p:ext>
            </p:extLst>
          </p:nvPr>
        </p:nvGraphicFramePr>
        <p:xfrm>
          <a:off x="247260" y="5315750"/>
          <a:ext cx="11698678" cy="9230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21240129-4ED4-F82D-15BF-8EDACF9E27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43240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325427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235C60-0EC2-2EF4-C2FC-92AB25DF3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AB9F9C88-D6F7-9A4B-A9CD-792B582264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815528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파일업로드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특수문자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(%)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업로드 시 파일명에 특수 문자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‘%’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 로직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" name="Group 234">
            <a:extLst>
              <a:ext uri="{FF2B5EF4-FFF2-40B4-BE49-F238E27FC236}">
                <a16:creationId xmlns:a16="http://schemas.microsoft.com/office/drawing/2014/main" id="{E986E65A-9ACB-5513-905C-A60B5372C3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43240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147838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16613A-B483-1D5E-83F0-C560E000A0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7485FCD3-E54E-85AD-BE53-D21BD20195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4719830"/>
              </p:ext>
            </p:extLst>
          </p:nvPr>
        </p:nvGraphicFramePr>
        <p:xfrm>
          <a:off x="243841" y="1142653"/>
          <a:ext cx="11681141" cy="5435700"/>
        </p:xfrm>
        <a:graphic>
          <a:graphicData uri="http://schemas.openxmlformats.org/drawingml/2006/table">
            <a:tbl>
              <a:tblPr/>
              <a:tblGrid>
                <a:gridCol w="116811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952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4617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직사각형 23">
            <a:extLst>
              <a:ext uri="{FF2B5EF4-FFF2-40B4-BE49-F238E27FC236}">
                <a16:creationId xmlns:a16="http://schemas.microsoft.com/office/drawing/2014/main" id="{3F7D6745-BDB9-9017-DD53-9D345D0677D1}"/>
              </a:ext>
            </a:extLst>
          </p:cNvPr>
          <p:cNvSpPr/>
          <p:nvPr/>
        </p:nvSpPr>
        <p:spPr>
          <a:xfrm>
            <a:off x="1590140" y="1622778"/>
            <a:ext cx="7125403" cy="459514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853D649-8449-AC72-4399-F976EAE28E7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85889" y="3637224"/>
            <a:ext cx="6733903" cy="1041921"/>
          </a:xfrm>
          <a:prstGeom prst="rect">
            <a:avLst/>
          </a:prstGeom>
        </p:spPr>
      </p:pic>
      <p:sp>
        <p:nvSpPr>
          <p:cNvPr id="24" name="직사각형 23">
            <a:extLst>
              <a:ext uri="{FF2B5EF4-FFF2-40B4-BE49-F238E27FC236}">
                <a16:creationId xmlns:a16="http://schemas.microsoft.com/office/drawing/2014/main" id="{25D0F70D-CC3F-4542-CFF2-EA23489D4DC3}"/>
              </a:ext>
            </a:extLst>
          </p:cNvPr>
          <p:cNvSpPr/>
          <p:nvPr/>
        </p:nvSpPr>
        <p:spPr bwMode="auto">
          <a:xfrm>
            <a:off x="1590139" y="1622780"/>
            <a:ext cx="7125404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indent="0" algn="ctr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10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식품</a:t>
            </a:r>
            <a:r>
              <a:rPr kumimoji="1" lang="en-US" altLang="ko-KR" sz="10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</a:t>
            </a:r>
            <a:r>
              <a:rPr kumimoji="1" lang="ko-KR" altLang="en-US" sz="10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안전성 검토 규정 </a:t>
            </a:r>
            <a:r>
              <a:rPr kumimoji="1" lang="ko-KR" altLang="en-US" sz="1000" dirty="0" err="1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미준수</a:t>
            </a:r>
            <a:r>
              <a:rPr kumimoji="1" lang="ko-KR" altLang="en-US" sz="10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사유서</a:t>
            </a:r>
          </a:p>
        </p:txBody>
      </p:sp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EE53ADEE-213A-2BE7-18D3-FE9C358968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618936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사유서를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A968E72A-7CD3-1D19-BE62-831C70EC2415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BD4F9BB-A261-89A7-8E2E-0902830EE964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4BD76C7E-A0DE-8C1A-4178-7AE8DDE1CC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0792068"/>
              </p:ext>
            </p:extLst>
          </p:nvPr>
        </p:nvGraphicFramePr>
        <p:xfrm>
          <a:off x="9857655" y="1673663"/>
          <a:ext cx="2067327" cy="50538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21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식품의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제품분류’에서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신제품’만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사유 팝업 적용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POPUP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화면에서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입력후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저장을 하면 수정 기능은 없다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sng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검토반려시</a:t>
                      </a:r>
                      <a:r>
                        <a:rPr kumimoji="0" lang="ko-KR" altLang="en-US" sz="700" b="1" i="0" u="none" strike="sng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요청자가 추가 </a:t>
                      </a:r>
                      <a:r>
                        <a:rPr kumimoji="0" lang="ko-KR" altLang="en-US" sz="700" b="1" i="0" u="none" strike="sng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수정후</a:t>
                      </a:r>
                      <a:r>
                        <a:rPr kumimoji="0" lang="ko-KR" altLang="en-US" sz="700" b="1" i="0" u="none" strike="sng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기존 데이터를 출력</a:t>
                      </a:r>
                      <a:r>
                        <a:rPr kumimoji="0" lang="en-US" altLang="ko-KR" sz="700" b="1" i="0" u="none" strike="sng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1" i="0" u="none" strike="sng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 또는 내용수정 가능</a:t>
                      </a:r>
                      <a:endParaRPr kumimoji="0" lang="en-US" altLang="ko-KR" sz="700" b="1" i="0" u="none" strike="sng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미준수사유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clear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하고 다시작성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(2025.07.03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미준수사유로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등록되면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 모두 조회화면에서 ‘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미준수버튼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 출력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안전성검토 정보출력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132919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선택</a:t>
                      </a: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사유 세부 작성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한글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500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en-US" altLang="ko-KR" sz="70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40404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입력부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3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줄기본으로 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 </a:t>
                      </a:r>
                      <a:r>
                        <a:rPr kumimoji="1" lang="ko-KR" altLang="en-US" sz="7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이상시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스크롤 바 출력</a:t>
                      </a: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요청사항 작성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한글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500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입력부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3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줄기본으로 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 </a:t>
                      </a:r>
                      <a:r>
                        <a:rPr kumimoji="1" lang="ko-KR" altLang="en-US" sz="7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이상시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스크롤 바 출력</a:t>
                      </a: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문구는 ‘관리자화면’ 관리하도록 기능 수정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43216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정보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5697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입력후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저장하고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검토요청상태로 변경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미준수사유서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등록 시 알람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 범위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검토담당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임원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+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검토부서전체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버튼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”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으로 팝업출력 시 비활성화 및 편집 불가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76492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작성일자 표시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저장일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(07/10)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0809230"/>
                  </a:ext>
                </a:extLst>
              </a:tr>
            </a:tbl>
          </a:graphicData>
        </a:graphic>
      </p:graphicFrame>
      <p:sp>
        <p:nvSpPr>
          <p:cNvPr id="7" name="십자형 6">
            <a:extLst>
              <a:ext uri="{FF2B5EF4-FFF2-40B4-BE49-F238E27FC236}">
                <a16:creationId xmlns:a16="http://schemas.microsoft.com/office/drawing/2014/main" id="{94946D91-59AD-B246-DE68-3673C7FB6F06}"/>
              </a:ext>
            </a:extLst>
          </p:cNvPr>
          <p:cNvSpPr/>
          <p:nvPr/>
        </p:nvSpPr>
        <p:spPr>
          <a:xfrm rot="2700000" flipV="1">
            <a:off x="8506694" y="1708887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075C423-C105-255F-AE58-E95772C47449}"/>
              </a:ext>
            </a:extLst>
          </p:cNvPr>
          <p:cNvGrpSpPr/>
          <p:nvPr/>
        </p:nvGrpSpPr>
        <p:grpSpPr>
          <a:xfrm>
            <a:off x="1720794" y="2097156"/>
            <a:ext cx="6757851" cy="735885"/>
            <a:chOff x="6723185" y="3210410"/>
            <a:chExt cx="4465637" cy="415904"/>
          </a:xfrm>
        </p:grpSpPr>
        <p:pic>
          <p:nvPicPr>
            <p:cNvPr id="5" name="그림 4">
              <a:extLst>
                <a:ext uri="{FF2B5EF4-FFF2-40B4-BE49-F238E27FC236}">
                  <a16:creationId xmlns:a16="http://schemas.microsoft.com/office/drawing/2014/main" id="{C032E8B2-C1DD-9A30-4CAF-76A15C592BB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23185" y="3215336"/>
              <a:ext cx="2130559" cy="402738"/>
            </a:xfrm>
            <a:prstGeom prst="rect">
              <a:avLst/>
            </a:prstGeom>
          </p:spPr>
        </p:pic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02D34D57-0760-CC1B-8324-E5BE86EB85F1}"/>
                </a:ext>
              </a:extLst>
            </p:cNvPr>
            <p:cNvGrpSpPr/>
            <p:nvPr/>
          </p:nvGrpSpPr>
          <p:grpSpPr>
            <a:xfrm>
              <a:off x="8843767" y="3210410"/>
              <a:ext cx="2345055" cy="415904"/>
              <a:chOff x="5773591" y="5146738"/>
              <a:chExt cx="4829452" cy="322998"/>
            </a:xfrm>
          </p:grpSpPr>
          <p:pic>
            <p:nvPicPr>
              <p:cNvPr id="8" name="그림 7">
                <a:extLst>
                  <a:ext uri="{FF2B5EF4-FFF2-40B4-BE49-F238E27FC236}">
                    <a16:creationId xmlns:a16="http://schemas.microsoft.com/office/drawing/2014/main" id="{4918BFAC-CA83-7C29-B713-209F59D38E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773591" y="5146738"/>
                <a:ext cx="4820574" cy="186432"/>
              </a:xfrm>
              <a:prstGeom prst="rect">
                <a:avLst/>
              </a:prstGeom>
            </p:spPr>
          </p:pic>
          <p:pic>
            <p:nvPicPr>
              <p:cNvPr id="10" name="그림 9">
                <a:extLst>
                  <a:ext uri="{FF2B5EF4-FFF2-40B4-BE49-F238E27FC236}">
                    <a16:creationId xmlns:a16="http://schemas.microsoft.com/office/drawing/2014/main" id="{BE10775E-CA08-FFEA-BF03-FE80F4FC72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775325" y="5309938"/>
                <a:ext cx="4827718" cy="159798"/>
              </a:xfrm>
              <a:prstGeom prst="rect">
                <a:avLst/>
              </a:prstGeom>
            </p:spPr>
          </p:pic>
        </p:grpSp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7DE979FD-7FA7-F39E-3A75-B3311FD87257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38218" y="3126083"/>
            <a:ext cx="6733903" cy="1041921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498155BD-965C-3224-FE24-782B9689DA96}"/>
              </a:ext>
            </a:extLst>
          </p:cNvPr>
          <p:cNvSpPr txBox="1"/>
          <p:nvPr/>
        </p:nvSpPr>
        <p:spPr bwMode="auto">
          <a:xfrm>
            <a:off x="1681210" y="5229708"/>
            <a:ext cx="5081840" cy="496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rtlCol="0" anchor="t">
            <a:spAutoFit/>
          </a:bodyPr>
          <a:lstStyle/>
          <a:p>
            <a:pPr marL="0" indent="0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상기 사유로 해당 </a:t>
            </a:r>
            <a:r>
              <a:rPr kumimoji="1" lang="ko-KR" altLang="en-US" sz="700" dirty="0" err="1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상품류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(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식품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)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안전성 검토 규정 예외 적용을 </a:t>
            </a:r>
            <a:r>
              <a:rPr kumimoji="1" lang="ko-KR" altLang="en-US" sz="700" dirty="0" err="1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요청드립니다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.</a:t>
            </a:r>
          </a:p>
          <a:p>
            <a:pPr marL="0" indent="0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-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신규 상품 타임라인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: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경쟁입찰 건 및 직수입은 출시 예정일 기준 최소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7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주 전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/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그 외 신규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·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기존상품은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3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주 전 검토 요청</a:t>
            </a:r>
          </a:p>
          <a:p>
            <a:pPr marL="0" indent="0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C0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※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C0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해당 사유서를 작성하더라도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C0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,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C0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상품류는 안전성 검토 완료 전 출시가 불가합니다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C0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.</a:t>
            </a:r>
            <a:endParaRPr kumimoji="1" lang="ko-KR" altLang="en-US" sz="700" dirty="0">
              <a:ln>
                <a:solidFill>
                  <a:srgbClr val="000000">
                    <a:alpha val="20000"/>
                  </a:srgbClr>
                </a:solidFill>
              </a:ln>
              <a:solidFill>
                <a:srgbClr val="C00000"/>
              </a:solidFill>
              <a:latin typeface="에브리데이고딕 R" panose="02020603020101020101" pitchFamily="18" charset="-127"/>
              <a:ea typeface="에브리데이고딕 R" panose="02020603020101020101" pitchFamily="18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2AC8387-71A4-2103-DF46-D7BF10735E84}"/>
              </a:ext>
            </a:extLst>
          </p:cNvPr>
          <p:cNvSpPr txBox="1"/>
          <p:nvPr/>
        </p:nvSpPr>
        <p:spPr bwMode="auto">
          <a:xfrm>
            <a:off x="6395986" y="5525946"/>
            <a:ext cx="1694695" cy="2169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rtlCol="0" anchor="t">
            <a:spAutoFit/>
          </a:bodyPr>
          <a:lstStyle/>
          <a:p>
            <a:pPr marL="0" indent="0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요청 부서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: 000            </a:t>
            </a:r>
            <a:r>
              <a:rPr kumimoji="1" lang="ko-KR" altLang="en-US" sz="700" dirty="0" err="1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요청자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: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000</a:t>
            </a:r>
            <a:endParaRPr kumimoji="1" lang="ko-KR" altLang="en-US" sz="700" dirty="0">
              <a:ln>
                <a:solidFill>
                  <a:srgbClr val="000000">
                    <a:alpha val="20000"/>
                  </a:srgbClr>
                </a:solidFill>
              </a:ln>
              <a:solidFill>
                <a:srgbClr val="C00000"/>
              </a:solidFill>
              <a:latin typeface="에브리데이고딕 R" panose="02020603020101020101" pitchFamily="18" charset="-127"/>
              <a:ea typeface="에브리데이고딕 R" panose="02020603020101020101" pitchFamily="18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5881C3-5687-A422-C0D4-3467F95A4651}"/>
              </a:ext>
            </a:extLst>
          </p:cNvPr>
          <p:cNvSpPr/>
          <p:nvPr/>
        </p:nvSpPr>
        <p:spPr>
          <a:xfrm>
            <a:off x="3509732" y="5941040"/>
            <a:ext cx="868187" cy="242239"/>
          </a:xfrm>
          <a:prstGeom prst="rect">
            <a:avLst/>
          </a:prstGeom>
          <a:solidFill>
            <a:schemeClr val="bg2">
              <a:lumMod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800" b="1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chemeClr val="bg1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저장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C2FBFD6-ED66-7993-EEA9-A53288CACF97}"/>
              </a:ext>
            </a:extLst>
          </p:cNvPr>
          <p:cNvSpPr/>
          <p:nvPr/>
        </p:nvSpPr>
        <p:spPr>
          <a:xfrm>
            <a:off x="5527799" y="5941040"/>
            <a:ext cx="868187" cy="242239"/>
          </a:xfrm>
          <a:prstGeom prst="rect">
            <a:avLst/>
          </a:prstGeom>
          <a:solidFill>
            <a:schemeClr val="bg2">
              <a:lumMod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800" b="1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chemeClr val="bg1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닫기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CF6CE37-E948-9FC6-9475-FC0E49A2BE1C}"/>
              </a:ext>
            </a:extLst>
          </p:cNvPr>
          <p:cNvSpPr/>
          <p:nvPr/>
        </p:nvSpPr>
        <p:spPr>
          <a:xfrm>
            <a:off x="5085939" y="5060152"/>
            <a:ext cx="1609597" cy="234772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5" name="그룹 21">
            <a:extLst>
              <a:ext uri="{FF2B5EF4-FFF2-40B4-BE49-F238E27FC236}">
                <a16:creationId xmlns:a16="http://schemas.microsoft.com/office/drawing/2014/main" id="{01FCBD14-CB9F-4967-70B1-7850CAD4DEF6}"/>
              </a:ext>
            </a:extLst>
          </p:cNvPr>
          <p:cNvGrpSpPr>
            <a:grpSpLocks/>
          </p:cNvGrpSpPr>
          <p:nvPr/>
        </p:nvGrpSpPr>
        <p:grpSpPr bwMode="auto">
          <a:xfrm>
            <a:off x="1594226" y="1977390"/>
            <a:ext cx="252413" cy="165100"/>
            <a:chOff x="3125393" y="1499499"/>
            <a:chExt cx="252000" cy="165260"/>
          </a:xfrm>
        </p:grpSpPr>
        <p:sp>
          <p:nvSpPr>
            <p:cNvPr id="26" name="모서리가 둥근 사각형 설명선 321">
              <a:extLst>
                <a:ext uri="{FF2B5EF4-FFF2-40B4-BE49-F238E27FC236}">
                  <a16:creationId xmlns:a16="http://schemas.microsoft.com/office/drawing/2014/main" id="{5B06B4DB-7B3B-8784-2A26-BBB61800C37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3">
              <a:extLst>
                <a:ext uri="{FF2B5EF4-FFF2-40B4-BE49-F238E27FC236}">
                  <a16:creationId xmlns:a16="http://schemas.microsoft.com/office/drawing/2014/main" id="{9438A92E-2FCA-40E6-8AC6-4329D47D2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37" name="그룹 21">
            <a:extLst>
              <a:ext uri="{FF2B5EF4-FFF2-40B4-BE49-F238E27FC236}">
                <a16:creationId xmlns:a16="http://schemas.microsoft.com/office/drawing/2014/main" id="{0FE08831-EB7B-79FF-EDE0-D2D243DB4A4A}"/>
              </a:ext>
            </a:extLst>
          </p:cNvPr>
          <p:cNvGrpSpPr>
            <a:grpSpLocks/>
          </p:cNvGrpSpPr>
          <p:nvPr/>
        </p:nvGrpSpPr>
        <p:grpSpPr bwMode="auto">
          <a:xfrm>
            <a:off x="1456292" y="5060152"/>
            <a:ext cx="252413" cy="165100"/>
            <a:chOff x="3125393" y="1499499"/>
            <a:chExt cx="252000" cy="165260"/>
          </a:xfrm>
        </p:grpSpPr>
        <p:sp>
          <p:nvSpPr>
            <p:cNvPr id="38" name="모서리가 둥근 사각형 설명선 321">
              <a:extLst>
                <a:ext uri="{FF2B5EF4-FFF2-40B4-BE49-F238E27FC236}">
                  <a16:creationId xmlns:a16="http://schemas.microsoft.com/office/drawing/2014/main" id="{8C889442-3C80-69A6-888C-D30F2E34991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TextBox 23">
              <a:extLst>
                <a:ext uri="{FF2B5EF4-FFF2-40B4-BE49-F238E27FC236}">
                  <a16:creationId xmlns:a16="http://schemas.microsoft.com/office/drawing/2014/main" id="{06742D4D-36FC-4E01-83B7-FDF0D6F2AD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grpSp>
        <p:nvGrpSpPr>
          <p:cNvPr id="40" name="그룹 21">
            <a:extLst>
              <a:ext uri="{FF2B5EF4-FFF2-40B4-BE49-F238E27FC236}">
                <a16:creationId xmlns:a16="http://schemas.microsoft.com/office/drawing/2014/main" id="{4B305463-72DA-CD4F-DC63-067294478969}"/>
              </a:ext>
            </a:extLst>
          </p:cNvPr>
          <p:cNvGrpSpPr>
            <a:grpSpLocks/>
          </p:cNvGrpSpPr>
          <p:nvPr/>
        </p:nvGrpSpPr>
        <p:grpSpPr bwMode="auto">
          <a:xfrm>
            <a:off x="3509732" y="5689560"/>
            <a:ext cx="252413" cy="165100"/>
            <a:chOff x="3125393" y="1499499"/>
            <a:chExt cx="252000" cy="165260"/>
          </a:xfrm>
        </p:grpSpPr>
        <p:sp>
          <p:nvSpPr>
            <p:cNvPr id="41" name="모서리가 둥근 사각형 설명선 321">
              <a:extLst>
                <a:ext uri="{FF2B5EF4-FFF2-40B4-BE49-F238E27FC236}">
                  <a16:creationId xmlns:a16="http://schemas.microsoft.com/office/drawing/2014/main" id="{61A0739D-20C5-9F85-DF23-84D91B3043A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" name="TextBox 23">
              <a:extLst>
                <a:ext uri="{FF2B5EF4-FFF2-40B4-BE49-F238E27FC236}">
                  <a16:creationId xmlns:a16="http://schemas.microsoft.com/office/drawing/2014/main" id="{6EE80AFA-72E2-76F6-FF8C-87E32AD6E4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grpSp>
        <p:nvGrpSpPr>
          <p:cNvPr id="43" name="그룹 21">
            <a:extLst>
              <a:ext uri="{FF2B5EF4-FFF2-40B4-BE49-F238E27FC236}">
                <a16:creationId xmlns:a16="http://schemas.microsoft.com/office/drawing/2014/main" id="{EF1E9169-90C3-D2B8-3634-8619D5B0B0F0}"/>
              </a:ext>
            </a:extLst>
          </p:cNvPr>
          <p:cNvGrpSpPr>
            <a:grpSpLocks/>
          </p:cNvGrpSpPr>
          <p:nvPr/>
        </p:nvGrpSpPr>
        <p:grpSpPr bwMode="auto">
          <a:xfrm>
            <a:off x="6200288" y="5427567"/>
            <a:ext cx="252413" cy="165100"/>
            <a:chOff x="3125393" y="1499499"/>
            <a:chExt cx="252000" cy="165260"/>
          </a:xfrm>
        </p:grpSpPr>
        <p:sp>
          <p:nvSpPr>
            <p:cNvPr id="44" name="모서리가 둥근 사각형 설명선 321">
              <a:extLst>
                <a:ext uri="{FF2B5EF4-FFF2-40B4-BE49-F238E27FC236}">
                  <a16:creationId xmlns:a16="http://schemas.microsoft.com/office/drawing/2014/main" id="{A5DA8B02-3D42-9F44-02B6-9FADC859F3C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TextBox 23">
              <a:extLst>
                <a:ext uri="{FF2B5EF4-FFF2-40B4-BE49-F238E27FC236}">
                  <a16:creationId xmlns:a16="http://schemas.microsoft.com/office/drawing/2014/main" id="{DA808C87-4B56-A016-BE21-EF5FB1A49E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01610A92-FEDC-7E97-9302-EA376D1461D1}"/>
              </a:ext>
            </a:extLst>
          </p:cNvPr>
          <p:cNvSpPr txBox="1"/>
          <p:nvPr/>
        </p:nvSpPr>
        <p:spPr bwMode="auto">
          <a:xfrm>
            <a:off x="1738218" y="3125421"/>
            <a:ext cx="1020882" cy="261117"/>
          </a:xfrm>
          <a:prstGeom prst="rect">
            <a:avLst/>
          </a:prstGeom>
          <a:solidFill>
            <a:srgbClr val="E2F0D4"/>
          </a:solidFill>
          <a:ln>
            <a:solidFill>
              <a:srgbClr val="DDDDDD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marL="0" indent="0" algn="ctr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700" dirty="0" err="1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FF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미준수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FF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사유 선택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AB0F3970-F111-D302-6486-2018E605882F}"/>
              </a:ext>
            </a:extLst>
          </p:cNvPr>
          <p:cNvSpPr txBox="1"/>
          <p:nvPr/>
        </p:nvSpPr>
        <p:spPr bwMode="auto">
          <a:xfrm>
            <a:off x="1738218" y="3398743"/>
            <a:ext cx="1020882" cy="767573"/>
          </a:xfrm>
          <a:prstGeom prst="rect">
            <a:avLst/>
          </a:prstGeom>
          <a:solidFill>
            <a:srgbClr val="E2F0D4"/>
          </a:solidFill>
          <a:ln>
            <a:solidFill>
              <a:srgbClr val="DDDDDD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marL="0" indent="0" algn="ctr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FF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사유 세부 작성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0DB87EB-2D1F-960B-AED9-9E5951F20628}"/>
              </a:ext>
            </a:extLst>
          </p:cNvPr>
          <p:cNvSpPr txBox="1"/>
          <p:nvPr/>
        </p:nvSpPr>
        <p:spPr bwMode="auto">
          <a:xfrm>
            <a:off x="1738218" y="4158685"/>
            <a:ext cx="1020882" cy="261117"/>
          </a:xfrm>
          <a:prstGeom prst="rect">
            <a:avLst/>
          </a:prstGeom>
          <a:solidFill>
            <a:srgbClr val="E2F0D4"/>
          </a:solidFill>
          <a:ln>
            <a:solidFill>
              <a:srgbClr val="DDDDDD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marL="0" indent="0" algn="ctr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FF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검토 미완료 항목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4D8B8D5-BACD-C6FB-8234-522598CCE5C3}"/>
              </a:ext>
            </a:extLst>
          </p:cNvPr>
          <p:cNvSpPr txBox="1"/>
          <p:nvPr/>
        </p:nvSpPr>
        <p:spPr bwMode="auto">
          <a:xfrm>
            <a:off x="1745068" y="4429159"/>
            <a:ext cx="1020882" cy="741450"/>
          </a:xfrm>
          <a:prstGeom prst="rect">
            <a:avLst/>
          </a:prstGeom>
          <a:solidFill>
            <a:srgbClr val="E2F0D4"/>
          </a:solidFill>
          <a:ln>
            <a:solidFill>
              <a:srgbClr val="DDDDDD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marL="0" indent="0" algn="ctr"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buNone/>
            </a:pP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FF000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요청사항 작성</a:t>
            </a:r>
          </a:p>
        </p:txBody>
      </p:sp>
      <p:grpSp>
        <p:nvGrpSpPr>
          <p:cNvPr id="63" name="그룹 21">
            <a:extLst>
              <a:ext uri="{FF2B5EF4-FFF2-40B4-BE49-F238E27FC236}">
                <a16:creationId xmlns:a16="http://schemas.microsoft.com/office/drawing/2014/main" id="{53145DD3-F650-B0B0-D7EE-C15556C05400}"/>
              </a:ext>
            </a:extLst>
          </p:cNvPr>
          <p:cNvGrpSpPr>
            <a:grpSpLocks/>
          </p:cNvGrpSpPr>
          <p:nvPr/>
        </p:nvGrpSpPr>
        <p:grpSpPr bwMode="auto">
          <a:xfrm>
            <a:off x="1576440" y="3062440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C4EC28B4-50E0-12A4-0514-0478AE1E806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3757C88A-02F1-C881-2E49-5E62A7F50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28" name="그룹 21">
            <a:extLst>
              <a:ext uri="{FF2B5EF4-FFF2-40B4-BE49-F238E27FC236}">
                <a16:creationId xmlns:a16="http://schemas.microsoft.com/office/drawing/2014/main" id="{75B69CD7-5323-C17D-345F-5E51A2D2B549}"/>
              </a:ext>
            </a:extLst>
          </p:cNvPr>
          <p:cNvGrpSpPr>
            <a:grpSpLocks/>
          </p:cNvGrpSpPr>
          <p:nvPr/>
        </p:nvGrpSpPr>
        <p:grpSpPr bwMode="auto">
          <a:xfrm>
            <a:off x="1582879" y="3380287"/>
            <a:ext cx="252413" cy="165100"/>
            <a:chOff x="3125393" y="1499499"/>
            <a:chExt cx="252000" cy="165260"/>
          </a:xfrm>
        </p:grpSpPr>
        <p:sp>
          <p:nvSpPr>
            <p:cNvPr id="29" name="모서리가 둥근 사각형 설명선 321">
              <a:extLst>
                <a:ext uri="{FF2B5EF4-FFF2-40B4-BE49-F238E27FC236}">
                  <a16:creationId xmlns:a16="http://schemas.microsoft.com/office/drawing/2014/main" id="{04B98191-1A1B-0285-6419-AE2CE869915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3">
              <a:extLst>
                <a:ext uri="{FF2B5EF4-FFF2-40B4-BE49-F238E27FC236}">
                  <a16:creationId xmlns:a16="http://schemas.microsoft.com/office/drawing/2014/main" id="{94C959A5-7B44-F949-8087-3042EAB81B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31" name="그룹 21">
            <a:extLst>
              <a:ext uri="{FF2B5EF4-FFF2-40B4-BE49-F238E27FC236}">
                <a16:creationId xmlns:a16="http://schemas.microsoft.com/office/drawing/2014/main" id="{D38F5CFD-2426-753E-F5D9-5B1976290C54}"/>
              </a:ext>
            </a:extLst>
          </p:cNvPr>
          <p:cNvGrpSpPr>
            <a:grpSpLocks/>
          </p:cNvGrpSpPr>
          <p:nvPr/>
        </p:nvGrpSpPr>
        <p:grpSpPr bwMode="auto">
          <a:xfrm>
            <a:off x="1582879" y="4100488"/>
            <a:ext cx="252413" cy="165100"/>
            <a:chOff x="3125393" y="1499499"/>
            <a:chExt cx="252000" cy="165260"/>
          </a:xfrm>
        </p:grpSpPr>
        <p:sp>
          <p:nvSpPr>
            <p:cNvPr id="32" name="모서리가 둥근 사각형 설명선 321">
              <a:extLst>
                <a:ext uri="{FF2B5EF4-FFF2-40B4-BE49-F238E27FC236}">
                  <a16:creationId xmlns:a16="http://schemas.microsoft.com/office/drawing/2014/main" id="{7CA3AE1D-4FC1-06D0-5B95-9D7C31BE53C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23">
              <a:extLst>
                <a:ext uri="{FF2B5EF4-FFF2-40B4-BE49-F238E27FC236}">
                  <a16:creationId xmlns:a16="http://schemas.microsoft.com/office/drawing/2014/main" id="{19CC9AD2-4F8F-DBDD-1B71-FF9D587B8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grpSp>
        <p:nvGrpSpPr>
          <p:cNvPr id="34" name="그룹 21">
            <a:extLst>
              <a:ext uri="{FF2B5EF4-FFF2-40B4-BE49-F238E27FC236}">
                <a16:creationId xmlns:a16="http://schemas.microsoft.com/office/drawing/2014/main" id="{7C1C3234-1376-7535-01BD-2AEFF6C8958F}"/>
              </a:ext>
            </a:extLst>
          </p:cNvPr>
          <p:cNvGrpSpPr>
            <a:grpSpLocks/>
          </p:cNvGrpSpPr>
          <p:nvPr/>
        </p:nvGrpSpPr>
        <p:grpSpPr bwMode="auto">
          <a:xfrm>
            <a:off x="1582879" y="4611712"/>
            <a:ext cx="252413" cy="165100"/>
            <a:chOff x="3125393" y="1499499"/>
            <a:chExt cx="252000" cy="165260"/>
          </a:xfrm>
        </p:grpSpPr>
        <p:sp>
          <p:nvSpPr>
            <p:cNvPr id="35" name="모서리가 둥근 사각형 설명선 321">
              <a:extLst>
                <a:ext uri="{FF2B5EF4-FFF2-40B4-BE49-F238E27FC236}">
                  <a16:creationId xmlns:a16="http://schemas.microsoft.com/office/drawing/2014/main" id="{FE34791F-E982-CC19-F982-1941E86C3A9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ED56223F-636A-B59B-EB5A-B3A13BC9FD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A17A3DEE-744B-6569-BFAE-BB507FDE22C2}"/>
              </a:ext>
            </a:extLst>
          </p:cNvPr>
          <p:cNvSpPr/>
          <p:nvPr/>
        </p:nvSpPr>
        <p:spPr bwMode="auto">
          <a:xfrm>
            <a:off x="2759100" y="3393802"/>
            <a:ext cx="5713021" cy="767573"/>
          </a:xfrm>
          <a:prstGeom prst="rect">
            <a:avLst/>
          </a:prstGeom>
          <a:solidFill>
            <a:schemeClr val="bg1"/>
          </a:solidFill>
          <a:ln w="1587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50764FF-8C8B-AD02-4DA4-FF1E29D7572D}"/>
              </a:ext>
            </a:extLst>
          </p:cNvPr>
          <p:cNvSpPr/>
          <p:nvPr/>
        </p:nvSpPr>
        <p:spPr bwMode="auto">
          <a:xfrm>
            <a:off x="2772800" y="4426678"/>
            <a:ext cx="5713021" cy="767573"/>
          </a:xfrm>
          <a:prstGeom prst="rect">
            <a:avLst/>
          </a:prstGeom>
          <a:solidFill>
            <a:schemeClr val="bg1"/>
          </a:solidFill>
          <a:ln w="1587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E9F1972-E2A3-63F2-0B18-63DB838B296F}"/>
              </a:ext>
            </a:extLst>
          </p:cNvPr>
          <p:cNvSpPr txBox="1"/>
          <p:nvPr/>
        </p:nvSpPr>
        <p:spPr>
          <a:xfrm>
            <a:off x="4432874" y="5689560"/>
            <a:ext cx="114326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2025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</a:t>
            </a:r>
          </a:p>
        </p:txBody>
      </p:sp>
      <p:grpSp>
        <p:nvGrpSpPr>
          <p:cNvPr id="15" name="그룹 21">
            <a:extLst>
              <a:ext uri="{FF2B5EF4-FFF2-40B4-BE49-F238E27FC236}">
                <a16:creationId xmlns:a16="http://schemas.microsoft.com/office/drawing/2014/main" id="{B3E99548-99A7-564F-349A-D1D8BB62FBD6}"/>
              </a:ext>
            </a:extLst>
          </p:cNvPr>
          <p:cNvGrpSpPr>
            <a:grpSpLocks/>
          </p:cNvGrpSpPr>
          <p:nvPr/>
        </p:nvGrpSpPr>
        <p:grpSpPr bwMode="auto">
          <a:xfrm>
            <a:off x="4298893" y="5642833"/>
            <a:ext cx="252412" cy="165100"/>
            <a:chOff x="3125399" y="1499499"/>
            <a:chExt cx="252000" cy="165260"/>
          </a:xfrm>
        </p:grpSpPr>
        <p:sp>
          <p:nvSpPr>
            <p:cNvPr id="20" name="모서리가 둥근 사각형 설명선 321">
              <a:extLst>
                <a:ext uri="{FF2B5EF4-FFF2-40B4-BE49-F238E27FC236}">
                  <a16:creationId xmlns:a16="http://schemas.microsoft.com/office/drawing/2014/main" id="{1D8E6112-9F45-2087-AAC9-BF12B623371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TextBox 23">
              <a:extLst>
                <a:ext uri="{FF2B5EF4-FFF2-40B4-BE49-F238E27FC236}">
                  <a16:creationId xmlns:a16="http://schemas.microsoft.com/office/drawing/2014/main" id="{99BDB8ED-991D-D948-D93B-B77916BF4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7690816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7B9EDF-8DF2-E4B3-92D7-8FF65DA41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BF023C17-4E81-A0C6-C762-44A583BA1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4379471"/>
              </p:ext>
            </p:extLst>
          </p:nvPr>
        </p:nvGraphicFramePr>
        <p:xfrm>
          <a:off x="254000" y="1343534"/>
          <a:ext cx="11691939" cy="1615320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NNCMPL_YN(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 SFTY_XMNT_NNCMPL_RSN_INFO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미준수사유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4FDCD0F5-57DD-D275-ECA5-7319469E51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60287AB3-5FEB-D3C9-CD2D-A6B9D759CF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44" y="4713592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326B9E26-BE5E-B92A-380F-CEB8710EB368}"/>
              </a:ext>
            </a:extLst>
          </p:cNvPr>
          <p:cNvGraphicFramePr>
            <a:graphicFrameLocks noGrp="1"/>
          </p:cNvGraphicFramePr>
          <p:nvPr/>
        </p:nvGraphicFramePr>
        <p:xfrm>
          <a:off x="256313" y="4977760"/>
          <a:ext cx="11710849" cy="115380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6BB135D2-58CD-B459-6BB0-A6657E6760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175985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사유서를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484903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48A22-91F9-62DE-EE87-BA1D1E46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70FAB391-7E65-E894-DA02-21CE8DA889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7184211"/>
              </p:ext>
            </p:extLst>
          </p:nvPr>
        </p:nvGraphicFramePr>
        <p:xfrm>
          <a:off x="254000" y="1343534"/>
          <a:ext cx="11698679" cy="172149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042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8255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선택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미완료 항목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규정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 선택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상품 스펙 확정 지연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20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긴급 원료 변경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수급 등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30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 발급 지연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 부적합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성적서 등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50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협력사 대응 미흡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60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규정 검토 미완료 항목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규격서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품보서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표시사항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 성적서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완제품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70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영양성분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80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신고서류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2195A3F8-A1C4-2899-A30E-E43D0F5CB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4209A6AF-C315-0358-3CDC-CE3687377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5051582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2CA99DF-D871-A22B-A98E-52BF0ACEA4F0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5315750"/>
          <a:ext cx="11698678" cy="9230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833E0482-8206-537D-1B64-F6EE38C5FD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175985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사유서를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9553983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3FD302-DBFD-6B1D-F083-2715ADF235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4AC67D4F-32A0-50AC-83AD-C9DF99A8AE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1947373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 출력 조건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식품의 ‘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제품분류’에서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‘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신제품’만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사유 팝업 적용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사유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미준수구분코드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(10)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과 선택한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미준수사유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코드들을 해당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안전섬검토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번호와 같이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SFTY_XMNT_NNCMPL_RSN_INFO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insert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사유 상세 내용도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DTL_RSN_CONT(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세부상유내용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insert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 미완료 항목처리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검토 미완료 항목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(20)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과 선택한 검토 미완료 항목 코드들을 해당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안전섬검토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번호와 같이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SFTY_XMNT_NNCMPL_RSN_INFO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insert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검토 미완료 항목 요청사항 작성 내용도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REQ_MTR_CONT(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요청사항내용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insert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 및 이메일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저장클릭 시 관리자에서 등록한 임원리스트와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+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검토부서전체에게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메일 발송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4799D78E-87C5-AA32-FD0E-F5BA8D0880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175985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9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사유서를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E28B83C-E8A3-9F0F-0035-45C8C52F3FAD}"/>
              </a:ext>
            </a:extLst>
          </p:cNvPr>
          <p:cNvSpPr txBox="1"/>
          <p:nvPr/>
        </p:nvSpPr>
        <p:spPr>
          <a:xfrm>
            <a:off x="4934138" y="3429000"/>
            <a:ext cx="4897924" cy="553998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ko-KR" altLang="en-US" sz="1000" b="0" i="0" u="none" strike="noStrike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문구 </a:t>
            </a:r>
            <a:r>
              <a:rPr lang="en-US" altLang="ko-KR" sz="1000" b="0" i="0" u="none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: "</a:t>
            </a:r>
            <a:r>
              <a:rPr lang="en-US" altLang="ko-KR" sz="1000" b="0" i="0" u="sng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SKU 0000000000000 SKU</a:t>
            </a:r>
            <a:r>
              <a:rPr lang="ko-KR" altLang="en-US" sz="1000" b="0" i="0" u="sng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r>
              <a:rPr lang="ko-KR" altLang="en-US" sz="1000" b="0" i="0" u="none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의 안전성 검토 요청 기한을 초과하였습니다</a:t>
            </a:r>
            <a:r>
              <a:rPr lang="en-US" altLang="ko-KR" sz="1000" b="0" i="0" u="none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br>
              <a:rPr lang="en-US" altLang="ko-KR" sz="1000" b="0" i="0" u="none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1000" b="0" i="0" u="none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항목별 첨부파일 내용에 따라 출시에 영향을 줄 수 있습니다</a:t>
            </a:r>
            <a:r>
              <a:rPr lang="en-US" altLang="ko-KR" sz="1000" b="0" i="0" u="none" strike="noStrike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."</a:t>
            </a:r>
            <a:br>
              <a:rPr lang="en-US" altLang="ko-KR" sz="1000" b="0" i="0" u="none" strike="noStrike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1000" b="0" i="0" u="none" strike="noStrike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내용 </a:t>
            </a:r>
            <a:r>
              <a:rPr lang="en-US" altLang="ko-KR" sz="1000" b="0" i="0" u="none" strike="noStrike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000" b="0" i="0" u="none" strike="noStrike" dirty="0" err="1">
                <a:solidFill>
                  <a:srgbClr val="0070C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r>
              <a:rPr lang="ko-KR" altLang="en-US" sz="1000" b="0" i="0" u="none" strike="noStrike" dirty="0">
                <a:solidFill>
                  <a:srgbClr val="0070C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사유서 팝업 화면 그대로 전달</a:t>
            </a:r>
            <a:r>
              <a:rPr lang="ko-KR" altLang="en-US" sz="1000" dirty="0">
                <a:solidFill>
                  <a:srgbClr val="0070C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0252086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9907DE-B960-33EF-F9CE-5F84C181C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565E09B7-A99E-C904-7CF5-81FF8122B6D2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5C537693-8439-58E9-5B71-33FEC79597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457385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에브리데이고딕 R" panose="02020603020101020101" pitchFamily="18" charset="-127"/>
                          <a:ea typeface="에브리데이고딕 R" panose="02020603020101020101" pitchFamily="18" charset="-127"/>
                          <a:cs typeface="+mn-cs"/>
                        </a:rPr>
                        <a:t>소비기한 일수 계산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에브리데이고딕 R" panose="02020603020101020101" pitchFamily="18" charset="-127"/>
                          <a:ea typeface="에브리데이고딕 R" panose="02020603020101020101" pitchFamily="18" charset="-127"/>
                          <a:cs typeface="+mn-cs"/>
                        </a:rPr>
                        <a:t>소비기한 일수 계산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 수 있는 팝업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D97DFACB-652F-71A8-8E48-A3CF15AEB94C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FDE571F0-67E1-05E2-7C65-C98E073E2EFC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D359E98F-3CA0-95B3-5FF0-E63C1E344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4920656"/>
              </p:ext>
            </p:extLst>
          </p:nvPr>
        </p:nvGraphicFramePr>
        <p:xfrm>
          <a:off x="9860045" y="1664954"/>
          <a:ext cx="2066563" cy="2506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sng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1" lang="en-US" altLang="ko-KR" sz="700" b="0" i="0" u="sng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sng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단위의 소비기한 입력 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일 단위로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자동환산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로직 적용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입력 기준을 선택한다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월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(07/10)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단위변경시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입력값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초기화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입력부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정수입력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마이너스 값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특수문자 모두 차단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팝업 사라지며 계산된 값을 소비기한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일수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란에 출력하고 저장한다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= 30.4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소수점 첫째자리에서 반올림 함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0000CC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(07.10)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소비기한 환산 일수의 최대값은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9999</a:t>
                      </a:r>
                      <a:r>
                        <a:rPr lang="ko-KR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</a:t>
                      </a:r>
                      <a:r>
                        <a:rPr lang="ko-KR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자리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r>
                        <a:rPr lang="ko-KR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직접입력 선택하여 일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환산하여 나온 일수가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9999</a:t>
                      </a:r>
                      <a:r>
                        <a:rPr lang="ko-KR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를 넘으면 알림 메시지 팝업 호출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하여 입력하지 않는다</a:t>
                      </a:r>
                      <a:endParaRPr lang="ko-KR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261244"/>
                  </a:ext>
                </a:extLst>
              </a:tr>
            </a:tbl>
          </a:graphicData>
        </a:graphic>
      </p:graphicFrame>
      <p:sp>
        <p:nvSpPr>
          <p:cNvPr id="3" name="직사각형 23">
            <a:extLst>
              <a:ext uri="{FF2B5EF4-FFF2-40B4-BE49-F238E27FC236}">
                <a16:creationId xmlns:a16="http://schemas.microsoft.com/office/drawing/2014/main" id="{6CE8BE1D-B1F4-9A69-156B-6BB18182C1E9}"/>
              </a:ext>
            </a:extLst>
          </p:cNvPr>
          <p:cNvSpPr/>
          <p:nvPr/>
        </p:nvSpPr>
        <p:spPr>
          <a:xfrm>
            <a:off x="2386025" y="1622779"/>
            <a:ext cx="3300588" cy="162644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89DA6B7-4EF2-7014-C181-61AF1975B73B}"/>
              </a:ext>
            </a:extLst>
          </p:cNvPr>
          <p:cNvSpPr/>
          <p:nvPr/>
        </p:nvSpPr>
        <p:spPr bwMode="auto">
          <a:xfrm>
            <a:off x="2386024" y="1622780"/>
            <a:ext cx="3300673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effectLst/>
                <a:uLnTx/>
                <a:uFillTx/>
                <a:latin typeface="에브리데이고딕 R" panose="02020603020101020101" pitchFamily="18" charset="-127"/>
                <a:ea typeface="에브리데이고딕 R" panose="02020603020101020101" pitchFamily="18" charset="-127"/>
                <a:cs typeface="+mn-cs"/>
              </a:rPr>
              <a:t>소비기한 일수 계산 </a:t>
            </a:r>
            <a:endParaRPr lang="en-US" altLang="ko-KR" sz="10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십자형 6">
            <a:extLst>
              <a:ext uri="{FF2B5EF4-FFF2-40B4-BE49-F238E27FC236}">
                <a16:creationId xmlns:a16="http://schemas.microsoft.com/office/drawing/2014/main" id="{21F7A850-208A-BD90-B91A-D295C43DC650}"/>
              </a:ext>
            </a:extLst>
          </p:cNvPr>
          <p:cNvSpPr/>
          <p:nvPr/>
        </p:nvSpPr>
        <p:spPr>
          <a:xfrm rot="2700000" flipV="1">
            <a:off x="5438238" y="1693002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모서리가 둥근 직사각형 55">
            <a:extLst>
              <a:ext uri="{FF2B5EF4-FFF2-40B4-BE49-F238E27FC236}">
                <a16:creationId xmlns:a16="http://schemas.microsoft.com/office/drawing/2014/main" id="{071F846A-C5CD-5638-1B07-759818095942}"/>
              </a:ext>
            </a:extLst>
          </p:cNvPr>
          <p:cNvSpPr/>
          <p:nvPr/>
        </p:nvSpPr>
        <p:spPr>
          <a:xfrm>
            <a:off x="4967780" y="2269673"/>
            <a:ext cx="547082" cy="20817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저장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1CEF0E1-38B6-FBEC-0C8A-27AB7D7C6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6046" y="2260641"/>
            <a:ext cx="811344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선택</a:t>
            </a:r>
            <a:r>
              <a:rPr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일</a:t>
            </a:r>
            <a:r>
              <a:rPr lang="en-US" altLang="ko-KR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월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년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6" name="Picture 103">
            <a:extLst>
              <a:ext uri="{FF2B5EF4-FFF2-40B4-BE49-F238E27FC236}">
                <a16:creationId xmlns:a16="http://schemas.microsoft.com/office/drawing/2014/main" id="{6CE928CD-C197-1A11-EAB3-AC1C050A3D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 t="15633" r="9297"/>
          <a:stretch>
            <a:fillRect/>
          </a:stretch>
        </p:blipFill>
        <p:spPr bwMode="auto">
          <a:xfrm>
            <a:off x="3921395" y="2313051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540BE1F3-D0A9-7FF4-B006-1A945D6535A9}"/>
              </a:ext>
            </a:extLst>
          </p:cNvPr>
          <p:cNvSpPr/>
          <p:nvPr/>
        </p:nvSpPr>
        <p:spPr bwMode="auto">
          <a:xfrm>
            <a:off x="2669145" y="2260641"/>
            <a:ext cx="636901" cy="226238"/>
          </a:xfrm>
          <a:prstGeom prst="rect">
            <a:avLst/>
          </a:prstGeom>
          <a:solidFill>
            <a:srgbClr val="E2EAD5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kumimoji="1" lang="ko-KR" altLang="en-US" sz="600" b="0" i="0" u="none" strike="noStrike" cap="none" normalizeH="0" baseline="0" dirty="0">
                <a:ln>
                  <a:noFill/>
                </a:ln>
                <a:effectLst/>
                <a:latin typeface="맑은 고딕" pitchFamily="50" charset="-127"/>
                <a:ea typeface="맑은 고딕" pitchFamily="50" charset="-127"/>
              </a:rPr>
              <a:t>단위선택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B317528-506B-4B04-42C7-535EEC786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389" y="2260641"/>
            <a:ext cx="856123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89B0A44-A99B-EA28-5870-3D459CE9025A}"/>
              </a:ext>
            </a:extLst>
          </p:cNvPr>
          <p:cNvSpPr txBox="1"/>
          <p:nvPr/>
        </p:nvSpPr>
        <p:spPr bwMode="auto">
          <a:xfrm>
            <a:off x="2725305" y="2627206"/>
            <a:ext cx="2876408" cy="3569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 anchor="t">
            <a:spAutoFit/>
          </a:bodyPr>
          <a:lstStyle/>
          <a:p>
            <a:pPr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tabLst>
                <a:tab pos="0" algn="l"/>
              </a:tabLst>
            </a:pP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※ 3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개월 적용 예시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: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단위는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“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월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“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선택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&amp;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소비기한은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“3”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입력 시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, </a:t>
            </a:r>
          </a:p>
          <a:p>
            <a:pPr defTabSz="371464" fontAlgn="base">
              <a:lnSpc>
                <a:spcPct val="130000"/>
              </a:lnSpc>
              <a:spcAft>
                <a:spcPct val="0"/>
              </a:spcAft>
              <a:buClr>
                <a:srgbClr val="000000">
                  <a:lumMod val="75000"/>
                  <a:lumOff val="25000"/>
                </a:srgbClr>
              </a:buClr>
              <a:tabLst>
                <a:tab pos="0" algn="l"/>
              </a:tabLst>
            </a:pPr>
            <a:r>
              <a:rPr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   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일자는 </a:t>
            </a:r>
            <a:r>
              <a:rPr kumimoji="1" lang="en-US" altLang="ko-KR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91</a:t>
            </a:r>
            <a:r>
              <a:rPr kumimoji="1" lang="ko-KR" altLang="en-US" sz="700" dirty="0">
                <a:ln>
                  <a:solidFill>
                    <a:srgbClr val="000000">
                      <a:alpha val="20000"/>
                    </a:srgbClr>
                  </a:solidFill>
                </a:ln>
                <a:solidFill>
                  <a:srgbClr val="404040"/>
                </a:solidFill>
                <a:latin typeface="에브리데이고딕 R" panose="02020603020101020101" pitchFamily="18" charset="-127"/>
                <a:ea typeface="에브리데이고딕 R" panose="02020603020101020101" pitchFamily="18" charset="-127"/>
              </a:rPr>
              <a:t>일로 계산됨</a:t>
            </a:r>
          </a:p>
        </p:txBody>
      </p:sp>
      <p:grpSp>
        <p:nvGrpSpPr>
          <p:cNvPr id="54" name="그룹 21">
            <a:extLst>
              <a:ext uri="{FF2B5EF4-FFF2-40B4-BE49-F238E27FC236}">
                <a16:creationId xmlns:a16="http://schemas.microsoft.com/office/drawing/2014/main" id="{3E77E165-1916-9643-0071-6A9E004721DE}"/>
              </a:ext>
            </a:extLst>
          </p:cNvPr>
          <p:cNvGrpSpPr>
            <a:grpSpLocks/>
          </p:cNvGrpSpPr>
          <p:nvPr/>
        </p:nvGrpSpPr>
        <p:grpSpPr bwMode="auto">
          <a:xfrm>
            <a:off x="3103249" y="2020861"/>
            <a:ext cx="252413" cy="165100"/>
            <a:chOff x="3125393" y="1499499"/>
            <a:chExt cx="252000" cy="165260"/>
          </a:xfrm>
        </p:grpSpPr>
        <p:sp>
          <p:nvSpPr>
            <p:cNvPr id="55" name="모서리가 둥근 사각형 설명선 321">
              <a:extLst>
                <a:ext uri="{FF2B5EF4-FFF2-40B4-BE49-F238E27FC236}">
                  <a16:creationId xmlns:a16="http://schemas.microsoft.com/office/drawing/2014/main" id="{711DD2C8-07E2-B1E8-2CC0-1304EC03A69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23">
              <a:extLst>
                <a:ext uri="{FF2B5EF4-FFF2-40B4-BE49-F238E27FC236}">
                  <a16:creationId xmlns:a16="http://schemas.microsoft.com/office/drawing/2014/main" id="{5C51A409-EACB-B977-5091-770910FC5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24" name="그룹 21">
            <a:extLst>
              <a:ext uri="{FF2B5EF4-FFF2-40B4-BE49-F238E27FC236}">
                <a16:creationId xmlns:a16="http://schemas.microsoft.com/office/drawing/2014/main" id="{A5B80CBE-F721-21B8-DB88-6D145C067760}"/>
              </a:ext>
            </a:extLst>
          </p:cNvPr>
          <p:cNvGrpSpPr>
            <a:grpSpLocks/>
          </p:cNvGrpSpPr>
          <p:nvPr/>
        </p:nvGrpSpPr>
        <p:grpSpPr bwMode="auto">
          <a:xfrm>
            <a:off x="4167006" y="2128452"/>
            <a:ext cx="252413" cy="165100"/>
            <a:chOff x="3125393" y="1499499"/>
            <a:chExt cx="252000" cy="165260"/>
          </a:xfrm>
        </p:grpSpPr>
        <p:sp>
          <p:nvSpPr>
            <p:cNvPr id="26" name="모서리가 둥근 사각형 설명선 321">
              <a:extLst>
                <a:ext uri="{FF2B5EF4-FFF2-40B4-BE49-F238E27FC236}">
                  <a16:creationId xmlns:a16="http://schemas.microsoft.com/office/drawing/2014/main" id="{231E1179-99FE-F349-6CC5-9C918C99F31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3">
              <a:extLst>
                <a:ext uri="{FF2B5EF4-FFF2-40B4-BE49-F238E27FC236}">
                  <a16:creationId xmlns:a16="http://schemas.microsoft.com/office/drawing/2014/main" id="{1B1C09C0-1C9A-EBC2-9570-9923971C3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28" name="그룹 21">
            <a:extLst>
              <a:ext uri="{FF2B5EF4-FFF2-40B4-BE49-F238E27FC236}">
                <a16:creationId xmlns:a16="http://schemas.microsoft.com/office/drawing/2014/main" id="{A4172E1D-829F-AAA9-9B0A-6543E069C149}"/>
              </a:ext>
            </a:extLst>
          </p:cNvPr>
          <p:cNvGrpSpPr>
            <a:grpSpLocks/>
          </p:cNvGrpSpPr>
          <p:nvPr/>
        </p:nvGrpSpPr>
        <p:grpSpPr bwMode="auto">
          <a:xfrm>
            <a:off x="5087654" y="2085747"/>
            <a:ext cx="252413" cy="165100"/>
            <a:chOff x="3125393" y="1499499"/>
            <a:chExt cx="252000" cy="165260"/>
          </a:xfrm>
        </p:grpSpPr>
        <p:sp>
          <p:nvSpPr>
            <p:cNvPr id="29" name="모서리가 둥근 사각형 설명선 321">
              <a:extLst>
                <a:ext uri="{FF2B5EF4-FFF2-40B4-BE49-F238E27FC236}">
                  <a16:creationId xmlns:a16="http://schemas.microsoft.com/office/drawing/2014/main" id="{EFC2632E-D343-3E5E-D51D-58260A362DE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23">
              <a:extLst>
                <a:ext uri="{FF2B5EF4-FFF2-40B4-BE49-F238E27FC236}">
                  <a16:creationId xmlns:a16="http://schemas.microsoft.com/office/drawing/2014/main" id="{D78F96CB-B262-9743-E841-206AA7922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sp>
        <p:nvSpPr>
          <p:cNvPr id="14" name="모서리가 둥근 직사각형 55">
            <a:extLst>
              <a:ext uri="{FF2B5EF4-FFF2-40B4-BE49-F238E27FC236}">
                <a16:creationId xmlns:a16="http://schemas.microsoft.com/office/drawing/2014/main" id="{D43EBCEA-4506-1E1C-C9C4-5CFD26D34369}"/>
              </a:ext>
            </a:extLst>
          </p:cNvPr>
          <p:cNvSpPr/>
          <p:nvPr/>
        </p:nvSpPr>
        <p:spPr>
          <a:xfrm>
            <a:off x="4996209" y="2992456"/>
            <a:ext cx="547082" cy="20817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sp>
        <p:nvSpPr>
          <p:cNvPr id="2" name="양쪽 모서리가 둥근 사각형 56">
            <a:extLst>
              <a:ext uri="{FF2B5EF4-FFF2-40B4-BE49-F238E27FC236}">
                <a16:creationId xmlns:a16="http://schemas.microsoft.com/office/drawing/2014/main" id="{F103160B-C931-A2C4-335D-B692ED0D4138}"/>
              </a:ext>
            </a:extLst>
          </p:cNvPr>
          <p:cNvSpPr/>
          <p:nvPr/>
        </p:nvSpPr>
        <p:spPr>
          <a:xfrm>
            <a:off x="7429395" y="4734004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환산 일 수가 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9,999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 이상입니다 확인하시기 바랍니다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..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1BA7730-F9AB-EB65-F921-8577323926E9}"/>
              </a:ext>
            </a:extLst>
          </p:cNvPr>
          <p:cNvSpPr/>
          <p:nvPr/>
        </p:nvSpPr>
        <p:spPr>
          <a:xfrm>
            <a:off x="7429395" y="5283026"/>
            <a:ext cx="144752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" name="그룹 21">
            <a:extLst>
              <a:ext uri="{FF2B5EF4-FFF2-40B4-BE49-F238E27FC236}">
                <a16:creationId xmlns:a16="http://schemas.microsoft.com/office/drawing/2014/main" id="{983A0CDF-CFC3-9E08-AD43-40D4E2BF3F99}"/>
              </a:ext>
            </a:extLst>
          </p:cNvPr>
          <p:cNvGrpSpPr>
            <a:grpSpLocks/>
          </p:cNvGrpSpPr>
          <p:nvPr/>
        </p:nvGrpSpPr>
        <p:grpSpPr bwMode="auto">
          <a:xfrm>
            <a:off x="7522856" y="4491308"/>
            <a:ext cx="252413" cy="165100"/>
            <a:chOff x="3125393" y="1499499"/>
            <a:chExt cx="252000" cy="165260"/>
          </a:xfrm>
        </p:grpSpPr>
        <p:sp>
          <p:nvSpPr>
            <p:cNvPr id="15" name="모서리가 둥근 사각형 설명선 321">
              <a:extLst>
                <a:ext uri="{FF2B5EF4-FFF2-40B4-BE49-F238E27FC236}">
                  <a16:creationId xmlns:a16="http://schemas.microsoft.com/office/drawing/2014/main" id="{7D0D006A-BFA5-FB7D-4ECA-7B72F3A3951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TextBox 23">
              <a:extLst>
                <a:ext uri="{FF2B5EF4-FFF2-40B4-BE49-F238E27FC236}">
                  <a16:creationId xmlns:a16="http://schemas.microsoft.com/office/drawing/2014/main" id="{A867C86D-4B0E-3556-959A-F78100814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51630130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A5A9ED-02B0-C891-D0A3-9F81EEBA09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5A336A60-09A3-31AF-BCEA-ABE47D2D47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1896328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단위선택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소비기한 입력 기준을 선택한다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디폴트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월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(07/10)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단위변경시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입력값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초기화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입력부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정수입력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: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마이너스 값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특수문자 모두 차단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저장버튼 클릭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팝업 사라지며 계산된 값을 소비기한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일수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란에 출력하고 저장한다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- 1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= 30.4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0000CC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소수점 첫째자리에서 반올림 함</a:t>
                      </a:r>
                      <a:endParaRPr kumimoji="1" lang="en-US" altLang="ko-KR" sz="900" b="0" i="0" u="none" strike="noStrike" kern="1200" cap="none" spc="0" normalizeH="0" baseline="0" noProof="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0000CC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소비기한 환산 일수의 최대값은</a:t>
                      </a: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9999</a:t>
                      </a:r>
                      <a:r>
                        <a:rPr lang="ko-KR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</a:t>
                      </a:r>
                      <a:r>
                        <a:rPr lang="ko-KR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자리</a:t>
                      </a: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1" lang="en-US" altLang="ko-KR" sz="900" b="0" i="0" u="none" strike="noStrike" kern="1200" cap="none" spc="0" normalizeH="0" baseline="0" noProof="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직접입력 선택하여 일</a:t>
                      </a: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환산하여 나온 일수가</a:t>
                      </a: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9999</a:t>
                      </a:r>
                      <a:r>
                        <a:rPr lang="ko-KR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를 넘으면 알림 메시지 팝업 호출</a:t>
                      </a:r>
                      <a:r>
                        <a:rPr lang="en-US" altLang="ko-KR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하여 입력하지 않는다</a:t>
                      </a:r>
                      <a:endParaRPr lang="ko-KR" altLang="ko-KR" sz="9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" name="Group 234">
            <a:extLst>
              <a:ext uri="{FF2B5EF4-FFF2-40B4-BE49-F238E27FC236}">
                <a16:creationId xmlns:a16="http://schemas.microsoft.com/office/drawing/2014/main" id="{B224CA95-63EA-70FF-7401-F442040F7F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36795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에브리데이고딕 R" panose="02020603020101020101" pitchFamily="18" charset="-127"/>
                          <a:ea typeface="에브리데이고딕 R" panose="02020603020101020101" pitchFamily="18" charset="-127"/>
                          <a:cs typeface="+mn-cs"/>
                        </a:rPr>
                        <a:t>소비기한 일수 계산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에브리데이고딕 R" panose="02020603020101020101" pitchFamily="18" charset="-127"/>
                          <a:ea typeface="에브리데이고딕 R" panose="02020603020101020101" pitchFamily="18" charset="-127"/>
                          <a:cs typeface="+mn-cs"/>
                        </a:rPr>
                        <a:t>소비기한 일수 계산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 수 있는 팝업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939304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 검색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기안 결재 완료된 안전성 검토 목록을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9517755"/>
              </p:ext>
            </p:extLst>
          </p:nvPr>
        </p:nvGraphicFramePr>
        <p:xfrm>
          <a:off x="9860045" y="1664954"/>
          <a:ext cx="2066563" cy="17582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(07/10)</a:t>
                      </a: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디폴트 조회 없음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과거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~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과거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~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(7/10)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번호 필수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SKU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미입력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 시 기존 확인 팝업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미출력하고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모든 정보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파일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을 불러와서 출력함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23036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3022682"/>
                  </a:ext>
                </a:extLst>
              </a:tr>
            </a:tbl>
          </a:graphicData>
        </a:graphic>
      </p:graphicFrame>
      <p:sp>
        <p:nvSpPr>
          <p:cNvPr id="6" name="양쪽 모서리가 둥근 사각형 56">
            <a:extLst>
              <a:ext uri="{FF2B5EF4-FFF2-40B4-BE49-F238E27FC236}">
                <a16:creationId xmlns:a16="http://schemas.microsoft.com/office/drawing/2014/main" id="{60AC756E-36A9-EFD5-5C72-7B7889F9733D}"/>
              </a:ext>
            </a:extLst>
          </p:cNvPr>
          <p:cNvSpPr/>
          <p:nvPr/>
        </p:nvSpPr>
        <p:spPr>
          <a:xfrm>
            <a:off x="7429395" y="4734004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SKU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번호를 입력하시바랍니다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EBEB677-A9DC-85F9-1412-D57D9A6303C1}"/>
              </a:ext>
            </a:extLst>
          </p:cNvPr>
          <p:cNvSpPr/>
          <p:nvPr/>
        </p:nvSpPr>
        <p:spPr>
          <a:xfrm>
            <a:off x="7429395" y="5283026"/>
            <a:ext cx="144752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512BB0ED-E133-4509-8438-46357A20C07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417" y="1529747"/>
            <a:ext cx="6388596" cy="4455002"/>
          </a:xfrm>
          <a:prstGeom prst="rect">
            <a:avLst/>
          </a:prstGeom>
        </p:spPr>
      </p:pic>
      <p:grpSp>
        <p:nvGrpSpPr>
          <p:cNvPr id="30" name="그룹 21">
            <a:extLst>
              <a:ext uri="{FF2B5EF4-FFF2-40B4-BE49-F238E27FC236}">
                <a16:creationId xmlns:a16="http://schemas.microsoft.com/office/drawing/2014/main" id="{FEAEDDA5-E094-147D-120D-B908ACC2675D}"/>
              </a:ext>
            </a:extLst>
          </p:cNvPr>
          <p:cNvGrpSpPr>
            <a:grpSpLocks/>
          </p:cNvGrpSpPr>
          <p:nvPr/>
        </p:nvGrpSpPr>
        <p:grpSpPr bwMode="auto">
          <a:xfrm>
            <a:off x="1237375" y="1754893"/>
            <a:ext cx="252413" cy="165100"/>
            <a:chOff x="3125393" y="1499499"/>
            <a:chExt cx="252000" cy="165260"/>
          </a:xfrm>
        </p:grpSpPr>
        <p:sp>
          <p:nvSpPr>
            <p:cNvPr id="31" name="모서리가 둥근 사각형 설명선 321">
              <a:extLst>
                <a:ext uri="{FF2B5EF4-FFF2-40B4-BE49-F238E27FC236}">
                  <a16:creationId xmlns:a16="http://schemas.microsoft.com/office/drawing/2014/main" id="{58738AD4-1E28-F72D-AD83-E1DF17A09E0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TextBox 23">
              <a:extLst>
                <a:ext uri="{FF2B5EF4-FFF2-40B4-BE49-F238E27FC236}">
                  <a16:creationId xmlns:a16="http://schemas.microsoft.com/office/drawing/2014/main" id="{633EC080-498D-16ED-1FA3-562AFAFAD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5DFD06FF-1948-1900-B1F7-B12314396322}"/>
              </a:ext>
            </a:extLst>
          </p:cNvPr>
          <p:cNvGrpSpPr>
            <a:grpSpLocks/>
          </p:cNvGrpSpPr>
          <p:nvPr/>
        </p:nvGrpSpPr>
        <p:grpSpPr bwMode="auto">
          <a:xfrm>
            <a:off x="7522856" y="4491308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A02A098F-42ED-3122-FE19-5C86EA9EAE2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C7BFF423-E80F-FBAD-4A97-862699B9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grpSp>
        <p:nvGrpSpPr>
          <p:cNvPr id="10" name="그룹 21">
            <a:extLst>
              <a:ext uri="{FF2B5EF4-FFF2-40B4-BE49-F238E27FC236}">
                <a16:creationId xmlns:a16="http://schemas.microsoft.com/office/drawing/2014/main" id="{AD1A28B0-90C7-BA1E-A89C-684BFB9B869A}"/>
              </a:ext>
            </a:extLst>
          </p:cNvPr>
          <p:cNvGrpSpPr>
            <a:grpSpLocks/>
          </p:cNvGrpSpPr>
          <p:nvPr/>
        </p:nvGrpSpPr>
        <p:grpSpPr bwMode="auto">
          <a:xfrm>
            <a:off x="2286758" y="1754893"/>
            <a:ext cx="252413" cy="165100"/>
            <a:chOff x="3125393" y="1499499"/>
            <a:chExt cx="252000" cy="165260"/>
          </a:xfrm>
        </p:grpSpPr>
        <p:sp>
          <p:nvSpPr>
            <p:cNvPr id="11" name="모서리가 둥근 사각형 설명선 321">
              <a:extLst>
                <a:ext uri="{FF2B5EF4-FFF2-40B4-BE49-F238E27FC236}">
                  <a16:creationId xmlns:a16="http://schemas.microsoft.com/office/drawing/2014/main" id="{C5A6A5C9-305D-F0A1-5147-C372309137A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TextBox 23">
              <a:extLst>
                <a:ext uri="{FF2B5EF4-FFF2-40B4-BE49-F238E27FC236}">
                  <a16:creationId xmlns:a16="http://schemas.microsoft.com/office/drawing/2014/main" id="{451FEAFA-4468-83DB-8F4A-43C8F5BB6C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13" name="그룹 21">
            <a:extLst>
              <a:ext uri="{FF2B5EF4-FFF2-40B4-BE49-F238E27FC236}">
                <a16:creationId xmlns:a16="http://schemas.microsoft.com/office/drawing/2014/main" id="{753DC100-A25F-F7C8-77C4-A970511AF35F}"/>
              </a:ext>
            </a:extLst>
          </p:cNvPr>
          <p:cNvGrpSpPr>
            <a:grpSpLocks/>
          </p:cNvGrpSpPr>
          <p:nvPr/>
        </p:nvGrpSpPr>
        <p:grpSpPr bwMode="auto">
          <a:xfrm>
            <a:off x="1154031" y="3178744"/>
            <a:ext cx="252413" cy="165100"/>
            <a:chOff x="3125393" y="1499499"/>
            <a:chExt cx="252000" cy="165260"/>
          </a:xfrm>
        </p:grpSpPr>
        <p:sp>
          <p:nvSpPr>
            <p:cNvPr id="16" name="모서리가 둥근 사각형 설명선 321">
              <a:extLst>
                <a:ext uri="{FF2B5EF4-FFF2-40B4-BE49-F238E27FC236}">
                  <a16:creationId xmlns:a16="http://schemas.microsoft.com/office/drawing/2014/main" id="{BCA90E88-CC6A-CB02-C99B-F318C9FFE89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F87AE60D-8FCA-4E6E-C63C-D633D9F39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31931324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1245324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안전 검토 첨부파일 기본정보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안전 검토 첨부파일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614834CE-9BFC-651C-1795-D8D1384361EE}"/>
              </a:ext>
            </a:extLst>
          </p:cNvPr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 검색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기안 결재 완료된 안전성 검토 목록을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94842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/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안전검토구분코드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제품분류코드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제조구분코드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06896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333128"/>
          <a:ext cx="11698678" cy="27691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00BEC5F2-658F-4FE1-8596-B8AD5EC30893}"/>
              </a:ext>
            </a:extLst>
          </p:cNvPr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 검색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기안 결재 완료된 안전성 검토 목록을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160655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1676928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결재완료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검색 조건 조회 시 기간 조회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검토완료일 기준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 이전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~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디폴트 조회 없음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 필수 입력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 시 첨부파일 정보 및 의견 내용  여부 확인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목록을 선택 후 부모창으로 데이터 전달 할 때 모든 첨부파일 정보 및 의견 내용 전체 전달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참조자는 불러오지 않음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AE3C84CB-8659-6DB8-33A9-96E464C6D66D}"/>
              </a:ext>
            </a:extLst>
          </p:cNvPr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 검색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기안 결재 완료된 안전성 검토 목록을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947552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9D493F-A018-B15C-5E1C-F346C612E9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8569F0EF-4B0A-D8EF-61D2-DA7FEBCCB949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1C69BA15-A986-7169-D9B4-040AD5A21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8136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SFTY000040_FILEDOWN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일괄 다운로드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검토자가 업로드 된 파일을 일괄 다운로드 할 수 있는 팝업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207D44F-4C8D-8497-A80B-593BED09660B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FDD7AC40-6610-1ED4-9755-C23A4C9AC633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A052B5EC-15E0-FE0C-0B6E-5AADC94D0B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0870855"/>
              </p:ext>
            </p:extLst>
          </p:nvPr>
        </p:nvGraphicFramePr>
        <p:xfrm>
          <a:off x="9860045" y="1664954"/>
          <a:ext cx="2066563" cy="43798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한 안전성검토의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업로드된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파일을 최신순으로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안전성검토에서 업로드한 파일은 디폴트 선택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불러오기를 이용해 들어온 파일은 디폴트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비선택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그리드에 타이틀 </a:t>
                      </a:r>
                      <a:r>
                        <a:rPr lang="ko-KR" altLang="en-US" sz="700" b="1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정렬기능 필요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한 안전성검토의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정보를 출력한다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SKU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invisible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선택체크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선택은 오픈칸 참조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비선택체크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비선택은 오픈칸 참조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26124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파일명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그리드에 타이틀 </a:t>
                      </a:r>
                      <a:r>
                        <a:rPr lang="ko-KR" altLang="en-US" sz="700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정렬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12956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파일사이즈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91719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파일의 해당 항목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홍보물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 …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312833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 업로드 등록자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29565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 업로드 일시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최신순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1929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브라우저 다운로드 폴더에 일괄다운로드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파일명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+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업로드 일시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확장자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37556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defTabSz="371464" fontAlgn="base">
                        <a:lnSpc>
                          <a:spcPct val="13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 제거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(07/10)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911934"/>
                  </a:ext>
                </a:extLst>
              </a:tr>
            </a:tbl>
          </a:graphicData>
        </a:graphic>
      </p:graphicFrame>
      <p:grpSp>
        <p:nvGrpSpPr>
          <p:cNvPr id="30" name="그룹 21">
            <a:extLst>
              <a:ext uri="{FF2B5EF4-FFF2-40B4-BE49-F238E27FC236}">
                <a16:creationId xmlns:a16="http://schemas.microsoft.com/office/drawing/2014/main" id="{EA83615B-407D-3E8B-8F8C-0222B4555E74}"/>
              </a:ext>
            </a:extLst>
          </p:cNvPr>
          <p:cNvGrpSpPr>
            <a:grpSpLocks/>
          </p:cNvGrpSpPr>
          <p:nvPr/>
        </p:nvGrpSpPr>
        <p:grpSpPr bwMode="auto">
          <a:xfrm>
            <a:off x="7647122" y="4466554"/>
            <a:ext cx="252413" cy="165100"/>
            <a:chOff x="3125393" y="1499499"/>
            <a:chExt cx="252000" cy="165260"/>
          </a:xfrm>
        </p:grpSpPr>
        <p:sp>
          <p:nvSpPr>
            <p:cNvPr id="31" name="모서리가 둥근 사각형 설명선 321">
              <a:extLst>
                <a:ext uri="{FF2B5EF4-FFF2-40B4-BE49-F238E27FC236}">
                  <a16:creationId xmlns:a16="http://schemas.microsoft.com/office/drawing/2014/main" id="{1CC8D84A-2973-BB13-D6FB-007BF1DE769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TextBox 23">
              <a:extLst>
                <a:ext uri="{FF2B5EF4-FFF2-40B4-BE49-F238E27FC236}">
                  <a16:creationId xmlns:a16="http://schemas.microsoft.com/office/drawing/2014/main" id="{A62A5B52-5BD4-E38C-5904-0E3279B0F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sp>
        <p:nvSpPr>
          <p:cNvPr id="3" name="직사각형 23">
            <a:extLst>
              <a:ext uri="{FF2B5EF4-FFF2-40B4-BE49-F238E27FC236}">
                <a16:creationId xmlns:a16="http://schemas.microsoft.com/office/drawing/2014/main" id="{A763184A-9B41-04AB-50F1-63F75F65E467}"/>
              </a:ext>
            </a:extLst>
          </p:cNvPr>
          <p:cNvSpPr/>
          <p:nvPr/>
        </p:nvSpPr>
        <p:spPr>
          <a:xfrm>
            <a:off x="924816" y="1622779"/>
            <a:ext cx="8349813" cy="48065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1007EF9-FF57-A545-7E6B-23D2D14E9F51}"/>
              </a:ext>
            </a:extLst>
          </p:cNvPr>
          <p:cNvSpPr/>
          <p:nvPr/>
        </p:nvSpPr>
        <p:spPr bwMode="auto">
          <a:xfrm>
            <a:off x="924814" y="1622780"/>
            <a:ext cx="8349813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일괄 다운로드</a:t>
            </a:r>
            <a:endParaRPr lang="en-US" altLang="ko-KR" sz="10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십자형 6">
            <a:extLst>
              <a:ext uri="{FF2B5EF4-FFF2-40B4-BE49-F238E27FC236}">
                <a16:creationId xmlns:a16="http://schemas.microsoft.com/office/drawing/2014/main" id="{B4987C5B-9B27-6BF7-71D6-FC5B8BFE05CC}"/>
              </a:ext>
            </a:extLst>
          </p:cNvPr>
          <p:cNvSpPr/>
          <p:nvPr/>
        </p:nvSpPr>
        <p:spPr>
          <a:xfrm rot="2700000" flipV="1">
            <a:off x="9035102" y="1699400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C479975C-AB19-98DC-6F00-B74AD96DB5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4952052"/>
              </p:ext>
            </p:extLst>
          </p:nvPr>
        </p:nvGraphicFramePr>
        <p:xfrm>
          <a:off x="1059415" y="3182597"/>
          <a:ext cx="7947640" cy="2808729"/>
        </p:xfrm>
        <a:graphic>
          <a:graphicData uri="http://schemas.openxmlformats.org/drawingml/2006/table">
            <a:tbl>
              <a:tblPr/>
              <a:tblGrid>
                <a:gridCol w="281705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3675017">
                  <a:extLst>
                    <a:ext uri="{9D8B030D-6E8A-4147-A177-3AD203B41FA5}">
                      <a16:colId xmlns:a16="http://schemas.microsoft.com/office/drawing/2014/main" val="2275500918"/>
                    </a:ext>
                  </a:extLst>
                </a:gridCol>
                <a:gridCol w="705394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  <a:gridCol w="1138212">
                  <a:extLst>
                    <a:ext uri="{9D8B030D-6E8A-4147-A177-3AD203B41FA5}">
                      <a16:colId xmlns:a16="http://schemas.microsoft.com/office/drawing/2014/main" val="2423167296"/>
                    </a:ext>
                  </a:extLst>
                </a:gridCol>
                <a:gridCol w="868246">
                  <a:extLst>
                    <a:ext uri="{9D8B030D-6E8A-4147-A177-3AD203B41FA5}">
                      <a16:colId xmlns:a16="http://schemas.microsoft.com/office/drawing/2014/main" val="1877766634"/>
                    </a:ext>
                  </a:extLst>
                </a:gridCol>
                <a:gridCol w="1279066">
                  <a:extLst>
                    <a:ext uri="{9D8B030D-6E8A-4147-A177-3AD203B41FA5}">
                      <a16:colId xmlns:a16="http://schemas.microsoft.com/office/drawing/2014/main" val="4284449770"/>
                    </a:ext>
                  </a:extLst>
                </a:gridCol>
              </a:tblGrid>
              <a:tr h="312081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품목제조보고서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고길동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CCC.pdf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 규격서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마동석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338199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DDD.Pdf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원재료 표시 사항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김하늘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2272215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EEE.Pdf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9458679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FFF.Pdf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원재료 표시 사항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김하늘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0859720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  <a:p>
                      <a:pPr algn="ctr" rtl="0" fontAlgn="ctr"/>
                      <a:endParaRPr lang="en-US" altLang="ko-KR" sz="700" b="0" i="0" u="sng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GGG.Pdf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포장재질성적서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마동석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4489356"/>
                  </a:ext>
                </a:extLst>
              </a:tr>
              <a:tr h="312081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  <a:p>
                      <a:pPr algn="ctr" rtl="0" fontAlgn="ctr"/>
                      <a:endParaRPr lang="en-US" altLang="ko-KR" sz="700" b="0" i="0" u="sng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HHH.Pdf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TT:MM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100696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BE4351F5-83B5-AE7B-A232-6E89382AAF61}"/>
              </a:ext>
            </a:extLst>
          </p:cNvPr>
          <p:cNvSpPr txBox="1"/>
          <p:nvPr/>
        </p:nvSpPr>
        <p:spPr>
          <a:xfrm>
            <a:off x="994140" y="287328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파일 정보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050925F6-7F9D-A6BF-B7B4-2CB3749728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732724"/>
              </p:ext>
            </p:extLst>
          </p:nvPr>
        </p:nvGraphicFramePr>
        <p:xfrm>
          <a:off x="1043471" y="1965039"/>
          <a:ext cx="7947639" cy="86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72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67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72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26484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strike="sngStrike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프로모션</a:t>
                      </a:r>
                      <a:r>
                        <a:rPr kumimoji="1" lang="en-US" altLang="ko-KR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/14 </a:t>
                      </a:r>
                      <a:r>
                        <a:rPr kumimoji="1" lang="ko-KR" altLang="en-US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라떼 </a:t>
                      </a:r>
                      <a:r>
                        <a:rPr kumimoji="1" lang="ko-KR" altLang="en-US" sz="700" b="0" strike="sngStrike" kern="1200" spc="0" baseline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전용컵</a:t>
                      </a:r>
                      <a:r>
                        <a:rPr kumimoji="1" lang="ko-KR" altLang="en-US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355mm/</a:t>
                      </a:r>
                      <a:r>
                        <a:rPr kumimoji="1" lang="ko-KR" altLang="en-US" sz="700" b="0" strike="sngStrike" kern="1200" spc="0" baseline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신제폼</a:t>
                      </a:r>
                      <a:r>
                        <a:rPr kumimoji="1" lang="en-US" altLang="ko-KR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．０</a:t>
                      </a:r>
                      <a:r>
                        <a:rPr kumimoji="1" lang="en-US" altLang="ko-KR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국내제조</a:t>
                      </a:r>
                      <a:r>
                        <a:rPr kumimoji="1" lang="en-US" altLang="ko-KR" sz="700" b="0" strike="sngStrike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/Christmas</a:t>
                      </a:r>
                      <a:endParaRPr kumimoji="1" lang="ko-KR" altLang="en-US" sz="700" b="0" strike="sngStrike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34295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프로모션명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정보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０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791974"/>
                  </a:ext>
                </a:extLst>
              </a:tr>
            </a:tbl>
          </a:graphicData>
        </a:graphic>
      </p:graphicFrame>
      <p:grpSp>
        <p:nvGrpSpPr>
          <p:cNvPr id="24" name="그룹 21">
            <a:extLst>
              <a:ext uri="{FF2B5EF4-FFF2-40B4-BE49-F238E27FC236}">
                <a16:creationId xmlns:a16="http://schemas.microsoft.com/office/drawing/2014/main" id="{25A30C3F-D974-236A-0D52-C45EEFED4C6D}"/>
              </a:ext>
            </a:extLst>
          </p:cNvPr>
          <p:cNvGrpSpPr>
            <a:grpSpLocks/>
          </p:cNvGrpSpPr>
          <p:nvPr/>
        </p:nvGrpSpPr>
        <p:grpSpPr bwMode="auto">
          <a:xfrm>
            <a:off x="917265" y="3416473"/>
            <a:ext cx="252413" cy="165100"/>
            <a:chOff x="3125393" y="1499499"/>
            <a:chExt cx="252000" cy="165260"/>
          </a:xfrm>
        </p:grpSpPr>
        <p:sp>
          <p:nvSpPr>
            <p:cNvPr id="26" name="모서리가 둥근 사각형 설명선 321">
              <a:extLst>
                <a:ext uri="{FF2B5EF4-FFF2-40B4-BE49-F238E27FC236}">
                  <a16:creationId xmlns:a16="http://schemas.microsoft.com/office/drawing/2014/main" id="{4D9098CA-4629-DA44-40C7-F122341F546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3">
              <a:extLst>
                <a:ext uri="{FF2B5EF4-FFF2-40B4-BE49-F238E27FC236}">
                  <a16:creationId xmlns:a16="http://schemas.microsoft.com/office/drawing/2014/main" id="{4CC57F42-87F8-A998-FE36-0A2E61D83D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28" name="그룹 21">
            <a:extLst>
              <a:ext uri="{FF2B5EF4-FFF2-40B4-BE49-F238E27FC236}">
                <a16:creationId xmlns:a16="http://schemas.microsoft.com/office/drawing/2014/main" id="{3FCFDAE5-6133-B37C-F249-5580B5077B2C}"/>
              </a:ext>
            </a:extLst>
          </p:cNvPr>
          <p:cNvGrpSpPr>
            <a:grpSpLocks/>
          </p:cNvGrpSpPr>
          <p:nvPr/>
        </p:nvGrpSpPr>
        <p:grpSpPr bwMode="auto">
          <a:xfrm>
            <a:off x="883565" y="5287576"/>
            <a:ext cx="252413" cy="165100"/>
            <a:chOff x="3125393" y="1499499"/>
            <a:chExt cx="252000" cy="165260"/>
          </a:xfrm>
        </p:grpSpPr>
        <p:sp>
          <p:nvSpPr>
            <p:cNvPr id="29" name="모서리가 둥근 사각형 설명선 321">
              <a:extLst>
                <a:ext uri="{FF2B5EF4-FFF2-40B4-BE49-F238E27FC236}">
                  <a16:creationId xmlns:a16="http://schemas.microsoft.com/office/drawing/2014/main" id="{EEDB2BD2-32A3-3CE3-976E-F8872DC85CF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23">
              <a:extLst>
                <a:ext uri="{FF2B5EF4-FFF2-40B4-BE49-F238E27FC236}">
                  <a16:creationId xmlns:a16="http://schemas.microsoft.com/office/drawing/2014/main" id="{294F1325-1FFD-135E-79F6-65430AC32A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34" name="그룹 21">
            <a:extLst>
              <a:ext uri="{FF2B5EF4-FFF2-40B4-BE49-F238E27FC236}">
                <a16:creationId xmlns:a16="http://schemas.microsoft.com/office/drawing/2014/main" id="{B9E1C6C1-FD65-2208-4439-FC714DEDB323}"/>
              </a:ext>
            </a:extLst>
          </p:cNvPr>
          <p:cNvGrpSpPr>
            <a:grpSpLocks/>
          </p:cNvGrpSpPr>
          <p:nvPr/>
        </p:nvGrpSpPr>
        <p:grpSpPr bwMode="auto">
          <a:xfrm>
            <a:off x="2407576" y="3086959"/>
            <a:ext cx="252413" cy="165100"/>
            <a:chOff x="3125393" y="1499499"/>
            <a:chExt cx="252000" cy="165260"/>
          </a:xfrm>
        </p:grpSpPr>
        <p:sp>
          <p:nvSpPr>
            <p:cNvPr id="35" name="모서리가 둥근 사각형 설명선 321">
              <a:extLst>
                <a:ext uri="{FF2B5EF4-FFF2-40B4-BE49-F238E27FC236}">
                  <a16:creationId xmlns:a16="http://schemas.microsoft.com/office/drawing/2014/main" id="{1B44740F-E301-9989-348A-DC911C61FE4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C04B418F-6F11-046A-EFE4-7CC818096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8A15326-85F8-1FF2-62CC-21C9423EB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181" y="2261317"/>
            <a:ext cx="323354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프로모션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5A65E1D-F668-8DCE-743C-695D281FE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2043" y="2268624"/>
            <a:ext cx="251545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크리스마스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7B5A1D1-8DEA-CF74-FFEA-3EF0A4232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181" y="2556419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970000001111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42A799-01E6-DA8E-DAA6-ACADFCD78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469" y="2556419"/>
            <a:ext cx="2380261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파인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코코넛 향 소스 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750ML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A43AB0D-12D8-95EE-6D8D-E82177F1D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2043" y="2556875"/>
            <a:ext cx="251545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파인 코코넛 향 소스</a:t>
            </a:r>
          </a:p>
        </p:txBody>
      </p:sp>
      <p:grpSp>
        <p:nvGrpSpPr>
          <p:cNvPr id="42" name="그룹 21">
            <a:extLst>
              <a:ext uri="{FF2B5EF4-FFF2-40B4-BE49-F238E27FC236}">
                <a16:creationId xmlns:a16="http://schemas.microsoft.com/office/drawing/2014/main" id="{60505917-81E1-884A-F49C-FBC41E1B9156}"/>
              </a:ext>
            </a:extLst>
          </p:cNvPr>
          <p:cNvGrpSpPr>
            <a:grpSpLocks/>
          </p:cNvGrpSpPr>
          <p:nvPr/>
        </p:nvGrpSpPr>
        <p:grpSpPr bwMode="auto">
          <a:xfrm>
            <a:off x="6864199" y="3100046"/>
            <a:ext cx="252413" cy="165100"/>
            <a:chOff x="3125393" y="1499499"/>
            <a:chExt cx="252000" cy="165260"/>
          </a:xfrm>
        </p:grpSpPr>
        <p:sp>
          <p:nvSpPr>
            <p:cNvPr id="43" name="모서리가 둥근 사각형 설명선 321">
              <a:extLst>
                <a:ext uri="{FF2B5EF4-FFF2-40B4-BE49-F238E27FC236}">
                  <a16:creationId xmlns:a16="http://schemas.microsoft.com/office/drawing/2014/main" id="{283A80EB-A2E0-8FA9-8BB3-6446447F883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" name="TextBox 23">
              <a:extLst>
                <a:ext uri="{FF2B5EF4-FFF2-40B4-BE49-F238E27FC236}">
                  <a16:creationId xmlns:a16="http://schemas.microsoft.com/office/drawing/2014/main" id="{1735A12D-3493-858F-6006-C90B92A9E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grpSp>
        <p:nvGrpSpPr>
          <p:cNvPr id="46" name="그룹 21">
            <a:extLst>
              <a:ext uri="{FF2B5EF4-FFF2-40B4-BE49-F238E27FC236}">
                <a16:creationId xmlns:a16="http://schemas.microsoft.com/office/drawing/2014/main" id="{689AB85F-B5EE-FCAC-A262-EB2ACEA162E5}"/>
              </a:ext>
            </a:extLst>
          </p:cNvPr>
          <p:cNvGrpSpPr>
            <a:grpSpLocks/>
          </p:cNvGrpSpPr>
          <p:nvPr/>
        </p:nvGrpSpPr>
        <p:grpSpPr bwMode="auto">
          <a:xfrm>
            <a:off x="5865625" y="3110241"/>
            <a:ext cx="252413" cy="165100"/>
            <a:chOff x="3125393" y="1499499"/>
            <a:chExt cx="252000" cy="165260"/>
          </a:xfrm>
        </p:grpSpPr>
        <p:sp>
          <p:nvSpPr>
            <p:cNvPr id="47" name="모서리가 둥근 사각형 설명선 321">
              <a:extLst>
                <a:ext uri="{FF2B5EF4-FFF2-40B4-BE49-F238E27FC236}">
                  <a16:creationId xmlns:a16="http://schemas.microsoft.com/office/drawing/2014/main" id="{CD5D7B60-5938-B42A-1B4D-790D51025C4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23">
              <a:extLst>
                <a:ext uri="{FF2B5EF4-FFF2-40B4-BE49-F238E27FC236}">
                  <a16:creationId xmlns:a16="http://schemas.microsoft.com/office/drawing/2014/main" id="{F75C52C9-3EA5-2B62-9C52-DA2641C721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grpSp>
        <p:nvGrpSpPr>
          <p:cNvPr id="50" name="그룹 21">
            <a:extLst>
              <a:ext uri="{FF2B5EF4-FFF2-40B4-BE49-F238E27FC236}">
                <a16:creationId xmlns:a16="http://schemas.microsoft.com/office/drawing/2014/main" id="{0E03F712-A6C4-7C73-4F3A-EF8EEFD64339}"/>
              </a:ext>
            </a:extLst>
          </p:cNvPr>
          <p:cNvGrpSpPr>
            <a:grpSpLocks/>
          </p:cNvGrpSpPr>
          <p:nvPr/>
        </p:nvGrpSpPr>
        <p:grpSpPr bwMode="auto">
          <a:xfrm>
            <a:off x="4973513" y="3086959"/>
            <a:ext cx="252413" cy="165100"/>
            <a:chOff x="3125393" y="1499499"/>
            <a:chExt cx="252000" cy="165260"/>
          </a:xfrm>
        </p:grpSpPr>
        <p:sp>
          <p:nvSpPr>
            <p:cNvPr id="51" name="모서리가 둥근 사각형 설명선 321">
              <a:extLst>
                <a:ext uri="{FF2B5EF4-FFF2-40B4-BE49-F238E27FC236}">
                  <a16:creationId xmlns:a16="http://schemas.microsoft.com/office/drawing/2014/main" id="{4F3E156B-1DD3-6235-4D65-54017961FAF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2" name="TextBox 23">
              <a:extLst>
                <a:ext uri="{FF2B5EF4-FFF2-40B4-BE49-F238E27FC236}">
                  <a16:creationId xmlns:a16="http://schemas.microsoft.com/office/drawing/2014/main" id="{DF1AA156-2658-2B16-8A4A-5FE21FFF9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sp>
        <p:nvSpPr>
          <p:cNvPr id="53" name="모서리가 둥근 직사각형 55">
            <a:extLst>
              <a:ext uri="{FF2B5EF4-FFF2-40B4-BE49-F238E27FC236}">
                <a16:creationId xmlns:a16="http://schemas.microsoft.com/office/drawing/2014/main" id="{5702CAA1-0C0D-7779-F5C2-F42029B4F6B1}"/>
              </a:ext>
            </a:extLst>
          </p:cNvPr>
          <p:cNvSpPr/>
          <p:nvPr/>
        </p:nvSpPr>
        <p:spPr>
          <a:xfrm>
            <a:off x="8542129" y="6173896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grpSp>
        <p:nvGrpSpPr>
          <p:cNvPr id="54" name="그룹 21">
            <a:extLst>
              <a:ext uri="{FF2B5EF4-FFF2-40B4-BE49-F238E27FC236}">
                <a16:creationId xmlns:a16="http://schemas.microsoft.com/office/drawing/2014/main" id="{1516B2D9-C601-53F9-F1B9-D981D92E9DA3}"/>
              </a:ext>
            </a:extLst>
          </p:cNvPr>
          <p:cNvGrpSpPr>
            <a:grpSpLocks/>
          </p:cNvGrpSpPr>
          <p:nvPr/>
        </p:nvGrpSpPr>
        <p:grpSpPr bwMode="auto">
          <a:xfrm>
            <a:off x="787282" y="2315822"/>
            <a:ext cx="252413" cy="165100"/>
            <a:chOff x="3125393" y="1499499"/>
            <a:chExt cx="252000" cy="165260"/>
          </a:xfrm>
        </p:grpSpPr>
        <p:sp>
          <p:nvSpPr>
            <p:cNvPr id="55" name="모서리가 둥근 사각형 설명선 321">
              <a:extLst>
                <a:ext uri="{FF2B5EF4-FFF2-40B4-BE49-F238E27FC236}">
                  <a16:creationId xmlns:a16="http://schemas.microsoft.com/office/drawing/2014/main" id="{504FEA00-06E3-2475-2B76-4DD1CC6DD17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23">
              <a:extLst>
                <a:ext uri="{FF2B5EF4-FFF2-40B4-BE49-F238E27FC236}">
                  <a16:creationId xmlns:a16="http://schemas.microsoft.com/office/drawing/2014/main" id="{A9D489E7-4AFC-728A-D886-269188C42E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58" name="그룹 21">
            <a:extLst>
              <a:ext uri="{FF2B5EF4-FFF2-40B4-BE49-F238E27FC236}">
                <a16:creationId xmlns:a16="http://schemas.microsoft.com/office/drawing/2014/main" id="{5E5C5252-FFA8-9FBF-048E-DA9D8C5F9D05}"/>
              </a:ext>
            </a:extLst>
          </p:cNvPr>
          <p:cNvGrpSpPr>
            <a:grpSpLocks/>
          </p:cNvGrpSpPr>
          <p:nvPr/>
        </p:nvGrpSpPr>
        <p:grpSpPr bwMode="auto">
          <a:xfrm>
            <a:off x="7754753" y="3136918"/>
            <a:ext cx="252413" cy="165100"/>
            <a:chOff x="3125393" y="1499499"/>
            <a:chExt cx="252000" cy="165260"/>
          </a:xfrm>
        </p:grpSpPr>
        <p:sp>
          <p:nvSpPr>
            <p:cNvPr id="59" name="모서리가 둥근 사각형 설명선 321">
              <a:extLst>
                <a:ext uri="{FF2B5EF4-FFF2-40B4-BE49-F238E27FC236}">
                  <a16:creationId xmlns:a16="http://schemas.microsoft.com/office/drawing/2014/main" id="{74475E7D-B1C9-E1C9-57BB-3FE0CDD55D9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23">
              <a:extLst>
                <a:ext uri="{FF2B5EF4-FFF2-40B4-BE49-F238E27FC236}">
                  <a16:creationId xmlns:a16="http://schemas.microsoft.com/office/drawing/2014/main" id="{9057FEB3-D872-4C0A-9756-CB00E57584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sp>
        <p:nvSpPr>
          <p:cNvPr id="71" name="모서리가 둥근 직사각형 55">
            <a:extLst>
              <a:ext uri="{FF2B5EF4-FFF2-40B4-BE49-F238E27FC236}">
                <a16:creationId xmlns:a16="http://schemas.microsoft.com/office/drawing/2014/main" id="{DCE97DA6-00C6-ED30-2D6A-2594ED5C4A03}"/>
              </a:ext>
            </a:extLst>
          </p:cNvPr>
          <p:cNvSpPr/>
          <p:nvPr/>
        </p:nvSpPr>
        <p:spPr>
          <a:xfrm>
            <a:off x="7689985" y="6173896"/>
            <a:ext cx="759699" cy="16510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다운로드</a:t>
            </a:r>
          </a:p>
        </p:txBody>
      </p:sp>
      <p:grpSp>
        <p:nvGrpSpPr>
          <p:cNvPr id="72" name="그룹 21">
            <a:extLst>
              <a:ext uri="{FF2B5EF4-FFF2-40B4-BE49-F238E27FC236}">
                <a16:creationId xmlns:a16="http://schemas.microsoft.com/office/drawing/2014/main" id="{A73F8325-5DA2-0664-0820-B8703F642450}"/>
              </a:ext>
            </a:extLst>
          </p:cNvPr>
          <p:cNvGrpSpPr>
            <a:grpSpLocks/>
          </p:cNvGrpSpPr>
          <p:nvPr/>
        </p:nvGrpSpPr>
        <p:grpSpPr bwMode="auto">
          <a:xfrm>
            <a:off x="7497485" y="6091346"/>
            <a:ext cx="252413" cy="165100"/>
            <a:chOff x="3125393" y="1499499"/>
            <a:chExt cx="252000" cy="165260"/>
          </a:xfrm>
        </p:grpSpPr>
        <p:sp>
          <p:nvSpPr>
            <p:cNvPr id="73" name="모서리가 둥근 사각형 설명선 321">
              <a:extLst>
                <a:ext uri="{FF2B5EF4-FFF2-40B4-BE49-F238E27FC236}">
                  <a16:creationId xmlns:a16="http://schemas.microsoft.com/office/drawing/2014/main" id="{FD7F6F3D-88CE-EB25-BA47-998301BA54E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23">
              <a:extLst>
                <a:ext uri="{FF2B5EF4-FFF2-40B4-BE49-F238E27FC236}">
                  <a16:creationId xmlns:a16="http://schemas.microsoft.com/office/drawing/2014/main" id="{6111DD2A-6F47-E24D-A8C0-8473D1C666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463F20D8-562D-3BA0-EDA5-7C6FD4F7CDBD}"/>
              </a:ext>
            </a:extLst>
          </p:cNvPr>
          <p:cNvGrpSpPr>
            <a:grpSpLocks/>
          </p:cNvGrpSpPr>
          <p:nvPr/>
        </p:nvGrpSpPr>
        <p:grpSpPr bwMode="auto">
          <a:xfrm>
            <a:off x="1874974" y="1841737"/>
            <a:ext cx="252413" cy="165100"/>
            <a:chOff x="3125393" y="1499499"/>
            <a:chExt cx="252000" cy="165260"/>
          </a:xfrm>
        </p:grpSpPr>
        <p:sp>
          <p:nvSpPr>
            <p:cNvPr id="4" name="모서리가 둥근 사각형 설명선 321">
              <a:extLst>
                <a:ext uri="{FF2B5EF4-FFF2-40B4-BE49-F238E27FC236}">
                  <a16:creationId xmlns:a16="http://schemas.microsoft.com/office/drawing/2014/main" id="{05352DAA-8BA9-89E5-6230-AB1A7FA73C6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" name="TextBox 23">
              <a:extLst>
                <a:ext uri="{FF2B5EF4-FFF2-40B4-BE49-F238E27FC236}">
                  <a16:creationId xmlns:a16="http://schemas.microsoft.com/office/drawing/2014/main" id="{CBFC0619-2172-9367-5803-FA9CD7D3B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7640950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37229B-9043-054B-5BC3-4BB6309750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B81B8BF6-F594-E906-2CB6-78BAB3C1CB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783749"/>
              </p:ext>
            </p:extLst>
          </p:nvPr>
        </p:nvGraphicFramePr>
        <p:xfrm>
          <a:off x="254000" y="1343534"/>
          <a:ext cx="11691939" cy="1615320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CM_ATCH_FILE_INFO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첨부파일정보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불러오기로 만든 검토는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REF3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컬럼에 원래 검토번호 참조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4BDBACDE-1C10-1ED9-7B7E-F24506FF81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3C81A6C3-6727-5282-E7B5-566FB026A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76791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1858ED06-6D8C-EACF-4639-52A2B4D37B1B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5032086"/>
          <a:ext cx="11710849" cy="115380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FFF8B61B-385F-35A3-8EA7-646B8A3701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00772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SFTY000040_FILEDOWN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일괄 다운로드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검토자가 업로드 된 파일을 일괄 다운로드 할 수 있는 팝업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98880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CA9727-43C0-DA0F-A1E7-FC72CF9277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7052ABB5-F8EC-80B7-1BF1-3FC530354D15}"/>
              </a:ext>
            </a:extLst>
          </p:cNvPr>
          <p:cNvGraphicFramePr>
            <a:graphicFrameLocks noGrp="1"/>
          </p:cNvGraphicFramePr>
          <p:nvPr/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898C56F-7E86-CC68-5E1C-36346E2693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BC1EBCCB-A81E-F9EC-80F3-6F0E3277C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15285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239410B2-CC74-D1F0-D346-60B8184E3FF9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417018"/>
          <a:ext cx="11698678" cy="27691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75F1CB0B-1A97-D050-5027-C581D9296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00772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SFTY000040_FILEDOWN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일괄 다운로드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검토자가 업로드 된 파일을 일괄 다운로드 할 수 있는 팝업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283170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670B8C-B5F2-DF7E-36B6-A213A97B71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6BFBC6A3-0F1B-EA75-5AEF-9C0A79F773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9010739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업로드 파일조회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한 안전성검토의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업로드된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파일을 최신순으로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안전성검토에서 신규 업로드한 파일은 디폴트 선택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불러오기를 이용해 들어온 파일은 디폴트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미선택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불러온 첨부파일은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CM_ATCH_FILE_INFO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ref3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컬럼에 원래 안전성검토번호 저장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일괄다운로드에서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디폴트 미선택시 사용</a:t>
                      </a:r>
                      <a:endParaRPr kumimoji="0" lang="en-US" altLang="ko-KR" sz="9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그리드에 타이틀 </a:t>
                      </a:r>
                      <a:r>
                        <a:rPr lang="ko-KR" altLang="en-US" sz="900" b="1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정렬 기능 필요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indent="0" defTabSz="371464" fontAlgn="base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endParaRPr kumimoji="1" lang="en-US" altLang="ko-KR" sz="900" b="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40404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sym typeface="Wingding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다운로드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압축파일로 다운로드 불가능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선택된 파일을 브라우저 디폴트 저장소에 다운로드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다운로드 파일명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파일명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+ _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업로드 일시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(YYYYMMDDHHMM)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확장자  </a:t>
                      </a: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 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</a:t>
                      </a: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일괄다운로드에만 파일명변경</a:t>
                      </a:r>
                      <a:endParaRPr lang="en-US" altLang="ko-KR" sz="900" b="1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(ex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커피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.pdf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안전성검토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커피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_202507221354.pdf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" name="Group 234">
            <a:extLst>
              <a:ext uri="{FF2B5EF4-FFF2-40B4-BE49-F238E27FC236}">
                <a16:creationId xmlns:a16="http://schemas.microsoft.com/office/drawing/2014/main" id="{31AF57DD-98BC-529C-71E0-EEAC84566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00772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SFTY000040_FILEDOWN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일괄 다운로드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검토자가 업로드 된 파일을 일괄 다운로드 할 수 있는 팝업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5516556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3055233"/>
              </p:ext>
            </p:extLst>
          </p:nvPr>
        </p:nvGraphicFramePr>
        <p:xfrm>
          <a:off x="9846998" y="1664954"/>
          <a:ext cx="2088000" cy="28916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선택되어진 안전성 검토건에 대해 내용을 출력한다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구분값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특화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이커머스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같은 종류끼리 검토완료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묶음결재 가능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 변경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자동 문구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“(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포함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문구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 문서구분은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신규상품 안전성 검토 및 조건부 완료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같이 묶여 있음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전자결재문서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본문의 제품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나열 순서는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 완료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우선 나열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결재요청 처리를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77755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팝업을 닫는다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883082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구분값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코어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특화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이커머스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같은 종류끼리 검토완료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묶음결재 가능</a:t>
                      </a:r>
                      <a:endParaRPr lang="en-US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37" name="그림 36">
            <a:extLst>
              <a:ext uri="{FF2B5EF4-FFF2-40B4-BE49-F238E27FC236}">
                <a16:creationId xmlns:a16="http://schemas.microsoft.com/office/drawing/2014/main" id="{2A691E1D-B479-18A8-B84B-13BBC0EA398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62743" y="1503131"/>
            <a:ext cx="6726335" cy="4885683"/>
          </a:xfrm>
          <a:prstGeom prst="rect">
            <a:avLst/>
          </a:prstGeom>
          <a:ln>
            <a:solidFill>
              <a:schemeClr val="bg1">
                <a:lumMod val="75000"/>
              </a:schemeClr>
            </a:solidFill>
          </a:ln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966F5F1-526B-27DA-1F95-9A4717C5BB3F}"/>
              </a:ext>
            </a:extLst>
          </p:cNvPr>
          <p:cNvSpPr txBox="1"/>
          <p:nvPr/>
        </p:nvSpPr>
        <p:spPr>
          <a:xfrm>
            <a:off x="2165814" y="2552796"/>
            <a:ext cx="416652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그룹결재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  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신제품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음료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파인코코넛향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소스 등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품목 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조건부완료 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 포함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B6470D5-B97C-9CCB-DAEF-71BD5BEC9C31}"/>
              </a:ext>
            </a:extLst>
          </p:cNvPr>
          <p:cNvSpPr txBox="1"/>
          <p:nvPr/>
        </p:nvSpPr>
        <p:spPr>
          <a:xfrm>
            <a:off x="2165814" y="2966512"/>
            <a:ext cx="3179075" cy="2354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>
              <a:buAutoNum type="arabicPeriod"/>
            </a:pP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조건부 완료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1/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신제품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음료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파인코코넛향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소스</a:t>
            </a:r>
            <a:endParaRPr lang="en-US" altLang="ko-KR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[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기본정보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[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제품정보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53E6503-AD9F-91D8-C0EB-8AF4BF9B1B73}"/>
              </a:ext>
            </a:extLst>
          </p:cNvPr>
          <p:cNvSpPr/>
          <p:nvPr/>
        </p:nvSpPr>
        <p:spPr bwMode="auto">
          <a:xfrm>
            <a:off x="1336766" y="5221512"/>
            <a:ext cx="6283234" cy="116730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E359467-1DA5-866E-A76C-532E9286A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660778"/>
              </p:ext>
            </p:extLst>
          </p:nvPr>
        </p:nvGraphicFramePr>
        <p:xfrm>
          <a:off x="2398403" y="3400207"/>
          <a:ext cx="5046811" cy="6581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4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92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0560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  <a:gridCol w="932432">
                  <a:extLst>
                    <a:ext uri="{9D8B030D-6E8A-4147-A177-3AD203B41FA5}">
                      <a16:colId xmlns:a16="http://schemas.microsoft.com/office/drawing/2014/main" val="1062137084"/>
                    </a:ext>
                  </a:extLst>
                </a:gridCol>
                <a:gridCol w="1157625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</a:tblGrid>
              <a:tr h="217862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크리스마스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신제품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76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PM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부서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음료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(or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수입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국내제조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2023-12-01 ~ 2024-01-20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3255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요청완료일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2023-12-20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 전달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2823274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ABBE26-8C64-9E02-0234-C977E63937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7502076"/>
              </p:ext>
            </p:extLst>
          </p:nvPr>
        </p:nvGraphicFramePr>
        <p:xfrm>
          <a:off x="2398403" y="4242052"/>
          <a:ext cx="5046811" cy="8658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28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1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18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7073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  <a:gridCol w="503232">
                  <a:extLst>
                    <a:ext uri="{9D8B030D-6E8A-4147-A177-3AD203B41FA5}">
                      <a16:colId xmlns:a16="http://schemas.microsoft.com/office/drawing/2014/main" val="2964655582"/>
                    </a:ext>
                  </a:extLst>
                </a:gridCol>
                <a:gridCol w="378198">
                  <a:extLst>
                    <a:ext uri="{9D8B030D-6E8A-4147-A177-3AD203B41FA5}">
                      <a16:colId xmlns:a16="http://schemas.microsoft.com/office/drawing/2014/main" val="3618920537"/>
                    </a:ext>
                  </a:extLst>
                </a:gridCol>
                <a:gridCol w="461555">
                  <a:extLst>
                    <a:ext uri="{9D8B030D-6E8A-4147-A177-3AD203B41FA5}">
                      <a16:colId xmlns:a16="http://schemas.microsoft.com/office/drawing/2014/main" val="290032115"/>
                    </a:ext>
                  </a:extLst>
                </a:gridCol>
                <a:gridCol w="669945">
                  <a:extLst>
                    <a:ext uri="{9D8B030D-6E8A-4147-A177-3AD203B41FA5}">
                      <a16:colId xmlns:a16="http://schemas.microsoft.com/office/drawing/2014/main" val="847083657"/>
                    </a:ext>
                  </a:extLst>
                </a:gridCol>
              </a:tblGrid>
              <a:tr h="217862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제품명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표시사항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파인 </a:t>
                      </a:r>
                      <a:r>
                        <a:rPr kumimoji="1" lang="ko-KR" altLang="en-US" sz="700" b="0" kern="1200" spc="0" baseline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코토넛향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식품유형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처리구분</a:t>
                      </a:r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살균</a:t>
                      </a:r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76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파인 코코넛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SKU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97000001111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보관방법</a:t>
                      </a:r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냉장</a:t>
                      </a:r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076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포장재질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내면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용기</a:t>
                      </a: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:PET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공급자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벤더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우양냉동식품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제조사</a:t>
                      </a:r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우양냉동식품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청양공장</a:t>
                      </a:r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25080622"/>
                  </a:ext>
                </a:extLst>
              </a:tr>
              <a:tr h="23255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유통전문판매업소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(or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수입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업소명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흡습제사용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질소포장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2823274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A4FD275-673C-6AE3-D025-DD51C9C8A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487048"/>
              </p:ext>
            </p:extLst>
          </p:nvPr>
        </p:nvGraphicFramePr>
        <p:xfrm>
          <a:off x="2398402" y="5352736"/>
          <a:ext cx="5046812" cy="6581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28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840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862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인허가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인증서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76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제품 규격서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긴급 출시 제품으로 공인기관 실험 접수</a:t>
                      </a: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8/30 </a:t>
                      </a: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성적서 수취 예정  </a:t>
                      </a: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최종 검토의견 내용</a:t>
                      </a: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3255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…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2823274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1D048210-FD16-0B95-89EC-E088274A3276}"/>
              </a:ext>
            </a:extLst>
          </p:cNvPr>
          <p:cNvSpPr txBox="1"/>
          <p:nvPr/>
        </p:nvSpPr>
        <p:spPr>
          <a:xfrm>
            <a:off x="2165814" y="5139308"/>
            <a:ext cx="9380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[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 검토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F9BCA7E-86E1-C800-0BB6-309C5BA30070}"/>
              </a:ext>
            </a:extLst>
          </p:cNvPr>
          <p:cNvSpPr txBox="1"/>
          <p:nvPr/>
        </p:nvSpPr>
        <p:spPr>
          <a:xfrm>
            <a:off x="2165814" y="6055175"/>
            <a:ext cx="321594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     [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조건부 완료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1/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신제품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음료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파인코코넛향</a:t>
            </a: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소스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340FB1-B9EB-7DF9-515B-8FC1F84B36C9}"/>
              </a:ext>
            </a:extLst>
          </p:cNvPr>
          <p:cNvSpPr/>
          <p:nvPr/>
        </p:nvSpPr>
        <p:spPr bwMode="auto">
          <a:xfrm>
            <a:off x="1452932" y="1857391"/>
            <a:ext cx="6058478" cy="58244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5" name="그룹 21">
            <a:extLst>
              <a:ext uri="{FF2B5EF4-FFF2-40B4-BE49-F238E27FC236}">
                <a16:creationId xmlns:a16="http://schemas.microsoft.com/office/drawing/2014/main" id="{A15269B3-58BE-1F6D-860E-40BA81F0E76D}"/>
              </a:ext>
            </a:extLst>
          </p:cNvPr>
          <p:cNvGrpSpPr>
            <a:grpSpLocks/>
          </p:cNvGrpSpPr>
          <p:nvPr/>
        </p:nvGrpSpPr>
        <p:grpSpPr bwMode="auto">
          <a:xfrm>
            <a:off x="1664288" y="1871473"/>
            <a:ext cx="252413" cy="165100"/>
            <a:chOff x="3125393" y="1499499"/>
            <a:chExt cx="252000" cy="165260"/>
          </a:xfrm>
        </p:grpSpPr>
        <p:sp>
          <p:nvSpPr>
            <p:cNvPr id="6" name="모서리가 둥근 사각형 설명선 321">
              <a:extLst>
                <a:ext uri="{FF2B5EF4-FFF2-40B4-BE49-F238E27FC236}">
                  <a16:creationId xmlns:a16="http://schemas.microsoft.com/office/drawing/2014/main" id="{681032FB-84BE-89FB-FE32-777B01877E1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" name="TextBox 23">
              <a:extLst>
                <a:ext uri="{FF2B5EF4-FFF2-40B4-BE49-F238E27FC236}">
                  <a16:creationId xmlns:a16="http://schemas.microsoft.com/office/drawing/2014/main" id="{F63F2709-FD40-364C-3E62-0544DC64B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sp>
        <p:nvSpPr>
          <p:cNvPr id="8" name="모서리가 둥근 직사각형 55">
            <a:extLst>
              <a:ext uri="{FF2B5EF4-FFF2-40B4-BE49-F238E27FC236}">
                <a16:creationId xmlns:a16="http://schemas.microsoft.com/office/drawing/2014/main" id="{47CFD2F9-CC1D-B08F-AA8E-8B083260349E}"/>
              </a:ext>
            </a:extLst>
          </p:cNvPr>
          <p:cNvSpPr/>
          <p:nvPr/>
        </p:nvSpPr>
        <p:spPr>
          <a:xfrm>
            <a:off x="1431029" y="2094742"/>
            <a:ext cx="633403" cy="171718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결재요청</a:t>
            </a:r>
            <a:endParaRPr lang="ko-KR" altLang="en-US" sz="800" b="1" dirty="0">
              <a:solidFill>
                <a:srgbClr val="77A22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4" name="그룹 21">
            <a:extLst>
              <a:ext uri="{FF2B5EF4-FFF2-40B4-BE49-F238E27FC236}">
                <a16:creationId xmlns:a16="http://schemas.microsoft.com/office/drawing/2014/main" id="{30BF1C98-178C-30B4-C4B5-AC5BD0E9E716}"/>
              </a:ext>
            </a:extLst>
          </p:cNvPr>
          <p:cNvGrpSpPr>
            <a:grpSpLocks/>
          </p:cNvGrpSpPr>
          <p:nvPr/>
        </p:nvGrpSpPr>
        <p:grpSpPr bwMode="auto">
          <a:xfrm>
            <a:off x="2252916" y="1872871"/>
            <a:ext cx="252413" cy="165100"/>
            <a:chOff x="3125393" y="1499499"/>
            <a:chExt cx="252000" cy="165260"/>
          </a:xfrm>
        </p:grpSpPr>
        <p:sp>
          <p:nvSpPr>
            <p:cNvPr id="15" name="모서리가 둥근 사각형 설명선 321">
              <a:extLst>
                <a:ext uri="{FF2B5EF4-FFF2-40B4-BE49-F238E27FC236}">
                  <a16:creationId xmlns:a16="http://schemas.microsoft.com/office/drawing/2014/main" id="{33DABC14-2258-851B-1EE5-FF920C6D514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TextBox 23">
              <a:extLst>
                <a:ext uri="{FF2B5EF4-FFF2-40B4-BE49-F238E27FC236}">
                  <a16:creationId xmlns:a16="http://schemas.microsoft.com/office/drawing/2014/main" id="{7E4C1E29-5C5A-A1D9-F576-9EEE6C1EA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sp>
        <p:nvSpPr>
          <p:cNvPr id="19" name="모서리가 둥근 직사각형 55">
            <a:extLst>
              <a:ext uri="{FF2B5EF4-FFF2-40B4-BE49-F238E27FC236}">
                <a16:creationId xmlns:a16="http://schemas.microsoft.com/office/drawing/2014/main" id="{C0B31CA9-1977-D354-9026-5857038C657C}"/>
              </a:ext>
            </a:extLst>
          </p:cNvPr>
          <p:cNvSpPr/>
          <p:nvPr/>
        </p:nvSpPr>
        <p:spPr>
          <a:xfrm>
            <a:off x="2113060" y="2096140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graphicFrame>
        <p:nvGraphicFramePr>
          <p:cNvPr id="20" name="Group 234">
            <a:extLst>
              <a:ext uri="{FF2B5EF4-FFF2-40B4-BE49-F238E27FC236}">
                <a16:creationId xmlns:a16="http://schemas.microsoft.com/office/drawing/2014/main" id="{13C6C062-701A-ADF6-ED38-157FC09213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678859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기안 작성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그룹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내역을 기안 작성 등록한다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465571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3DBD00-9A85-0134-8899-E3C66ED1FE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FC1B4BD-F98F-CF66-BE6B-A2B9477026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6450891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2B617C50-2518-CDD5-677B-F7A746289A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0C59199-EA11-C8D7-E7CF-E7D8B13D86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76791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69625D84-9ED8-4EA4-066F-9B2FB2F53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377527"/>
              </p:ext>
            </p:extLst>
          </p:nvPr>
        </p:nvGraphicFramePr>
        <p:xfrm>
          <a:off x="247260" y="5032086"/>
          <a:ext cx="11710849" cy="115380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9AD2C9BF-DC24-CA60-87D4-F61F9A08BB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678859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기안 작성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그룹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내역을 기안 작성 등록한다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102903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DB93BD-00D2-E6E4-40B3-FE644AB21E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EFB8926B-EEFE-CC64-9382-DC0FA39BEA39}"/>
              </a:ext>
            </a:extLst>
          </p:cNvPr>
          <p:cNvGraphicFramePr>
            <a:graphicFrameLocks noGrp="1"/>
          </p:cNvGraphicFramePr>
          <p:nvPr/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5657886-1F67-5807-CD63-091AC2A051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D4AAE3ED-3CA0-D86A-A20E-16023F2517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15285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EE49D51A-69AE-6142-BCBA-D45953F696E9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417018"/>
          <a:ext cx="11698678" cy="27691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AC1CD29E-7C17-5357-A66E-C8217E3D0B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678859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기안 작성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그룹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내역을 기안 작성 등록한다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75565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F12C8B-CC67-1131-1FA4-D69EF2FEB7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51B19B8F-054F-C76A-2E57-BF9E083A94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2846501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복합 전자결재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전자결재 다 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그룹결재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조건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분값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특화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이커머스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같은 종류끼리 검토완료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묶음결재 가능</a:t>
                      </a:r>
                      <a:endParaRPr lang="en-US" altLang="ko-KR" sz="900" dirty="0">
                        <a:solidFill>
                          <a:schemeClr val="tx1"/>
                        </a:solidFill>
                      </a:endParaRPr>
                    </a:p>
                    <a:p>
                      <a:pPr marL="0" indent="0" defTabSz="371464" fontAlgn="base">
                        <a:lnSpc>
                          <a:spcPct val="12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 -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제목 자동 생성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: </a:t>
                      </a:r>
                      <a:r>
                        <a:rPr kumimoji="1" lang="ko-KR" altLang="en-US" sz="900" b="0" baseline="300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②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kumimoji="1" lang="ko-KR" altLang="en-US" sz="900" b="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해당명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 분류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⑤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PM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⑦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제품명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최초 선택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“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제품명 등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”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텍스트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-&gt; 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검토완료</a:t>
                      </a: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묶음결재 시 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 변경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자동 문구 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“(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포함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 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문구 적용 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 문서구분은 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신규상품 안전성 검토 및 조건부 완료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</a:t>
                      </a:r>
                      <a:r>
                        <a:rPr kumimoji="1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같이 묶여 있음</a:t>
                      </a: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연결된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전자결재문서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본문의 제품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나열 순서는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 완료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우선 나열</a:t>
                      </a:r>
                      <a:endParaRPr kumimoji="1" lang="en-US" altLang="ko-KR" sz="900" b="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40404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sym typeface="Wingdings"/>
                      </a:endParaRPr>
                    </a:p>
                    <a:p>
                      <a:pPr marL="0" indent="0" defTabSz="371464" fontAlgn="base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    :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예시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)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프로모션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/ Spring1 /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신제품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/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음료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/ 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파인 코코넛향 소스 등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5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품목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(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조건부완료 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2</a:t>
                      </a:r>
                      <a:r>
                        <a:rPr kumimoji="1" lang="ko-KR" altLang="en-US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건 포함</a:t>
                      </a:r>
                      <a:r>
                        <a:rPr kumimoji="1" lang="en-US" altLang="ko-KR" sz="900" b="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/>
                        </a:rPr>
                        <a:t>)</a:t>
                      </a:r>
                    </a:p>
                    <a:p>
                      <a:pPr marL="0" indent="0" defTabSz="371464" fontAlgn="base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endParaRPr kumimoji="1" lang="en-US" altLang="ko-KR" sz="900" b="0" dirty="0">
                        <a:ln>
                          <a:solidFill>
                            <a:srgbClr val="000000">
                              <a:alpha val="20000"/>
                            </a:srgbClr>
                          </a:solidFill>
                        </a:ln>
                        <a:solidFill>
                          <a:srgbClr val="40404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sym typeface="Wingding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0A59ED6F-C71D-437F-416E-4B901E0A06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678859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기안 작성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그룹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내역을 기안 작성 등록한다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260360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" name="그림 92">
            <a:extLst>
              <a:ext uri="{FF2B5EF4-FFF2-40B4-BE49-F238E27FC236}">
                <a16:creationId xmlns:a16="http://schemas.microsoft.com/office/drawing/2014/main" id="{50A62395-13A7-2A09-1F13-A6A8FB4B3ED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9038"/>
          <a:stretch/>
        </p:blipFill>
        <p:spPr>
          <a:xfrm>
            <a:off x="277155" y="1501481"/>
            <a:ext cx="9310230" cy="3854002"/>
          </a:xfrm>
          <a:prstGeom prst="rect">
            <a:avLst/>
          </a:prstGeom>
        </p:spPr>
      </p:pic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730793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SFTY000050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712953"/>
              </p:ext>
            </p:extLst>
          </p:nvPr>
        </p:nvGraphicFramePr>
        <p:xfrm>
          <a:off x="9868434" y="1664954"/>
          <a:ext cx="2066563" cy="28789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알림 표시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검토자에게만 아이콘 출력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요청자에게만 아이콘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구분값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특화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이커머스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같은 종류끼리 검토완료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묶음결재 가능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 변경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자동 문구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“(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포함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문구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 문서구분은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신규상품 안전성 검토 및 조건부 완료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같이 묶여 있음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전자결재문서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본문의 제품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나열 순서는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 완료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우선 나열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결재요청</a:t>
                      </a:r>
                      <a:r>
                        <a:rPr lang="en-US" altLang="ko-KR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가능한 상태인지 체크 로직 추가 </a:t>
                      </a:r>
                      <a:endParaRPr lang="ko-KR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</a:tbl>
          </a:graphicData>
        </a:graphic>
      </p:graphicFrame>
      <p:grpSp>
        <p:nvGrpSpPr>
          <p:cNvPr id="2" name="그룹 21">
            <a:extLst>
              <a:ext uri="{FF2B5EF4-FFF2-40B4-BE49-F238E27FC236}">
                <a16:creationId xmlns:a16="http://schemas.microsoft.com/office/drawing/2014/main" id="{DCB35324-846B-FE34-9058-9CEA23E1659B}"/>
              </a:ext>
            </a:extLst>
          </p:cNvPr>
          <p:cNvGrpSpPr>
            <a:grpSpLocks/>
          </p:cNvGrpSpPr>
          <p:nvPr/>
        </p:nvGrpSpPr>
        <p:grpSpPr bwMode="auto">
          <a:xfrm>
            <a:off x="2352202" y="2918789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742E078F-2EA2-C7B5-B861-440B7A87883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4796A284-E9AA-1BF2-7516-0E25B0C45E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94" name="그룹 21">
            <a:extLst>
              <a:ext uri="{FF2B5EF4-FFF2-40B4-BE49-F238E27FC236}">
                <a16:creationId xmlns:a16="http://schemas.microsoft.com/office/drawing/2014/main" id="{5D558591-9F1A-0674-1838-DC28CD43DE81}"/>
              </a:ext>
            </a:extLst>
          </p:cNvPr>
          <p:cNvGrpSpPr>
            <a:grpSpLocks/>
          </p:cNvGrpSpPr>
          <p:nvPr/>
        </p:nvGrpSpPr>
        <p:grpSpPr bwMode="auto">
          <a:xfrm>
            <a:off x="689446" y="2307709"/>
            <a:ext cx="252413" cy="165100"/>
            <a:chOff x="3125393" y="1499499"/>
            <a:chExt cx="252000" cy="165260"/>
          </a:xfrm>
        </p:grpSpPr>
        <p:sp>
          <p:nvSpPr>
            <p:cNvPr id="120" name="모서리가 둥근 사각형 설명선 321">
              <a:extLst>
                <a:ext uri="{FF2B5EF4-FFF2-40B4-BE49-F238E27FC236}">
                  <a16:creationId xmlns:a16="http://schemas.microsoft.com/office/drawing/2014/main" id="{7AC512D3-CDB6-DE3C-C29A-1584ACFB039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" name="TextBox 23">
              <a:extLst>
                <a:ext uri="{FF2B5EF4-FFF2-40B4-BE49-F238E27FC236}">
                  <a16:creationId xmlns:a16="http://schemas.microsoft.com/office/drawing/2014/main" id="{50CBFCF1-D85C-C9A6-4B6B-AD6B9C03E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4674740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16493"/>
              </p:ext>
            </p:extLst>
          </p:nvPr>
        </p:nvGraphicFramePr>
        <p:xfrm>
          <a:off x="254000" y="1343534"/>
          <a:ext cx="11691939" cy="254140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SERPWEB.SFTY_XMNT_READ_INFO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813649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650225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544416"/>
              </p:ext>
            </p:extLst>
          </p:nvPr>
        </p:nvGraphicFramePr>
        <p:xfrm>
          <a:off x="247260" y="4914393"/>
          <a:ext cx="11710849" cy="161532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6FF21C33-4682-4567-D9BD-3BC1D18AC3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830323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SFTY000050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3608881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0535810"/>
              </p:ext>
            </p:extLst>
          </p:nvPr>
        </p:nvGraphicFramePr>
        <p:xfrm>
          <a:off x="254000" y="1343534"/>
          <a:ext cx="11698679" cy="20768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97089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직수입은 식품만 적용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진행상태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조검부완료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결재상태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결재완료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홍보눌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56320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605856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870024"/>
          <a:ext cx="11698678" cy="25383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CFD49977-2598-F0FE-28CF-F06117FD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830323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SFTY000050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8495221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938386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[2]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결재요청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구분값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특화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이커머스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 같은 종류끼리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검토완료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묶음결재 가능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*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 변경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자동 문구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“(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포함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문구 적용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전자결재 문서구분은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신규상품 안전성 검토 및 조건부 완료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같이 묶여 있음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연결된 전자결재 문서 본문의 제품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나열 순서는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 완료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우선 나열</a:t>
                      </a: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상태 체크 로직 추가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진행상태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조건부완료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검토완료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 +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결재상태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(null/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상신전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:10) 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원인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어드민에서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상태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</a:p>
                    <a:p>
                      <a:pPr marL="0" marR="0" lvl="0" indent="0" algn="l" defTabSz="914286" rtl="0" eaLnBrk="1" fontAlgn="ctr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" name="그림 1">
            <a:extLst>
              <a:ext uri="{FF2B5EF4-FFF2-40B4-BE49-F238E27FC236}">
                <a16:creationId xmlns:a16="http://schemas.microsoft.com/office/drawing/2014/main" id="{DA1125A1-A2EB-1EF4-7166-9315AD69011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6849" y="1614328"/>
            <a:ext cx="168591" cy="168591"/>
          </a:xfrm>
          <a:prstGeom prst="rect">
            <a:avLst/>
          </a:prstGeom>
        </p:spPr>
      </p:pic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DC8C30CA-AFB2-3D9C-E2BD-CB8E9B353D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830323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SFTY000050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현황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F5A5E8FD-BBBE-8172-556F-5B6AB3E4A30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897935" y="1782919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249823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그림 40">
            <a:extLst>
              <a:ext uri="{FF2B5EF4-FFF2-40B4-BE49-F238E27FC236}">
                <a16:creationId xmlns:a16="http://schemas.microsoft.com/office/drawing/2014/main" id="{58CB3318-0A38-6876-91A6-B0E80997EC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93" y="1493636"/>
            <a:ext cx="9563893" cy="3818593"/>
          </a:xfrm>
          <a:prstGeom prst="rect">
            <a:avLst/>
          </a:prstGeom>
        </p:spPr>
      </p:pic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438938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SFTY000060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(1/2)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 내역을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0386564"/>
              </p:ext>
            </p:extLst>
          </p:nvPr>
        </p:nvGraphicFramePr>
        <p:xfrm>
          <a:off x="9871062" y="1664954"/>
          <a:ext cx="2063309" cy="31023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45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7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안전성검토 조회 팝업출력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SKU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별 불러오기 사용 시 이전의 모든 검토 의견과 모든 첨부파일 및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의견등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모두 가져오기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 번호만 신규생성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자동 등록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신규등록시 관리자에 설정한 요청자의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자동설정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중복 시 중복제거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명칭변경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제조사점검 →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신규벤더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여부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제품정보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 "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신규제조사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점검제외조건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"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타이틀을 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"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제조사 점검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"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타이틀만 변경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9689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460736"/>
                  </a:ext>
                </a:extLst>
              </a:tr>
            </a:tbl>
          </a:graphicData>
        </a:graphic>
      </p:graphicFrame>
      <p:grpSp>
        <p:nvGrpSpPr>
          <p:cNvPr id="60" name="그룹 21">
            <a:extLst>
              <a:ext uri="{FF2B5EF4-FFF2-40B4-BE49-F238E27FC236}">
                <a16:creationId xmlns:a16="http://schemas.microsoft.com/office/drawing/2014/main" id="{9FE89528-D71F-53DB-771A-5F6D78CDE08A}"/>
              </a:ext>
            </a:extLst>
          </p:cNvPr>
          <p:cNvGrpSpPr>
            <a:grpSpLocks/>
          </p:cNvGrpSpPr>
          <p:nvPr/>
        </p:nvGrpSpPr>
        <p:grpSpPr bwMode="auto">
          <a:xfrm>
            <a:off x="7299624" y="1851845"/>
            <a:ext cx="252413" cy="165100"/>
            <a:chOff x="3125393" y="1499499"/>
            <a:chExt cx="252000" cy="165260"/>
          </a:xfrm>
        </p:grpSpPr>
        <p:sp>
          <p:nvSpPr>
            <p:cNvPr id="61" name="모서리가 둥근 사각형 설명선 321">
              <a:extLst>
                <a:ext uri="{FF2B5EF4-FFF2-40B4-BE49-F238E27FC236}">
                  <a16:creationId xmlns:a16="http://schemas.microsoft.com/office/drawing/2014/main" id="{3EE88270-4FDF-9901-4C14-95101C20873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23">
              <a:extLst>
                <a:ext uri="{FF2B5EF4-FFF2-40B4-BE49-F238E27FC236}">
                  <a16:creationId xmlns:a16="http://schemas.microsoft.com/office/drawing/2014/main" id="{48A1B526-92A7-E407-64BA-BA4E1F441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63" name="그룹 21">
            <a:extLst>
              <a:ext uri="{FF2B5EF4-FFF2-40B4-BE49-F238E27FC236}">
                <a16:creationId xmlns:a16="http://schemas.microsoft.com/office/drawing/2014/main" id="{E66F1A5A-905B-8887-34DD-5F03EE3B2891}"/>
              </a:ext>
            </a:extLst>
          </p:cNvPr>
          <p:cNvGrpSpPr>
            <a:grpSpLocks/>
          </p:cNvGrpSpPr>
          <p:nvPr/>
        </p:nvGrpSpPr>
        <p:grpSpPr bwMode="auto">
          <a:xfrm>
            <a:off x="136561" y="3375589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BC4575A4-97AA-935F-DC58-0EBFF175953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BCA69941-A6DF-0FD8-29D6-CB037C37F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AF4EED7F-F753-A071-5038-EF21358C260F}"/>
              </a:ext>
            </a:extLst>
          </p:cNvPr>
          <p:cNvCxnSpPr>
            <a:cxnSpLocks/>
          </p:cNvCxnSpPr>
          <p:nvPr/>
        </p:nvCxnSpPr>
        <p:spPr bwMode="auto">
          <a:xfrm flipV="1">
            <a:off x="2883184" y="4234014"/>
            <a:ext cx="706718" cy="327456"/>
          </a:xfrm>
          <a:prstGeom prst="bentConnector3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104EDC18-2B7A-0999-36C2-74D7059E538C}"/>
              </a:ext>
            </a:extLst>
          </p:cNvPr>
          <p:cNvSpPr txBox="1"/>
          <p:nvPr/>
        </p:nvSpPr>
        <p:spPr>
          <a:xfrm>
            <a:off x="3527931" y="4127719"/>
            <a:ext cx="8047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800" b="0" i="0" u="none" strike="noStrike" kern="1200" cap="none" spc="-5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신규벤더</a:t>
            </a:r>
            <a:r>
              <a:rPr kumimoji="0" lang="ko-KR" altLang="en-US" sz="800" b="0" i="0" u="none" strike="noStrike" kern="1200" cap="none" spc="-5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여부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1" name="그룹 21">
            <a:extLst>
              <a:ext uri="{FF2B5EF4-FFF2-40B4-BE49-F238E27FC236}">
                <a16:creationId xmlns:a16="http://schemas.microsoft.com/office/drawing/2014/main" id="{D9DCD823-F0A3-D1A3-E1FC-CAB8EEB96BB9}"/>
              </a:ext>
            </a:extLst>
          </p:cNvPr>
          <p:cNvGrpSpPr>
            <a:grpSpLocks/>
          </p:cNvGrpSpPr>
          <p:nvPr/>
        </p:nvGrpSpPr>
        <p:grpSpPr bwMode="auto">
          <a:xfrm>
            <a:off x="3256592" y="4002593"/>
            <a:ext cx="252413" cy="165100"/>
            <a:chOff x="3125393" y="1499499"/>
            <a:chExt cx="252000" cy="165260"/>
          </a:xfrm>
        </p:grpSpPr>
        <p:sp>
          <p:nvSpPr>
            <p:cNvPr id="52" name="모서리가 둥근 사각형 설명선 321">
              <a:extLst>
                <a:ext uri="{FF2B5EF4-FFF2-40B4-BE49-F238E27FC236}">
                  <a16:creationId xmlns:a16="http://schemas.microsoft.com/office/drawing/2014/main" id="{CC3426B0-850D-A4F9-E395-48742582DA6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23">
              <a:extLst>
                <a:ext uri="{FF2B5EF4-FFF2-40B4-BE49-F238E27FC236}">
                  <a16:creationId xmlns:a16="http://schemas.microsoft.com/office/drawing/2014/main" id="{A3AAB796-4690-9BE9-FC76-27848D06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55" name="그룹 21">
            <a:extLst>
              <a:ext uri="{FF2B5EF4-FFF2-40B4-BE49-F238E27FC236}">
                <a16:creationId xmlns:a16="http://schemas.microsoft.com/office/drawing/2014/main" id="{D10DE637-D738-BD23-2281-A10ECABAFE90}"/>
              </a:ext>
            </a:extLst>
          </p:cNvPr>
          <p:cNvGrpSpPr>
            <a:grpSpLocks/>
          </p:cNvGrpSpPr>
          <p:nvPr/>
        </p:nvGrpSpPr>
        <p:grpSpPr bwMode="auto">
          <a:xfrm>
            <a:off x="98603" y="4785201"/>
            <a:ext cx="252412" cy="165100"/>
            <a:chOff x="3125399" y="1499499"/>
            <a:chExt cx="252000" cy="165260"/>
          </a:xfrm>
        </p:grpSpPr>
        <p:sp>
          <p:nvSpPr>
            <p:cNvPr id="56" name="모서리가 둥근 사각형 설명선 321">
              <a:extLst>
                <a:ext uri="{FF2B5EF4-FFF2-40B4-BE49-F238E27FC236}">
                  <a16:creationId xmlns:a16="http://schemas.microsoft.com/office/drawing/2014/main" id="{5DD2055C-0554-23E8-15BC-E6960EA6EE2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23">
              <a:extLst>
                <a:ext uri="{FF2B5EF4-FFF2-40B4-BE49-F238E27FC236}">
                  <a16:creationId xmlns:a16="http://schemas.microsoft.com/office/drawing/2014/main" id="{00A0249D-5DDA-A882-18EA-E1B97BE3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cxnSp>
        <p:nvCxnSpPr>
          <p:cNvPr id="77" name="연결선: 꺾임 76">
            <a:extLst>
              <a:ext uri="{FF2B5EF4-FFF2-40B4-BE49-F238E27FC236}">
                <a16:creationId xmlns:a16="http://schemas.microsoft.com/office/drawing/2014/main" id="{55E79F2F-DCF0-5993-4875-BB67A3CCC165}"/>
              </a:ext>
            </a:extLst>
          </p:cNvPr>
          <p:cNvCxnSpPr>
            <a:cxnSpLocks/>
          </p:cNvCxnSpPr>
          <p:nvPr/>
        </p:nvCxnSpPr>
        <p:spPr bwMode="auto">
          <a:xfrm>
            <a:off x="412117" y="4888926"/>
            <a:ext cx="706469" cy="251245"/>
          </a:xfrm>
          <a:prstGeom prst="bentConnector3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86" name="TextBox 85">
            <a:extLst>
              <a:ext uri="{FF2B5EF4-FFF2-40B4-BE49-F238E27FC236}">
                <a16:creationId xmlns:a16="http://schemas.microsoft.com/office/drawing/2014/main" id="{0492E427-FB94-7F2B-6F10-C8C5DECEDC39}"/>
              </a:ext>
            </a:extLst>
          </p:cNvPr>
          <p:cNvSpPr txBox="1"/>
          <p:nvPr/>
        </p:nvSpPr>
        <p:spPr>
          <a:xfrm>
            <a:off x="1034786" y="5029067"/>
            <a:ext cx="8047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제조사 점검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4684520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2352828"/>
              </p:ext>
            </p:extLst>
          </p:nvPr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640514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SFTY000060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(2/2)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0221491"/>
              </p:ext>
            </p:extLst>
          </p:nvPr>
        </p:nvGraphicFramePr>
        <p:xfrm>
          <a:off x="9857335" y="1664954"/>
          <a:ext cx="2067327" cy="23982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21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- 6. 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 성적서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항목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삭제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 성적서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는 검토자 화면에서 요청자와 검토자 모두 조회만 가능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사용성 검사 성적서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(QC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신설 교체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- 7. 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확약서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항목 삭제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확약서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는 검토자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화면에서요청자와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검토자 모두 조회만 가능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- 7.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lang="ko-KR" altLang="en-US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샘플점검</a:t>
                      </a: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시생산품</a:t>
                      </a: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1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양산품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)’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신설 교체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lang="ko-KR" altLang="en-US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출고 검사 성적서</a:t>
                      </a: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(OQC </a:t>
                      </a:r>
                      <a:r>
                        <a:rPr lang="ko-KR" altLang="en-US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)’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 신설</a:t>
                      </a:r>
                      <a:endParaRPr lang="en-US" altLang="ko-KR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- 9. </a:t>
                      </a:r>
                      <a:r>
                        <a:rPr lang="ko-KR" altLang="en-US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b="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신설</a:t>
                      </a:r>
                      <a:endParaRPr lang="en-US" altLang="ko-KR" sz="700" b="0" strike="noStrik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오픈시에 소스에서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리마크하여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Invisible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98002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735492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A70ACE1E-40C0-16A5-6DA7-C9E160B57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630" y="2655343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544C601B-1683-8FB1-B3D8-F12A45ED4F5A}"/>
              </a:ext>
            </a:extLst>
          </p:cNvPr>
          <p:cNvGraphicFramePr>
            <a:graphicFrameLocks noGrp="1"/>
          </p:cNvGraphicFramePr>
          <p:nvPr/>
        </p:nvGraphicFramePr>
        <p:xfrm>
          <a:off x="446370" y="2866125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B8B7710E-3108-2D67-978B-63C2E1E0D100}"/>
              </a:ext>
            </a:extLst>
          </p:cNvPr>
          <p:cNvSpPr txBox="1"/>
          <p:nvPr/>
        </p:nvSpPr>
        <p:spPr>
          <a:xfrm>
            <a:off x="520357" y="2599567"/>
            <a:ext cx="154561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검사 성적서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혼용율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등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pic>
        <p:nvPicPr>
          <p:cNvPr id="37" name="그림 36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E3C20F2A-CD27-BB27-B74F-BC43F219266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1649" y="2654024"/>
            <a:ext cx="137416" cy="137416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AAC42E17-B700-E7DA-4181-083C7DB29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3892" y="264946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F1928AD-BCFD-68CD-949A-70C549934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0307" y="265192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B302BC8-D9D0-4B62-94C0-4B503DE8B932}"/>
              </a:ext>
            </a:extLst>
          </p:cNvPr>
          <p:cNvGraphicFramePr>
            <a:graphicFrameLocks noGrp="1"/>
          </p:cNvGraphicFramePr>
          <p:nvPr/>
        </p:nvGraphicFramePr>
        <p:xfrm>
          <a:off x="3602047" y="2862704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ACF64F99-59B1-C8E0-55CD-DD0669EF51C9}"/>
              </a:ext>
            </a:extLst>
          </p:cNvPr>
          <p:cNvSpPr txBox="1"/>
          <p:nvPr/>
        </p:nvSpPr>
        <p:spPr>
          <a:xfrm>
            <a:off x="3676034" y="2596146"/>
            <a:ext cx="124745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인허가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인증서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해당 시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pic>
        <p:nvPicPr>
          <p:cNvPr id="48" name="그림 47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ABFDDB70-EAEE-F9D6-18C9-39B4FEA2E9B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7326" y="2650603"/>
            <a:ext cx="137416" cy="137416"/>
          </a:xfrm>
          <a:prstGeom prst="rect">
            <a:avLst/>
          </a:prstGeom>
        </p:spPr>
      </p:pic>
      <p:sp>
        <p:nvSpPr>
          <p:cNvPr id="49" name="직사각형 48">
            <a:extLst>
              <a:ext uri="{FF2B5EF4-FFF2-40B4-BE49-F238E27FC236}">
                <a16:creationId xmlns:a16="http://schemas.microsoft.com/office/drawing/2014/main" id="{F4E82D82-5949-25EC-4CF7-62B57B25A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569" y="264604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749ADA1-B4F3-96D3-3E9E-EFF4A76CA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0137" y="265192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83A134C6-B85B-95DD-8B26-190E1ED7347C}"/>
              </a:ext>
            </a:extLst>
          </p:cNvPr>
          <p:cNvGraphicFramePr>
            <a:graphicFrameLocks noGrp="1"/>
          </p:cNvGraphicFramePr>
          <p:nvPr/>
        </p:nvGraphicFramePr>
        <p:xfrm>
          <a:off x="6731877" y="2862704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52" name="TextBox 51">
            <a:extLst>
              <a:ext uri="{FF2B5EF4-FFF2-40B4-BE49-F238E27FC236}">
                <a16:creationId xmlns:a16="http://schemas.microsoft.com/office/drawing/2014/main" id="{59A26912-BC9A-92E5-B7A6-CFB366CD213B}"/>
              </a:ext>
            </a:extLst>
          </p:cNvPr>
          <p:cNvSpPr txBox="1"/>
          <p:nvPr/>
        </p:nvSpPr>
        <p:spPr>
          <a:xfrm>
            <a:off x="6815730" y="2631006"/>
            <a:ext cx="146065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사용성 검사 성적서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(QC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항목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pic>
        <p:nvPicPr>
          <p:cNvPr id="55" name="그림 54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7528096B-0A85-90AB-1E64-A1EFF742713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7156" y="2650603"/>
            <a:ext cx="137416" cy="137416"/>
          </a:xfrm>
          <a:prstGeom prst="rect">
            <a:avLst/>
          </a:prstGeom>
        </p:spPr>
      </p:pic>
      <p:sp>
        <p:nvSpPr>
          <p:cNvPr id="56" name="직사각형 55">
            <a:extLst>
              <a:ext uri="{FF2B5EF4-FFF2-40B4-BE49-F238E27FC236}">
                <a16:creationId xmlns:a16="http://schemas.microsoft.com/office/drawing/2014/main" id="{B19F5C1B-44D6-80AC-89CA-77B27294E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9399" y="264604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2647E7A-E474-7626-13C7-CE73FCBF0FC7}"/>
              </a:ext>
            </a:extLst>
          </p:cNvPr>
          <p:cNvSpPr txBox="1"/>
          <p:nvPr/>
        </p:nvSpPr>
        <p:spPr>
          <a:xfrm>
            <a:off x="255148" y="5487109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주의사항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5582ECF-F9C5-1FD4-D610-6998D4DE327A}"/>
              </a:ext>
            </a:extLst>
          </p:cNvPr>
          <p:cNvSpPr txBox="1"/>
          <p:nvPr/>
        </p:nvSpPr>
        <p:spPr>
          <a:xfrm>
            <a:off x="277158" y="5690646"/>
            <a:ext cx="825899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본 안전성 검토 업무는 제품 출시 최소 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개월 전 요청을 주시기 바랍니다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잘못된 정보나 파일을 첨부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누락할 경우 제품 출시 불가 또는 지연될 수 있으니 주의하여 주십시오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l"/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본 시스템에서 항목별 검토가 완료된 후 안전성 검토 기안을 </a:t>
            </a:r>
            <a:r>
              <a:rPr lang="ko-KR" altLang="en-US" sz="800" b="0" i="0" dirty="0" err="1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상신할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수 있습니다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l"/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제조사 점검이 누락되지 않도록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점검 대상 선정 기준을 바탕으로 점검 필요 여부 사전 검토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요청 부탁드립니다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  <a:p>
            <a:pPr algn="l"/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검토 진행 시에는 첨부파일별 검토자 의견을 참고하여 주시고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업데이트된 사항은 추후 </a:t>
            </a:r>
            <a:r>
              <a:rPr lang="ko-KR" altLang="en-US" sz="800" b="0" i="0" dirty="0" err="1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요청자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의견에 작성하여 주십시오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l"/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※ “</a:t>
            </a:r>
            <a:r>
              <a:rPr lang="ko-KR" altLang="en-US" sz="800" b="0" i="0" dirty="0" err="1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긴급“처리는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리더십의 긴급 결정사항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그룹 차원의 전략메뉴 출시 등에 한정합니다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r>
              <a:rPr lang="ko-KR" altLang="en-US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요청자의 개인적 선택은 지양하시기 바랍니다</a:t>
            </a:r>
            <a:r>
              <a:rPr lang="en-US" altLang="ko-KR" sz="800" b="0" i="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endParaRPr lang="ko-KR" altLang="en-US" sz="1800" dirty="0">
              <a:solidFill>
                <a:schemeClr val="bg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80F0E89-243A-EE3D-A499-128404E15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630" y="1695709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D4FFF4B-250D-8045-3C99-9854DCA924D3}"/>
              </a:ext>
            </a:extLst>
          </p:cNvPr>
          <p:cNvGraphicFramePr>
            <a:graphicFrameLocks noGrp="1"/>
          </p:cNvGraphicFramePr>
          <p:nvPr/>
        </p:nvGraphicFramePr>
        <p:xfrm>
          <a:off x="446370" y="1906491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9BF61126-35B2-2103-55E9-C6187C970F20}"/>
              </a:ext>
            </a:extLst>
          </p:cNvPr>
          <p:cNvSpPr txBox="1"/>
          <p:nvPr/>
        </p:nvSpPr>
        <p:spPr>
          <a:xfrm>
            <a:off x="520357" y="1639933"/>
            <a:ext cx="123303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1. SCK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품질 점검 의뢰서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pic>
        <p:nvPicPr>
          <p:cNvPr id="7" name="그림 6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089691DA-959F-058B-0971-857D4CACD22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1649" y="1694390"/>
            <a:ext cx="137416" cy="137416"/>
          </a:xfrm>
          <a:prstGeom prst="rect">
            <a:avLst/>
          </a:prstGeom>
        </p:spPr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F0D74264-151E-1022-4667-E9CFEF96A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3892" y="1689833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975A6F2-8776-8E47-B967-E56E15355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0307" y="1692288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117" name="표 116">
            <a:extLst>
              <a:ext uri="{FF2B5EF4-FFF2-40B4-BE49-F238E27FC236}">
                <a16:creationId xmlns:a16="http://schemas.microsoft.com/office/drawing/2014/main" id="{5BB2EE05-AFD3-1349-9B6D-6632493C9EF6}"/>
              </a:ext>
            </a:extLst>
          </p:cNvPr>
          <p:cNvGraphicFramePr>
            <a:graphicFrameLocks noGrp="1"/>
          </p:cNvGraphicFramePr>
          <p:nvPr/>
        </p:nvGraphicFramePr>
        <p:xfrm>
          <a:off x="3602047" y="1903070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118" name="TextBox 117">
            <a:extLst>
              <a:ext uri="{FF2B5EF4-FFF2-40B4-BE49-F238E27FC236}">
                <a16:creationId xmlns:a16="http://schemas.microsoft.com/office/drawing/2014/main" id="{21F1B6D3-71D8-349A-10B9-0742BFE6CC8F}"/>
              </a:ext>
            </a:extLst>
          </p:cNvPr>
          <p:cNvSpPr txBox="1"/>
          <p:nvPr/>
        </p:nvSpPr>
        <p:spPr>
          <a:xfrm>
            <a:off x="3676034" y="1636512"/>
            <a:ext cx="85632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품질표시사항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9" name="그림 118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3846BB82-CF3F-7B3E-591A-A4884DA46A0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7326" y="1690969"/>
            <a:ext cx="137416" cy="137416"/>
          </a:xfrm>
          <a:prstGeom prst="rect">
            <a:avLst/>
          </a:prstGeom>
        </p:spPr>
      </p:pic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B655E175-52EF-8119-DD39-C571C0CDF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569" y="168641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28C2D5D1-3AE0-B673-26EF-531EF51F3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0137" y="1692288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122" name="표 121">
            <a:extLst>
              <a:ext uri="{FF2B5EF4-FFF2-40B4-BE49-F238E27FC236}">
                <a16:creationId xmlns:a16="http://schemas.microsoft.com/office/drawing/2014/main" id="{5AE2F8CA-D790-C5C6-13ED-9402F5734CFF}"/>
              </a:ext>
            </a:extLst>
          </p:cNvPr>
          <p:cNvGraphicFramePr>
            <a:graphicFrameLocks noGrp="1"/>
          </p:cNvGraphicFramePr>
          <p:nvPr/>
        </p:nvGraphicFramePr>
        <p:xfrm>
          <a:off x="6731877" y="1903070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123" name="TextBox 122">
            <a:extLst>
              <a:ext uri="{FF2B5EF4-FFF2-40B4-BE49-F238E27FC236}">
                <a16:creationId xmlns:a16="http://schemas.microsoft.com/office/drawing/2014/main" id="{FE605324-A061-DDC5-C05C-33C2A441683A}"/>
              </a:ext>
            </a:extLst>
          </p:cNvPr>
          <p:cNvSpPr txBox="1"/>
          <p:nvPr/>
        </p:nvSpPr>
        <p:spPr>
          <a:xfrm>
            <a:off x="6805864" y="1636512"/>
            <a:ext cx="1111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포장재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시안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구성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24" name="그림 123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0ABD05AD-FE64-7BA5-B039-F295FDFE259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7156" y="1690969"/>
            <a:ext cx="137416" cy="137416"/>
          </a:xfrm>
          <a:prstGeom prst="rect">
            <a:avLst/>
          </a:prstGeom>
        </p:spPr>
      </p:pic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2E2AFD4-8945-DEDB-36ED-51B8A79B1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9399" y="168641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37F3890-DBA6-4BD7-6F49-D80438E6DB09}"/>
              </a:ext>
            </a:extLst>
          </p:cNvPr>
          <p:cNvSpPr txBox="1"/>
          <p:nvPr/>
        </p:nvSpPr>
        <p:spPr>
          <a:xfrm>
            <a:off x="324358" y="1392839"/>
            <a:ext cx="52309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 등록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  </a:t>
            </a:r>
            <a:r>
              <a:rPr lang="en-US" altLang="ko-KR" sz="10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10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항목별 다수 파일 등록 가능</a:t>
            </a:r>
            <a:r>
              <a:rPr lang="en-US" altLang="ko-KR" sz="10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첨부파일은 </a:t>
            </a:r>
            <a:r>
              <a:rPr lang="en-US" altLang="ko-KR" sz="10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10MB </a:t>
            </a:r>
            <a:r>
              <a:rPr lang="ko-KR" altLang="en-US" sz="10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이하 파일만 가능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" name="그룹 21">
            <a:extLst>
              <a:ext uri="{FF2B5EF4-FFF2-40B4-BE49-F238E27FC236}">
                <a16:creationId xmlns:a16="http://schemas.microsoft.com/office/drawing/2014/main" id="{49E4B36D-E094-B905-35BD-4CF4614FC1DC}"/>
              </a:ext>
            </a:extLst>
          </p:cNvPr>
          <p:cNvGrpSpPr>
            <a:grpSpLocks/>
          </p:cNvGrpSpPr>
          <p:nvPr/>
        </p:nvGrpSpPr>
        <p:grpSpPr bwMode="auto">
          <a:xfrm>
            <a:off x="189662" y="3535763"/>
            <a:ext cx="252413" cy="165100"/>
            <a:chOff x="3125393" y="1499499"/>
            <a:chExt cx="252000" cy="165260"/>
          </a:xfrm>
        </p:grpSpPr>
        <p:sp>
          <p:nvSpPr>
            <p:cNvPr id="18" name="모서리가 둥근 사각형 설명선 321">
              <a:extLst>
                <a:ext uri="{FF2B5EF4-FFF2-40B4-BE49-F238E27FC236}">
                  <a16:creationId xmlns:a16="http://schemas.microsoft.com/office/drawing/2014/main" id="{F9B9B1DB-11F4-45C0-8782-3F1169B7E6B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TextBox 23">
              <a:extLst>
                <a:ext uri="{FF2B5EF4-FFF2-40B4-BE49-F238E27FC236}">
                  <a16:creationId xmlns:a16="http://schemas.microsoft.com/office/drawing/2014/main" id="{4E8B150A-3B41-5767-E9E0-54C2C83645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grpSp>
        <p:nvGrpSpPr>
          <p:cNvPr id="20" name="그룹 21">
            <a:extLst>
              <a:ext uri="{FF2B5EF4-FFF2-40B4-BE49-F238E27FC236}">
                <a16:creationId xmlns:a16="http://schemas.microsoft.com/office/drawing/2014/main" id="{83B74A73-666C-65CD-1851-FE566B505458}"/>
              </a:ext>
            </a:extLst>
          </p:cNvPr>
          <p:cNvGrpSpPr>
            <a:grpSpLocks/>
          </p:cNvGrpSpPr>
          <p:nvPr/>
        </p:nvGrpSpPr>
        <p:grpSpPr bwMode="auto">
          <a:xfrm>
            <a:off x="3391695" y="3519625"/>
            <a:ext cx="252413" cy="165100"/>
            <a:chOff x="3125393" y="1499499"/>
            <a:chExt cx="252000" cy="165260"/>
          </a:xfrm>
        </p:grpSpPr>
        <p:sp>
          <p:nvSpPr>
            <p:cNvPr id="21" name="모서리가 둥근 사각형 설명선 321">
              <a:extLst>
                <a:ext uri="{FF2B5EF4-FFF2-40B4-BE49-F238E27FC236}">
                  <a16:creationId xmlns:a16="http://schemas.microsoft.com/office/drawing/2014/main" id="{9A0147E8-2181-503A-28DF-4F3314D92D1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3">
              <a:extLst>
                <a:ext uri="{FF2B5EF4-FFF2-40B4-BE49-F238E27FC236}">
                  <a16:creationId xmlns:a16="http://schemas.microsoft.com/office/drawing/2014/main" id="{85F1B3E4-E76D-59DD-12BF-22A79B8B85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6AB7289A-88BD-D7F2-A236-F60ED84D3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8576" y="3677371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A83CA477-F63C-38E2-84BC-78BA91867D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8421078"/>
              </p:ext>
            </p:extLst>
          </p:nvPr>
        </p:nvGraphicFramePr>
        <p:xfrm>
          <a:off x="450316" y="3888153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BAEBCF38-FEC7-591B-C5E7-15DC201EDA9D}"/>
              </a:ext>
            </a:extLst>
          </p:cNvPr>
          <p:cNvSpPr txBox="1"/>
          <p:nvPr/>
        </p:nvSpPr>
        <p:spPr>
          <a:xfrm>
            <a:off x="515914" y="3621595"/>
            <a:ext cx="15872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샘플점검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시생산품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양산품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1" name="그림 30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24EA8A62-E708-19A4-E919-101EE0B4E01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5595" y="3676052"/>
            <a:ext cx="137416" cy="137416"/>
          </a:xfrm>
          <a:prstGeom prst="rect">
            <a:avLst/>
          </a:prstGeom>
        </p:spPr>
      </p:pic>
      <p:sp>
        <p:nvSpPr>
          <p:cNvPr id="32" name="직사각형 31">
            <a:extLst>
              <a:ext uri="{FF2B5EF4-FFF2-40B4-BE49-F238E27FC236}">
                <a16:creationId xmlns:a16="http://schemas.microsoft.com/office/drawing/2014/main" id="{03D69F24-C1D0-43D0-1E82-06EF332C1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7838" y="3671495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99F208C-19D9-CD8A-76C6-F30E9D0E3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4320" y="1459937"/>
            <a:ext cx="704726" cy="138243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가이드 다운로드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" name="그룹 21">
            <a:extLst>
              <a:ext uri="{FF2B5EF4-FFF2-40B4-BE49-F238E27FC236}">
                <a16:creationId xmlns:a16="http://schemas.microsoft.com/office/drawing/2014/main" id="{177266C1-EB93-B5E1-3A06-B2982DBFC1AC}"/>
              </a:ext>
            </a:extLst>
          </p:cNvPr>
          <p:cNvGrpSpPr>
            <a:grpSpLocks/>
          </p:cNvGrpSpPr>
          <p:nvPr/>
        </p:nvGrpSpPr>
        <p:grpSpPr bwMode="auto">
          <a:xfrm>
            <a:off x="6524513" y="2466285"/>
            <a:ext cx="252413" cy="165100"/>
            <a:chOff x="3125393" y="1499499"/>
            <a:chExt cx="252000" cy="165260"/>
          </a:xfrm>
        </p:grpSpPr>
        <p:sp>
          <p:nvSpPr>
            <p:cNvPr id="12" name="모서리가 둥근 사각형 설명선 321">
              <a:extLst>
                <a:ext uri="{FF2B5EF4-FFF2-40B4-BE49-F238E27FC236}">
                  <a16:creationId xmlns:a16="http://schemas.microsoft.com/office/drawing/2014/main" id="{99B6FB66-C533-FFEF-5DF6-9187D286750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23">
              <a:extLst>
                <a:ext uri="{FF2B5EF4-FFF2-40B4-BE49-F238E27FC236}">
                  <a16:creationId xmlns:a16="http://schemas.microsoft.com/office/drawing/2014/main" id="{13A78D37-B76C-EA52-619D-E6D32F324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grpSp>
        <p:nvGrpSpPr>
          <p:cNvPr id="34" name="그룹 21">
            <a:extLst>
              <a:ext uri="{FF2B5EF4-FFF2-40B4-BE49-F238E27FC236}">
                <a16:creationId xmlns:a16="http://schemas.microsoft.com/office/drawing/2014/main" id="{0E315441-E86F-3C12-8A7C-4C36C87F82BE}"/>
              </a:ext>
            </a:extLst>
          </p:cNvPr>
          <p:cNvGrpSpPr>
            <a:grpSpLocks/>
          </p:cNvGrpSpPr>
          <p:nvPr/>
        </p:nvGrpSpPr>
        <p:grpSpPr bwMode="auto">
          <a:xfrm>
            <a:off x="6487436" y="3527591"/>
            <a:ext cx="252413" cy="165100"/>
            <a:chOff x="3125393" y="1499499"/>
            <a:chExt cx="252000" cy="165260"/>
          </a:xfrm>
        </p:grpSpPr>
        <p:sp>
          <p:nvSpPr>
            <p:cNvPr id="36" name="모서리가 둥근 사각형 설명선 321">
              <a:extLst>
                <a:ext uri="{FF2B5EF4-FFF2-40B4-BE49-F238E27FC236}">
                  <a16:creationId xmlns:a16="http://schemas.microsoft.com/office/drawing/2014/main" id="{C55FC0F4-CD0C-2676-97C0-15FFF5EC22E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TextBox 23">
              <a:extLst>
                <a:ext uri="{FF2B5EF4-FFF2-40B4-BE49-F238E27FC236}">
                  <a16:creationId xmlns:a16="http://schemas.microsoft.com/office/drawing/2014/main" id="{95E58215-2452-A6E8-6308-5131115A3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8A13C21-CFF6-C4A3-534B-13DC92DA2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5031" y="370219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D1FCD882-588B-1483-7F24-0D5A9126F5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7498525"/>
              </p:ext>
            </p:extLst>
          </p:nvPr>
        </p:nvGraphicFramePr>
        <p:xfrm>
          <a:off x="3546771" y="3912974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DD7AD894-6B26-D3F5-7607-8634069885D9}"/>
              </a:ext>
            </a:extLst>
          </p:cNvPr>
          <p:cNvSpPr txBox="1"/>
          <p:nvPr/>
        </p:nvSpPr>
        <p:spPr>
          <a:xfrm>
            <a:off x="3620758" y="3646416"/>
            <a:ext cx="138211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8. </a:t>
            </a:r>
            <a:r>
              <a:rPr lang="ko-KR" altLang="en-US" sz="7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출고 검사 성적서</a:t>
            </a:r>
            <a:r>
              <a:rPr lang="en-US" altLang="ko-KR" sz="7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(OQC </a:t>
            </a:r>
            <a:r>
              <a:rPr lang="ko-KR" altLang="en-US" sz="7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</a:t>
            </a:r>
            <a:r>
              <a:rPr lang="en-US" altLang="ko-KR" sz="7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6" name="그림 25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15E01663-24CD-7362-66E7-54EA7E1F713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52050" y="3700873"/>
            <a:ext cx="137416" cy="137416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44D0C914-4904-EC9C-F5D9-9FC3AF9A1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4293" y="369631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A1B394C9-8CDF-DB1B-1840-EE34E4D38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01377" y="3698209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75" name="표 74">
            <a:extLst>
              <a:ext uri="{FF2B5EF4-FFF2-40B4-BE49-F238E27FC236}">
                <a16:creationId xmlns:a16="http://schemas.microsoft.com/office/drawing/2014/main" id="{3C066718-544A-7F8A-9735-7DDEB33A72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3449719"/>
              </p:ext>
            </p:extLst>
          </p:nvPr>
        </p:nvGraphicFramePr>
        <p:xfrm>
          <a:off x="6713117" y="3908991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76" name="TextBox 75">
            <a:extLst>
              <a:ext uri="{FF2B5EF4-FFF2-40B4-BE49-F238E27FC236}">
                <a16:creationId xmlns:a16="http://schemas.microsoft.com/office/drawing/2014/main" id="{34505839-E8FF-4A33-A151-69A98939DA36}"/>
              </a:ext>
            </a:extLst>
          </p:cNvPr>
          <p:cNvSpPr txBox="1"/>
          <p:nvPr/>
        </p:nvSpPr>
        <p:spPr>
          <a:xfrm>
            <a:off x="6787104" y="3642433"/>
            <a:ext cx="52931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pic>
        <p:nvPicPr>
          <p:cNvPr id="77" name="그림 76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8E3D1BD8-30E0-AC40-9C4C-C30EF781250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18396" y="3696890"/>
            <a:ext cx="137416" cy="137416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CDEBC425-B325-12AA-61BE-5E3E1B732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0639" y="3692333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3B74ECD-3A51-5661-4AE4-5CFE37F04F00}"/>
              </a:ext>
            </a:extLst>
          </p:cNvPr>
          <p:cNvSpPr txBox="1"/>
          <p:nvPr/>
        </p:nvSpPr>
        <p:spPr>
          <a:xfrm>
            <a:off x="3884022" y="5322893"/>
            <a:ext cx="491594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모든 첨부파일 업로드시 특수문자</a:t>
            </a:r>
            <a:r>
              <a:rPr lang="en-US" altLang="ko-KR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들어가서 오작동 발생되니 첨부 시 </a:t>
            </a:r>
            <a:r>
              <a:rPr lang="en-US" altLang="ko-KR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Alert</a:t>
            </a:r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으로 팝업 표기</a:t>
            </a:r>
          </a:p>
        </p:txBody>
      </p: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4DF0A714-C275-67D3-FA91-2E200BB06274}"/>
              </a:ext>
            </a:extLst>
          </p:cNvPr>
          <p:cNvCxnSpPr>
            <a:cxnSpLocks/>
            <a:stCxn id="74" idx="1"/>
          </p:cNvCxnSpPr>
          <p:nvPr/>
        </p:nvCxnSpPr>
        <p:spPr bwMode="auto">
          <a:xfrm flipH="1">
            <a:off x="6810103" y="3771419"/>
            <a:ext cx="1791274" cy="1497267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97696124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5975070"/>
              </p:ext>
            </p:extLst>
          </p:nvPr>
        </p:nvGraphicFramePr>
        <p:xfrm>
          <a:off x="254000" y="1343534"/>
          <a:ext cx="11691939" cy="323368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SERPWEB.SFTY_XMNT_RFRNR_INFO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참조자구분코드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(REFR_DIV_CODE)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SERPWEB.SFTY_XMNT_ATTN_MTR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주의사항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SERPWEB.SFTY_XMNT_BASIC_INFO_HIST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기본정보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03633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SERPWEB.SFTY_XMNT_ITEM_INFO_HIST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제품정보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97503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77428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748825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666509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4930677"/>
          <a:ext cx="11710849" cy="13845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8830F2F1-33F2-88E5-6E29-4C92FEDB42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063387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SFTY000060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2502083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067947"/>
              </p:ext>
            </p:extLst>
          </p:nvPr>
        </p:nvGraphicFramePr>
        <p:xfrm>
          <a:off x="254000" y="1343534"/>
          <a:ext cx="11698679" cy="3364365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797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07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비식품첨부파일분류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 SCK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 점검 의뢰서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201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한글 표시사항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증빙자료 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lang="ko-KR" altLang="en-US" sz="900" strike="noStrik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202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 정보확약서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203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 자료 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204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205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206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섬유제품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207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 보완 서류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2Q0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216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217 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218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230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명칭변경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주의사항구분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점검제외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(MD),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임원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자동등록 부서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코드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부서코드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참조값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 코드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06207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0054642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5053489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4646479"/>
              </p:ext>
            </p:extLst>
          </p:nvPr>
        </p:nvGraphicFramePr>
        <p:xfrm>
          <a:off x="247260" y="5367991"/>
          <a:ext cx="11698678" cy="9230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037EE002-CD3C-FA74-9218-89B7FFACB6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912247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SFTY000060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890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3890145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명칭변경 및 필수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제조사점검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신규벤더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’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디폴트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미해당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색상변경 및 검토요청 필수 제외로 변경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신규제조사 점검 제외조건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제조사 점검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‘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작성중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’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 요청 건의 정보를 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항목 변경 및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항목 삭제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기타 성적서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확약서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1" lang="ko-KR" altLang="en-US" sz="900" b="0" kern="1200" spc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검토상세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화면 만 출력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 파일 업로드 없음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항목 명칭변경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900" strike="noStrike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케어라벨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시안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증빙자료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&gt; </a:t>
                      </a:r>
                      <a:r>
                        <a:rPr lang="ko-KR" altLang="en-US" sz="900" strike="noStrik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검수요청시 필수로 변경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           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포함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&gt;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           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포장재 시안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증빙자료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포장재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시안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구성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추가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사용성 검사 성적서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(QC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,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샘플점검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시생산품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noStrike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양산품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,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출고 검사 성적서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(OQC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코드 추가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2Q0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216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217 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218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230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파일업로드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특수문자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(%)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업로드 시 파일명에 특수 문자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‘%’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 로직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[4]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불어오기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SKU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별 불러오기 사용 시 이전의 모든 검토 의견과 모든 첨부파일 및 의견 등 모두 가져오기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제외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0" lang="ko-KR" altLang="en-US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 번호만 신규생성 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[5]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자동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신규등록시 관리자에 설정한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비식품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자동설정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로그인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부서 코드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자동등록 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로 확인 후 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(MD))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으로 등록한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자동등록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자동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중복 시 중복제거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FEA01E7F-A99C-4342-5BB1-8907E4C754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912247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SFTY000060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요청한 내역 등록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832789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54" name="그림 53">
            <a:extLst>
              <a:ext uri="{FF2B5EF4-FFF2-40B4-BE49-F238E27FC236}">
                <a16:creationId xmlns:a16="http://schemas.microsoft.com/office/drawing/2014/main" id="{779C63B4-F1FA-411B-F002-9D2CEB53C0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0066" y="1562603"/>
            <a:ext cx="9339247" cy="2512506"/>
          </a:xfrm>
          <a:prstGeom prst="rect">
            <a:avLst/>
          </a:prstGeom>
        </p:spPr>
      </p:pic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52414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SFTY000070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1801138"/>
              </p:ext>
            </p:extLst>
          </p:nvPr>
        </p:nvGraphicFramePr>
        <p:xfrm>
          <a:off x="9846998" y="1664954"/>
          <a:ext cx="2088000" cy="26228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알림 표시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검토자에게만 아이콘 출력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검토자가 첨부파일 등록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요청자에게만 아이콘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현재는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모두에게 표시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엑셀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함목추가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 안전성 검토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해당 여부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미해당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②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③ 검토 미완료 항목 </a:t>
                      </a:r>
                      <a:endParaRPr lang="ko-KR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b="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6738463"/>
                  </a:ext>
                </a:extLst>
              </a:tr>
            </a:tbl>
          </a:graphicData>
        </a:graphic>
      </p:graphicFrame>
      <p:grpSp>
        <p:nvGrpSpPr>
          <p:cNvPr id="2" name="그룹 21">
            <a:extLst>
              <a:ext uri="{FF2B5EF4-FFF2-40B4-BE49-F238E27FC236}">
                <a16:creationId xmlns:a16="http://schemas.microsoft.com/office/drawing/2014/main" id="{D02C0947-DF58-C575-EB33-7578637D4051}"/>
              </a:ext>
            </a:extLst>
          </p:cNvPr>
          <p:cNvGrpSpPr>
            <a:grpSpLocks/>
          </p:cNvGrpSpPr>
          <p:nvPr/>
        </p:nvGrpSpPr>
        <p:grpSpPr bwMode="auto">
          <a:xfrm>
            <a:off x="2487398" y="2920699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B9123EBD-2D56-B989-AEE5-ED40D6EB7C9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F988302D-2C35-4C93-8285-5B17610E9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5" name="그룹 21">
            <a:extLst>
              <a:ext uri="{FF2B5EF4-FFF2-40B4-BE49-F238E27FC236}">
                <a16:creationId xmlns:a16="http://schemas.microsoft.com/office/drawing/2014/main" id="{D1307B42-D9D9-FBEA-17DA-D016DAE6C72E}"/>
              </a:ext>
            </a:extLst>
          </p:cNvPr>
          <p:cNvGrpSpPr>
            <a:grpSpLocks/>
          </p:cNvGrpSpPr>
          <p:nvPr/>
        </p:nvGrpSpPr>
        <p:grpSpPr bwMode="auto">
          <a:xfrm>
            <a:off x="220017" y="2408284"/>
            <a:ext cx="252413" cy="165100"/>
            <a:chOff x="3125393" y="1499499"/>
            <a:chExt cx="252000" cy="165260"/>
          </a:xfrm>
        </p:grpSpPr>
        <p:sp>
          <p:nvSpPr>
            <p:cNvPr id="6" name="모서리가 둥근 사각형 설명선 321">
              <a:extLst>
                <a:ext uri="{FF2B5EF4-FFF2-40B4-BE49-F238E27FC236}">
                  <a16:creationId xmlns:a16="http://schemas.microsoft.com/office/drawing/2014/main" id="{843AE506-9FA1-2207-B810-65DC20CE6CB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" name="TextBox 23">
              <a:extLst>
                <a:ext uri="{FF2B5EF4-FFF2-40B4-BE49-F238E27FC236}">
                  <a16:creationId xmlns:a16="http://schemas.microsoft.com/office/drawing/2014/main" id="{21AEC344-879E-C3B8-D63F-44EE79FC78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pic>
        <p:nvPicPr>
          <p:cNvPr id="58" name="그림 57">
            <a:extLst>
              <a:ext uri="{FF2B5EF4-FFF2-40B4-BE49-F238E27FC236}">
                <a16:creationId xmlns:a16="http://schemas.microsoft.com/office/drawing/2014/main" id="{BAE3664D-AA98-1284-5534-6EDEF360F575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655516" y="3085799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213925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748337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SERPWEB.SFTY_XMNT_READ_INFO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939927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3724950"/>
              </p:ext>
            </p:extLst>
          </p:nvPr>
        </p:nvGraphicFramePr>
        <p:xfrm>
          <a:off x="247260" y="5204095"/>
          <a:ext cx="11710849" cy="92304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C7DF5275-5522-6F91-134C-3656C8DDCC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907613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SFTY000070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788288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7301372"/>
              </p:ext>
            </p:extLst>
          </p:nvPr>
        </p:nvGraphicFramePr>
        <p:xfrm>
          <a:off x="254000" y="1343534"/>
          <a:ext cx="11698679" cy="230760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 추가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진행상태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조검부완료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결재상태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결재완료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780294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06487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9317432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949805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4213973"/>
          <a:ext cx="11698678" cy="20768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BEF307B9-B63D-0752-7E1A-CCAF7C3C9F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907613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SFTY000070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2141644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8508178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[2]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엑셀다운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엑셀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함목추가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 안전성 검토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해당 여부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미해당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②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 ③ 검토 미완료 항목 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</a:t>
                      </a:r>
                      <a:r>
                        <a:rPr lang="ko-KR" altLang="ko-KR" sz="900" kern="1200" dirty="0" err="1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미준수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사유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 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및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'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 미완료 항목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'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 내용은 콤마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(,) </a:t>
                      </a:r>
                      <a:r>
                        <a:rPr lang="ko-KR" altLang="ko-KR" sz="9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구분하여 출력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" name="그림 1">
            <a:extLst>
              <a:ext uri="{FF2B5EF4-FFF2-40B4-BE49-F238E27FC236}">
                <a16:creationId xmlns:a16="http://schemas.microsoft.com/office/drawing/2014/main" id="{E91AA907-F618-1CD8-DDA5-67D083D9E70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6849" y="1612678"/>
            <a:ext cx="168591" cy="168591"/>
          </a:xfrm>
          <a:prstGeom prst="rect">
            <a:avLst/>
          </a:prstGeom>
        </p:spPr>
      </p:pic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C9142AC5-850F-7048-9532-E62FCEAA1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907613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SFTY000070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현황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5095C629-2414-9F3D-909C-27239C04ED08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888881" y="1781269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12361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2826E8C2-B015-466C-A90D-1EBB9752B373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33673"/>
          <a:stretch/>
        </p:blipFill>
        <p:spPr>
          <a:xfrm>
            <a:off x="323923" y="1499322"/>
            <a:ext cx="9333883" cy="2951380"/>
          </a:xfrm>
          <a:prstGeom prst="rect">
            <a:avLst/>
          </a:prstGeom>
        </p:spPr>
      </p:pic>
      <p:graphicFrame>
        <p:nvGraphicFramePr>
          <p:cNvPr id="9" name="Group 234"/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(1/2)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pSp>
        <p:nvGrpSpPr>
          <p:cNvPr id="43" name="그룹 21">
            <a:extLst>
              <a:ext uri="{FF2B5EF4-FFF2-40B4-BE49-F238E27FC236}">
                <a16:creationId xmlns:a16="http://schemas.microsoft.com/office/drawing/2014/main" id="{41CD5E34-D514-1549-D219-886D9C6692AD}"/>
              </a:ext>
            </a:extLst>
          </p:cNvPr>
          <p:cNvGrpSpPr>
            <a:grpSpLocks/>
          </p:cNvGrpSpPr>
          <p:nvPr/>
        </p:nvGrpSpPr>
        <p:grpSpPr bwMode="auto">
          <a:xfrm>
            <a:off x="8912546" y="4127913"/>
            <a:ext cx="252413" cy="165100"/>
            <a:chOff x="3125393" y="1499499"/>
            <a:chExt cx="252000" cy="165260"/>
          </a:xfrm>
        </p:grpSpPr>
        <p:sp>
          <p:nvSpPr>
            <p:cNvPr id="44" name="모서리가 둥근 사각형 설명선 321">
              <a:extLst>
                <a:ext uri="{FF2B5EF4-FFF2-40B4-BE49-F238E27FC236}">
                  <a16:creationId xmlns:a16="http://schemas.microsoft.com/office/drawing/2014/main" id="{679BC07B-56C7-B859-1B7B-D31F0C43538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23">
              <a:extLst>
                <a:ext uri="{FF2B5EF4-FFF2-40B4-BE49-F238E27FC236}">
                  <a16:creationId xmlns:a16="http://schemas.microsoft.com/office/drawing/2014/main" id="{EF254179-608F-894B-6057-FA125181F0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63" name="그룹 21">
            <a:extLst>
              <a:ext uri="{FF2B5EF4-FFF2-40B4-BE49-F238E27FC236}">
                <a16:creationId xmlns:a16="http://schemas.microsoft.com/office/drawing/2014/main" id="{D33856DE-D1EA-48AC-6460-6B34F3DDA622}"/>
              </a:ext>
            </a:extLst>
          </p:cNvPr>
          <p:cNvGrpSpPr>
            <a:grpSpLocks/>
          </p:cNvGrpSpPr>
          <p:nvPr/>
        </p:nvGrpSpPr>
        <p:grpSpPr bwMode="auto">
          <a:xfrm>
            <a:off x="2511857" y="3926073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3B65939E-01BC-979D-A7A4-5A62A251027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3B1FF1B2-6D99-9D19-9864-4D42193404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grpSp>
        <p:nvGrpSpPr>
          <p:cNvPr id="133" name="그룹 21">
            <a:extLst>
              <a:ext uri="{FF2B5EF4-FFF2-40B4-BE49-F238E27FC236}">
                <a16:creationId xmlns:a16="http://schemas.microsoft.com/office/drawing/2014/main" id="{2CFC5797-E69E-8DFD-709C-323B3C2A5EC7}"/>
              </a:ext>
            </a:extLst>
          </p:cNvPr>
          <p:cNvGrpSpPr>
            <a:grpSpLocks/>
          </p:cNvGrpSpPr>
          <p:nvPr/>
        </p:nvGrpSpPr>
        <p:grpSpPr bwMode="auto">
          <a:xfrm>
            <a:off x="6996795" y="1664954"/>
            <a:ext cx="252413" cy="165100"/>
            <a:chOff x="3125393" y="1499499"/>
            <a:chExt cx="252000" cy="165260"/>
          </a:xfrm>
        </p:grpSpPr>
        <p:sp>
          <p:nvSpPr>
            <p:cNvPr id="134" name="모서리가 둥근 사각형 설명선 321">
              <a:extLst>
                <a:ext uri="{FF2B5EF4-FFF2-40B4-BE49-F238E27FC236}">
                  <a16:creationId xmlns:a16="http://schemas.microsoft.com/office/drawing/2014/main" id="{D378FE36-B26C-FD20-3577-97284D27B70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" name="TextBox 23">
              <a:extLst>
                <a:ext uri="{FF2B5EF4-FFF2-40B4-BE49-F238E27FC236}">
                  <a16:creationId xmlns:a16="http://schemas.microsoft.com/office/drawing/2014/main" id="{42486528-03FC-5553-9569-9545E3889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37" name="그룹 21">
            <a:extLst>
              <a:ext uri="{FF2B5EF4-FFF2-40B4-BE49-F238E27FC236}">
                <a16:creationId xmlns:a16="http://schemas.microsoft.com/office/drawing/2014/main" id="{282D66AA-443C-05A3-3B99-A917F31137A5}"/>
              </a:ext>
            </a:extLst>
          </p:cNvPr>
          <p:cNvGrpSpPr>
            <a:grpSpLocks/>
          </p:cNvGrpSpPr>
          <p:nvPr/>
        </p:nvGrpSpPr>
        <p:grpSpPr bwMode="auto">
          <a:xfrm>
            <a:off x="4864657" y="1933565"/>
            <a:ext cx="252413" cy="165100"/>
            <a:chOff x="3125393" y="1499499"/>
            <a:chExt cx="252000" cy="165260"/>
          </a:xfrm>
        </p:grpSpPr>
        <p:sp>
          <p:nvSpPr>
            <p:cNvPr id="41" name="모서리가 둥근 사각형 설명선 321">
              <a:extLst>
                <a:ext uri="{FF2B5EF4-FFF2-40B4-BE49-F238E27FC236}">
                  <a16:creationId xmlns:a16="http://schemas.microsoft.com/office/drawing/2014/main" id="{8B50629F-CBB6-3FA1-EEA9-0E2F25A3B60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" name="TextBox 23">
              <a:extLst>
                <a:ext uri="{FF2B5EF4-FFF2-40B4-BE49-F238E27FC236}">
                  <a16:creationId xmlns:a16="http://schemas.microsoft.com/office/drawing/2014/main" id="{02D54D3F-7D32-3911-D83B-206E17B0B0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sp>
        <p:nvSpPr>
          <p:cNvPr id="7" name="직사각형 6">
            <a:extLst>
              <a:ext uri="{FF2B5EF4-FFF2-40B4-BE49-F238E27FC236}">
                <a16:creationId xmlns:a16="http://schemas.microsoft.com/office/drawing/2014/main" id="{03BFDEBE-6E04-DD96-9BEF-E661158D8BD1}"/>
              </a:ext>
            </a:extLst>
          </p:cNvPr>
          <p:cNvSpPr/>
          <p:nvPr/>
        </p:nvSpPr>
        <p:spPr bwMode="auto">
          <a:xfrm>
            <a:off x="7132320" y="1933565"/>
            <a:ext cx="2525484" cy="165100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121830"/>
              </p:ext>
            </p:extLst>
          </p:nvPr>
        </p:nvGraphicFramePr>
        <p:xfrm>
          <a:off x="9856329" y="1664954"/>
          <a:ext cx="2088000" cy="4638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구분에 프로모션 지정시에 프로모션 번호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 값이 지정되지 않아도 검토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 완료 가능하도록 로직 변경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식품도 동일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메일에 검토자의 마지막 의견이 항목별 노출되어 메일 전송메일에 검토자의 마지막 의견이 항목별 노출되어 메일 전송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메일내용 다음 페이지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버튼 순서변경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재검토요청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명칭변경 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제조사점검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신규벤더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여부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QA/QC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입력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의견완료가 검토완료 필수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- 2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줄로 늘여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 및 팝업 버튼 추가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최종 첨부파일은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QA/QC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→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3655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QA(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출력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기존과동일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46189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출력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1, 2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항목에 대하여 요청의견을 작성하면 검토자 권한으로 접근하는 사람은 누구나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알림아이콘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표기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(07/22)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189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출력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SFTY000080_P03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84751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출력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SFTY000080_P03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113224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5759BC88-E994-3F57-EFFC-67B4F4214D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3221483"/>
              </p:ext>
            </p:extLst>
          </p:nvPr>
        </p:nvGraphicFramePr>
        <p:xfrm>
          <a:off x="247671" y="4487483"/>
          <a:ext cx="9516815" cy="17697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14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8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15292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66707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75225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302957"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1.  SCK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품질 점검 의뢰서</a:t>
                      </a:r>
                      <a:endParaRPr kumimoji="1" lang="en-US" altLang="ko-KR" sz="700" b="0" kern="1200" spc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29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27964792"/>
                  </a:ext>
                </a:extLst>
              </a:tr>
              <a:tr h="293914"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2. 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품질표시사항</a:t>
                      </a:r>
                      <a:endParaRPr kumimoji="1" lang="en-US" altLang="ko-KR" sz="700" b="0" kern="1200" spc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939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947679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3.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포장재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시안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구성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89938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4.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안전성검사성적서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2079362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006E9982-0D77-43CF-FBEC-9E6F1AD8F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7625" y="4676371"/>
            <a:ext cx="486236" cy="186600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1D997CA9-C7F7-767B-6280-AD2D6E599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21" y="5696493"/>
            <a:ext cx="486236" cy="14874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0D63698-6A5E-7D6D-C960-5BE832ED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21" y="6001532"/>
            <a:ext cx="486236" cy="14874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8F8ADE6-4587-1053-643A-D65851FD3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9086" y="4513658"/>
            <a:ext cx="743117" cy="186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E646F21-1416-1ED9-8260-1EA998861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0591" y="4515601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EBD14C1-7D43-85ED-B109-D74794D22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8921" y="4795156"/>
            <a:ext cx="743117" cy="186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FD195B6-EE58-3701-44A6-6EF92BAC6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0426" y="4797099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ED03569-68CE-5B6A-F747-D186113F0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1133" y="5371478"/>
            <a:ext cx="743117" cy="186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D73DA188-E075-21DD-0E47-44CDB6A67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2638" y="5373421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97C27E5C-B9ED-BC54-47F2-6ED816D2A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8402" y="4516374"/>
            <a:ext cx="3628894" cy="22949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kumimoji="1" lang="en-US" altLang="ko-KR" sz="700" b="0" kern="1200" spc="0" baseline="0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QA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완료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6943142-6AC6-9081-B886-DCC082533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2093" y="4809375"/>
            <a:ext cx="3625203" cy="22949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kumimoji="1" lang="en-US" altLang="ko-KR" sz="700" b="0" kern="1200" spc="0" baseline="0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QC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B18FB7F-EA33-9167-9918-79FD3B98A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72" y="5408159"/>
            <a:ext cx="3616150" cy="22949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kern="1200" spc="0" baseline="0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QC </a:t>
            </a: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완료취소</a:t>
            </a:r>
          </a:p>
        </p:txBody>
      </p:sp>
      <p:pic>
        <p:nvPicPr>
          <p:cNvPr id="123" name="그림 122">
            <a:extLst>
              <a:ext uri="{FF2B5EF4-FFF2-40B4-BE49-F238E27FC236}">
                <a16:creationId xmlns:a16="http://schemas.microsoft.com/office/drawing/2014/main" id="{168CFB36-9C91-A1BF-EC9E-243A24BEB971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487462" y="4578712"/>
            <a:ext cx="168591" cy="168591"/>
          </a:xfrm>
          <a:prstGeom prst="rect">
            <a:avLst/>
          </a:prstGeom>
        </p:spPr>
      </p:pic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C91650E0-41B9-C44A-5254-A8457284E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2093" y="5114893"/>
            <a:ext cx="3625203" cy="22949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CE27B4BE-DEB7-4B46-9D3A-A5CEA7D4E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1133" y="5081796"/>
            <a:ext cx="743117" cy="186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DC930FDF-826B-8DCF-8EB7-52FB1DE22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2638" y="5083739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18159DC2-88C6-F4B9-29D6-3CDE8E7BC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5901" y="4675346"/>
            <a:ext cx="1152255" cy="220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913F80AC-E3E2-07DF-7C85-949A1E04E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5901" y="5237085"/>
            <a:ext cx="1152255" cy="220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9B94D814-0FDD-3A32-7D40-D942D2F25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5901" y="5687273"/>
            <a:ext cx="1152255" cy="220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434D6CAE-D465-8D8A-15FA-B5BD44F77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0349" y="5974282"/>
            <a:ext cx="1152255" cy="220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622AF85-F66F-58FB-8AF3-F43369B20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7625" y="5258908"/>
            <a:ext cx="486236" cy="189563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75845F0D-236E-26DB-E504-4A13C39DC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2077" y="5980433"/>
            <a:ext cx="3616150" cy="22949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완료취소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F4FD8895-5A66-9444-A090-89E650533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5198" y="5687167"/>
            <a:ext cx="3625203" cy="22949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cxnSp>
        <p:nvCxnSpPr>
          <p:cNvPr id="156" name="연결선: 꺾임 155">
            <a:extLst>
              <a:ext uri="{FF2B5EF4-FFF2-40B4-BE49-F238E27FC236}">
                <a16:creationId xmlns:a16="http://schemas.microsoft.com/office/drawing/2014/main" id="{502F9C23-5FF9-FE49-64B6-91904E366979}"/>
              </a:ext>
            </a:extLst>
          </p:cNvPr>
          <p:cNvCxnSpPr>
            <a:cxnSpLocks/>
          </p:cNvCxnSpPr>
          <p:nvPr/>
        </p:nvCxnSpPr>
        <p:spPr bwMode="auto">
          <a:xfrm flipV="1">
            <a:off x="2764270" y="3790131"/>
            <a:ext cx="706718" cy="327456"/>
          </a:xfrm>
          <a:prstGeom prst="bentConnector3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22BA6FC2-028A-12EA-5F08-CD90ED56FFE3}"/>
              </a:ext>
            </a:extLst>
          </p:cNvPr>
          <p:cNvSpPr txBox="1"/>
          <p:nvPr/>
        </p:nvSpPr>
        <p:spPr>
          <a:xfrm>
            <a:off x="3409017" y="3683836"/>
            <a:ext cx="8047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800" b="0" i="0" u="none" strike="noStrike" kern="1200" cap="none" spc="-5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신규벤더</a:t>
            </a:r>
            <a:r>
              <a:rPr kumimoji="0" lang="ko-KR" altLang="en-US" sz="800" b="0" i="0" u="none" strike="noStrike" kern="1200" cap="none" spc="-5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여부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6" name="그룹 21">
            <a:extLst>
              <a:ext uri="{FF2B5EF4-FFF2-40B4-BE49-F238E27FC236}">
                <a16:creationId xmlns:a16="http://schemas.microsoft.com/office/drawing/2014/main" id="{20D9AC4E-0E9C-728B-B897-730DD7237447}"/>
              </a:ext>
            </a:extLst>
          </p:cNvPr>
          <p:cNvGrpSpPr>
            <a:grpSpLocks/>
          </p:cNvGrpSpPr>
          <p:nvPr/>
        </p:nvGrpSpPr>
        <p:grpSpPr bwMode="auto">
          <a:xfrm>
            <a:off x="169053" y="4524408"/>
            <a:ext cx="252413" cy="165100"/>
            <a:chOff x="3125393" y="1499499"/>
            <a:chExt cx="252000" cy="165260"/>
          </a:xfrm>
        </p:grpSpPr>
        <p:sp>
          <p:nvSpPr>
            <p:cNvPr id="68" name="모서리가 둥근 사각형 설명선 321">
              <a:extLst>
                <a:ext uri="{FF2B5EF4-FFF2-40B4-BE49-F238E27FC236}">
                  <a16:creationId xmlns:a16="http://schemas.microsoft.com/office/drawing/2014/main" id="{B33FD1E4-ABD1-F176-5BC6-CBBB444BBCC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23">
              <a:extLst>
                <a:ext uri="{FF2B5EF4-FFF2-40B4-BE49-F238E27FC236}">
                  <a16:creationId xmlns:a16="http://schemas.microsoft.com/office/drawing/2014/main" id="{7B65CACD-CD43-BDB1-7399-E19B52950C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grpSp>
        <p:nvGrpSpPr>
          <p:cNvPr id="76" name="그룹 21">
            <a:extLst>
              <a:ext uri="{FF2B5EF4-FFF2-40B4-BE49-F238E27FC236}">
                <a16:creationId xmlns:a16="http://schemas.microsoft.com/office/drawing/2014/main" id="{527E33CE-9A02-16B5-604E-551DD8BF27AE}"/>
              </a:ext>
            </a:extLst>
          </p:cNvPr>
          <p:cNvGrpSpPr>
            <a:grpSpLocks/>
          </p:cNvGrpSpPr>
          <p:nvPr/>
        </p:nvGrpSpPr>
        <p:grpSpPr bwMode="auto">
          <a:xfrm>
            <a:off x="1511061" y="4326520"/>
            <a:ext cx="252413" cy="165100"/>
            <a:chOff x="3125393" y="1499499"/>
            <a:chExt cx="252000" cy="165260"/>
          </a:xfrm>
        </p:grpSpPr>
        <p:sp>
          <p:nvSpPr>
            <p:cNvPr id="79" name="모서리가 둥근 사각형 설명선 321">
              <a:extLst>
                <a:ext uri="{FF2B5EF4-FFF2-40B4-BE49-F238E27FC236}">
                  <a16:creationId xmlns:a16="http://schemas.microsoft.com/office/drawing/2014/main" id="{D8B3AFCA-C506-315D-9BE0-8D574E3795F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23">
              <a:extLst>
                <a:ext uri="{FF2B5EF4-FFF2-40B4-BE49-F238E27FC236}">
                  <a16:creationId xmlns:a16="http://schemas.microsoft.com/office/drawing/2014/main" id="{96DD5F54-EE8A-4B72-D205-373994CF4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055A6412-6F26-C4B7-241E-9737D6356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4243" y="6018405"/>
            <a:ext cx="743117" cy="186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3471C0D8-BF15-05A2-26E3-F0C47F264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5748" y="6020348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5A724D71-8BC8-5DB1-2CEA-659D4FBB6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4243" y="5728723"/>
            <a:ext cx="743117" cy="186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A0164EF2-0E52-F00E-43D2-6F0587C06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5748" y="5730666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82" name="그룹 21">
            <a:extLst>
              <a:ext uri="{FF2B5EF4-FFF2-40B4-BE49-F238E27FC236}">
                <a16:creationId xmlns:a16="http://schemas.microsoft.com/office/drawing/2014/main" id="{8ADA982E-6715-76E3-43CC-03445D5A895C}"/>
              </a:ext>
            </a:extLst>
          </p:cNvPr>
          <p:cNvGrpSpPr>
            <a:grpSpLocks/>
          </p:cNvGrpSpPr>
          <p:nvPr/>
        </p:nvGrpSpPr>
        <p:grpSpPr bwMode="auto">
          <a:xfrm>
            <a:off x="1736414" y="4759866"/>
            <a:ext cx="252413" cy="165100"/>
            <a:chOff x="3125393" y="1499499"/>
            <a:chExt cx="252000" cy="165260"/>
          </a:xfrm>
        </p:grpSpPr>
        <p:sp>
          <p:nvSpPr>
            <p:cNvPr id="88" name="모서리가 둥근 사각형 설명선 321">
              <a:extLst>
                <a:ext uri="{FF2B5EF4-FFF2-40B4-BE49-F238E27FC236}">
                  <a16:creationId xmlns:a16="http://schemas.microsoft.com/office/drawing/2014/main" id="{94053015-5402-773F-6662-B78FD3E9AFB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23">
              <a:extLst>
                <a:ext uri="{FF2B5EF4-FFF2-40B4-BE49-F238E27FC236}">
                  <a16:creationId xmlns:a16="http://schemas.microsoft.com/office/drawing/2014/main" id="{435787B8-2790-964F-4979-17768B71F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grpSp>
        <p:nvGrpSpPr>
          <p:cNvPr id="19" name="그룹 21">
            <a:extLst>
              <a:ext uri="{FF2B5EF4-FFF2-40B4-BE49-F238E27FC236}">
                <a16:creationId xmlns:a16="http://schemas.microsoft.com/office/drawing/2014/main" id="{959E7DAB-5332-53CC-5E1E-0B7B675E7C38}"/>
              </a:ext>
            </a:extLst>
          </p:cNvPr>
          <p:cNvGrpSpPr>
            <a:grpSpLocks/>
          </p:cNvGrpSpPr>
          <p:nvPr/>
        </p:nvGrpSpPr>
        <p:grpSpPr bwMode="auto">
          <a:xfrm>
            <a:off x="6402604" y="4359308"/>
            <a:ext cx="252413" cy="165100"/>
            <a:chOff x="3125393" y="1499499"/>
            <a:chExt cx="252000" cy="165260"/>
          </a:xfrm>
        </p:grpSpPr>
        <p:sp>
          <p:nvSpPr>
            <p:cNvPr id="23" name="모서리가 둥근 사각형 설명선 321">
              <a:extLst>
                <a:ext uri="{FF2B5EF4-FFF2-40B4-BE49-F238E27FC236}">
                  <a16:creationId xmlns:a16="http://schemas.microsoft.com/office/drawing/2014/main" id="{5269EEA2-47DF-C812-BF45-F4B813A5E88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3DC604-190B-B6AD-AEA8-52E0C6FD3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grpSp>
        <p:nvGrpSpPr>
          <p:cNvPr id="31" name="그룹 21">
            <a:extLst>
              <a:ext uri="{FF2B5EF4-FFF2-40B4-BE49-F238E27FC236}">
                <a16:creationId xmlns:a16="http://schemas.microsoft.com/office/drawing/2014/main" id="{CB1D06CD-00E9-D069-87CE-8400D21DBED2}"/>
              </a:ext>
            </a:extLst>
          </p:cNvPr>
          <p:cNvGrpSpPr>
            <a:grpSpLocks/>
          </p:cNvGrpSpPr>
          <p:nvPr/>
        </p:nvGrpSpPr>
        <p:grpSpPr bwMode="auto">
          <a:xfrm>
            <a:off x="6421418" y="5065680"/>
            <a:ext cx="252413" cy="165100"/>
            <a:chOff x="3125393" y="1499499"/>
            <a:chExt cx="252000" cy="165260"/>
          </a:xfrm>
        </p:grpSpPr>
        <p:sp>
          <p:nvSpPr>
            <p:cNvPr id="53" name="모서리가 둥근 사각형 설명선 321">
              <a:extLst>
                <a:ext uri="{FF2B5EF4-FFF2-40B4-BE49-F238E27FC236}">
                  <a16:creationId xmlns:a16="http://schemas.microsoft.com/office/drawing/2014/main" id="{A32546BD-CD3C-90DD-20C6-4550BE92C5B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23">
              <a:extLst>
                <a:ext uri="{FF2B5EF4-FFF2-40B4-BE49-F238E27FC236}">
                  <a16:creationId xmlns:a16="http://schemas.microsoft.com/office/drawing/2014/main" id="{9D22AE6D-97A4-B354-A61B-359A0FF575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pSp>
        <p:nvGrpSpPr>
          <p:cNvPr id="165" name="그룹 21">
            <a:extLst>
              <a:ext uri="{FF2B5EF4-FFF2-40B4-BE49-F238E27FC236}">
                <a16:creationId xmlns:a16="http://schemas.microsoft.com/office/drawing/2014/main" id="{3691CF01-AF3B-AB5C-CADA-04269D595F7A}"/>
              </a:ext>
            </a:extLst>
          </p:cNvPr>
          <p:cNvGrpSpPr>
            <a:grpSpLocks/>
          </p:cNvGrpSpPr>
          <p:nvPr/>
        </p:nvGrpSpPr>
        <p:grpSpPr bwMode="auto">
          <a:xfrm>
            <a:off x="127778" y="5193578"/>
            <a:ext cx="252413" cy="165100"/>
            <a:chOff x="3125393" y="1499499"/>
            <a:chExt cx="252000" cy="165260"/>
          </a:xfrm>
        </p:grpSpPr>
        <p:sp>
          <p:nvSpPr>
            <p:cNvPr id="166" name="모서리가 둥근 사각형 설명선 321">
              <a:extLst>
                <a:ext uri="{FF2B5EF4-FFF2-40B4-BE49-F238E27FC236}">
                  <a16:creationId xmlns:a16="http://schemas.microsoft.com/office/drawing/2014/main" id="{0E9E9809-044E-12EE-F686-42942663912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7" name="TextBox 23">
              <a:extLst>
                <a:ext uri="{FF2B5EF4-FFF2-40B4-BE49-F238E27FC236}">
                  <a16:creationId xmlns:a16="http://schemas.microsoft.com/office/drawing/2014/main" id="{E63877B7-1BD2-16BF-6718-A85F3EE3C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grpSp>
        <p:nvGrpSpPr>
          <p:cNvPr id="168" name="그룹 21">
            <a:extLst>
              <a:ext uri="{FF2B5EF4-FFF2-40B4-BE49-F238E27FC236}">
                <a16:creationId xmlns:a16="http://schemas.microsoft.com/office/drawing/2014/main" id="{A73BF24C-5E9F-5754-12E9-B1A068B7E1FE}"/>
              </a:ext>
            </a:extLst>
          </p:cNvPr>
          <p:cNvGrpSpPr>
            <a:grpSpLocks/>
          </p:cNvGrpSpPr>
          <p:nvPr/>
        </p:nvGrpSpPr>
        <p:grpSpPr bwMode="auto">
          <a:xfrm>
            <a:off x="1469786" y="5668945"/>
            <a:ext cx="252413" cy="165100"/>
            <a:chOff x="3125393" y="1499499"/>
            <a:chExt cx="252000" cy="165260"/>
          </a:xfrm>
        </p:grpSpPr>
        <p:sp>
          <p:nvSpPr>
            <p:cNvPr id="169" name="모서리가 둥근 사각형 설명선 321">
              <a:extLst>
                <a:ext uri="{FF2B5EF4-FFF2-40B4-BE49-F238E27FC236}">
                  <a16:creationId xmlns:a16="http://schemas.microsoft.com/office/drawing/2014/main" id="{564ACF84-505A-49C8-62CB-66DDBD2123F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0" name="TextBox 23">
              <a:extLst>
                <a:ext uri="{FF2B5EF4-FFF2-40B4-BE49-F238E27FC236}">
                  <a16:creationId xmlns:a16="http://schemas.microsoft.com/office/drawing/2014/main" id="{979C6C0D-38FD-887C-E3D0-47AC72CD8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  <p:grpSp>
        <p:nvGrpSpPr>
          <p:cNvPr id="171" name="그룹 21">
            <a:extLst>
              <a:ext uri="{FF2B5EF4-FFF2-40B4-BE49-F238E27FC236}">
                <a16:creationId xmlns:a16="http://schemas.microsoft.com/office/drawing/2014/main" id="{76585B93-75F1-9350-CE67-25BD76E72C47}"/>
              </a:ext>
            </a:extLst>
          </p:cNvPr>
          <p:cNvGrpSpPr>
            <a:grpSpLocks/>
          </p:cNvGrpSpPr>
          <p:nvPr/>
        </p:nvGrpSpPr>
        <p:grpSpPr bwMode="auto">
          <a:xfrm>
            <a:off x="6338074" y="5597757"/>
            <a:ext cx="252413" cy="165100"/>
            <a:chOff x="3125393" y="1499499"/>
            <a:chExt cx="252000" cy="165260"/>
          </a:xfrm>
        </p:grpSpPr>
        <p:sp>
          <p:nvSpPr>
            <p:cNvPr id="172" name="모서리가 둥근 사각형 설명선 321">
              <a:extLst>
                <a:ext uri="{FF2B5EF4-FFF2-40B4-BE49-F238E27FC236}">
                  <a16:creationId xmlns:a16="http://schemas.microsoft.com/office/drawing/2014/main" id="{3F05A1A4-6A9D-134B-331E-7A3A1C9943D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3" name="TextBox 23">
              <a:extLst>
                <a:ext uri="{FF2B5EF4-FFF2-40B4-BE49-F238E27FC236}">
                  <a16:creationId xmlns:a16="http://schemas.microsoft.com/office/drawing/2014/main" id="{080C9445-4BBF-E8E8-D275-5B32BFCA3C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12</a:t>
              </a:r>
            </a:p>
          </p:txBody>
        </p:sp>
      </p:grpSp>
      <p:sp>
        <p:nvSpPr>
          <p:cNvPr id="174" name="모서리가 둥근 직사각형 55">
            <a:extLst>
              <a:ext uri="{FF2B5EF4-FFF2-40B4-BE49-F238E27FC236}">
                <a16:creationId xmlns:a16="http://schemas.microsoft.com/office/drawing/2014/main" id="{F6795370-7172-B19B-DC3C-D4A2F914EE68}"/>
              </a:ext>
            </a:extLst>
          </p:cNvPr>
          <p:cNvSpPr/>
          <p:nvPr/>
        </p:nvSpPr>
        <p:spPr>
          <a:xfrm>
            <a:off x="8161008" y="4293652"/>
            <a:ext cx="859022" cy="122991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일괄다운로드</a:t>
            </a:r>
          </a:p>
        </p:txBody>
      </p:sp>
      <p:grpSp>
        <p:nvGrpSpPr>
          <p:cNvPr id="175" name="그룹 21">
            <a:extLst>
              <a:ext uri="{FF2B5EF4-FFF2-40B4-BE49-F238E27FC236}">
                <a16:creationId xmlns:a16="http://schemas.microsoft.com/office/drawing/2014/main" id="{1A098E45-A3EC-D7E7-634F-775CCBA2FC9B}"/>
              </a:ext>
            </a:extLst>
          </p:cNvPr>
          <p:cNvGrpSpPr>
            <a:grpSpLocks/>
          </p:cNvGrpSpPr>
          <p:nvPr/>
        </p:nvGrpSpPr>
        <p:grpSpPr bwMode="auto">
          <a:xfrm>
            <a:off x="7949869" y="4094527"/>
            <a:ext cx="252413" cy="165100"/>
            <a:chOff x="3125393" y="1499499"/>
            <a:chExt cx="252000" cy="165260"/>
          </a:xfrm>
        </p:grpSpPr>
        <p:sp>
          <p:nvSpPr>
            <p:cNvPr id="176" name="모서리가 둥근 사각형 설명선 321">
              <a:extLst>
                <a:ext uri="{FF2B5EF4-FFF2-40B4-BE49-F238E27FC236}">
                  <a16:creationId xmlns:a16="http://schemas.microsoft.com/office/drawing/2014/main" id="{37889E53-BB79-D82E-F72E-2C3A5DE6E47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7" name="TextBox 23">
              <a:extLst>
                <a:ext uri="{FF2B5EF4-FFF2-40B4-BE49-F238E27FC236}">
                  <a16:creationId xmlns:a16="http://schemas.microsoft.com/office/drawing/2014/main" id="{6FA9B237-B023-498D-A25F-B6C7F89A4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13</a:t>
              </a:r>
            </a:p>
          </p:txBody>
        </p:sp>
      </p:grpSp>
      <p:graphicFrame>
        <p:nvGraphicFramePr>
          <p:cNvPr id="178" name="표 177">
            <a:extLst>
              <a:ext uri="{FF2B5EF4-FFF2-40B4-BE49-F238E27FC236}">
                <a16:creationId xmlns:a16="http://schemas.microsoft.com/office/drawing/2014/main" id="{AEA71AB7-164D-03DA-5161-AC33DEBCFF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355733"/>
              </p:ext>
            </p:extLst>
          </p:nvPr>
        </p:nvGraphicFramePr>
        <p:xfrm>
          <a:off x="11944329" y="1933565"/>
          <a:ext cx="2088000" cy="2749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53164492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492579026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명칭변경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: 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품질표시사항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필수항목으로 변경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QA/QC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입력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의견완료가 검토완료 필수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컬럼 제목 색상변경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블랙 →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레드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- 2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줄로 늘여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 및 팝업 버튼 추가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최종 첨부파일은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QA/QC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→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46190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검토자의견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81893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~99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(9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기존 검토자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 팝업 출력 </a:t>
                      </a: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SFTY000040_P03</a:t>
                      </a:r>
                      <a:endParaRPr kumimoji="1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55316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다운로드 팝업 출력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SFTY000040_FILEDOWN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endParaRPr kumimoji="1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248290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2025.07.22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PM)</a:t>
                      </a: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기본정보이력보기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)(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 컬럼추가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구분과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제품분류컬럼사이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30247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조건부완료 확인</a:t>
                      </a:r>
                      <a:r>
                        <a:rPr lang="en-US" altLang="ko-KR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팝업</a:t>
                      </a:r>
                      <a:endParaRPr kumimoji="1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0551938"/>
                  </a:ext>
                </a:extLst>
              </a:tr>
            </a:tbl>
          </a:graphicData>
        </a:graphic>
      </p:graphicFrame>
      <p:sp>
        <p:nvSpPr>
          <p:cNvPr id="2" name="양쪽 모서리가 둥근 사각형 56">
            <a:extLst>
              <a:ext uri="{FF2B5EF4-FFF2-40B4-BE49-F238E27FC236}">
                <a16:creationId xmlns:a16="http://schemas.microsoft.com/office/drawing/2014/main" id="{6A5D3065-35A2-2CB9-7049-89DC5201C7E1}"/>
              </a:ext>
            </a:extLst>
          </p:cNvPr>
          <p:cNvSpPr/>
          <p:nvPr/>
        </p:nvSpPr>
        <p:spPr>
          <a:xfrm>
            <a:off x="3624653" y="5991441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조건부완료로 처리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3" name="그룹 21">
            <a:extLst>
              <a:ext uri="{FF2B5EF4-FFF2-40B4-BE49-F238E27FC236}">
                <a16:creationId xmlns:a16="http://schemas.microsoft.com/office/drawing/2014/main" id="{7CC75DCE-8FBE-FAA0-C716-6078CE96CA60}"/>
              </a:ext>
            </a:extLst>
          </p:cNvPr>
          <p:cNvGrpSpPr>
            <a:grpSpLocks/>
          </p:cNvGrpSpPr>
          <p:nvPr/>
        </p:nvGrpSpPr>
        <p:grpSpPr bwMode="auto">
          <a:xfrm>
            <a:off x="3499661" y="5767914"/>
            <a:ext cx="252413" cy="165100"/>
            <a:chOff x="3125393" y="1499499"/>
            <a:chExt cx="252000" cy="165260"/>
          </a:xfrm>
        </p:grpSpPr>
        <p:sp>
          <p:nvSpPr>
            <p:cNvPr id="4" name="모서리가 둥근 사각형 설명선 321">
              <a:extLst>
                <a:ext uri="{FF2B5EF4-FFF2-40B4-BE49-F238E27FC236}">
                  <a16:creationId xmlns:a16="http://schemas.microsoft.com/office/drawing/2014/main" id="{EADF5C59-62D8-CC93-C38B-017AEEE9579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TextBox 23">
              <a:extLst>
                <a:ext uri="{FF2B5EF4-FFF2-40B4-BE49-F238E27FC236}">
                  <a16:creationId xmlns:a16="http://schemas.microsoft.com/office/drawing/2014/main" id="{39DA1925-7C25-3EF8-D72F-4DADA593E7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9820D03-4D7E-2C1B-A6FF-23F3A745CAFA}"/>
              </a:ext>
            </a:extLst>
          </p:cNvPr>
          <p:cNvSpPr/>
          <p:nvPr/>
        </p:nvSpPr>
        <p:spPr>
          <a:xfrm>
            <a:off x="4090386" y="6549767"/>
            <a:ext cx="985409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BAD4AF1-CA85-68F6-A7C9-5B09526364ED}"/>
              </a:ext>
            </a:extLst>
          </p:cNvPr>
          <p:cNvSpPr/>
          <p:nvPr/>
        </p:nvSpPr>
        <p:spPr>
          <a:xfrm>
            <a:off x="3632671" y="6553186"/>
            <a:ext cx="445573" cy="252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" name="그룹 21">
            <a:extLst>
              <a:ext uri="{FF2B5EF4-FFF2-40B4-BE49-F238E27FC236}">
                <a16:creationId xmlns:a16="http://schemas.microsoft.com/office/drawing/2014/main" id="{8BEE8EA0-6248-76EB-2D23-34BA56BE1348}"/>
              </a:ext>
            </a:extLst>
          </p:cNvPr>
          <p:cNvGrpSpPr>
            <a:grpSpLocks/>
          </p:cNvGrpSpPr>
          <p:nvPr/>
        </p:nvGrpSpPr>
        <p:grpSpPr bwMode="auto">
          <a:xfrm>
            <a:off x="815653" y="1811228"/>
            <a:ext cx="252413" cy="165100"/>
            <a:chOff x="3125393" y="1499499"/>
            <a:chExt cx="252000" cy="165260"/>
          </a:xfrm>
        </p:grpSpPr>
        <p:sp>
          <p:nvSpPr>
            <p:cNvPr id="13" name="모서리가 둥근 사각형 설명선 321">
              <a:extLst>
                <a:ext uri="{FF2B5EF4-FFF2-40B4-BE49-F238E27FC236}">
                  <a16:creationId xmlns:a16="http://schemas.microsoft.com/office/drawing/2014/main" id="{30BB7625-182B-B1F3-44EB-D793DD9956D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TextBox 23">
              <a:extLst>
                <a:ext uri="{FF2B5EF4-FFF2-40B4-BE49-F238E27FC236}">
                  <a16:creationId xmlns:a16="http://schemas.microsoft.com/office/drawing/2014/main" id="{ACD5ABE5-7889-2B91-86C0-586A3BBCA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887199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277095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(2/2)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789231"/>
              </p:ext>
            </p:extLst>
          </p:nvPr>
        </p:nvGraphicFramePr>
        <p:xfrm>
          <a:off x="9857046" y="1664954"/>
          <a:ext cx="2065284" cy="42198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48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04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~99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(9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기존 검토자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 팝업 출력 </a:t>
                      </a: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SFTY000040_P03</a:t>
                      </a:r>
                      <a:endParaRPr kumimoji="1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871522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사용성 검사 성적서</a:t>
                      </a:r>
                      <a:r>
                        <a:rPr lang="en-US" altLang="ko-KR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신규제품검토</a:t>
                      </a:r>
                      <a:r>
                        <a:rPr lang="en-US" altLang="ko-KR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700" b="1" strike="sngStrike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견뢰도</a:t>
                      </a:r>
                      <a:r>
                        <a:rPr lang="en-US" altLang="ko-KR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인장강도 등</a:t>
                      </a:r>
                      <a:r>
                        <a:rPr lang="en-US" altLang="ko-KR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명칭변경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(07/22)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사용성 검사 성적서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(QC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샘</a:t>
                      </a:r>
                      <a:r>
                        <a:rPr lang="ko-KR" altLang="en-US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플점검</a:t>
                      </a: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시생산품</a:t>
                      </a: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1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양산품</a:t>
                      </a: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69079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출고 검사 성적서</a:t>
                      </a:r>
                      <a:r>
                        <a:rPr lang="en-US" altLang="ko-KR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(OQC,</a:t>
                      </a:r>
                      <a:r>
                        <a:rPr lang="ko-KR" altLang="en-US" sz="700" b="1" strike="sngStrike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인스펙션</a:t>
                      </a:r>
                      <a:r>
                        <a:rPr lang="ko-KR" altLang="en-US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</a:t>
                      </a:r>
                      <a:r>
                        <a:rPr lang="en-US" altLang="ko-KR" sz="700" b="1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명칭변경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(07/22)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출고 검사 성적서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(OQC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97539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- 9. </a:t>
                      </a:r>
                      <a:r>
                        <a:rPr lang="ko-KR" altLang="en-US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en-US" altLang="ko-KR" sz="7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b="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신설</a:t>
                      </a:r>
                      <a:endParaRPr lang="en-US" altLang="ko-KR" sz="700" b="0" strike="noStrik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오픈시에 소스에서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리마크하여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Invisible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5838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기존메뉴 변동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98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 출력 시 의견 저장 불가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8656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기존메뉴 변동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99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 출력 시 의견 저장 불가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8634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알림전송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시 메일 포맷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QC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추가로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포맷이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다름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수정예정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9038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600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90148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0A53F27-BDD6-716D-EE07-A534A1B3AAB9}"/>
              </a:ext>
            </a:extLst>
          </p:cNvPr>
          <p:cNvSpPr txBox="1"/>
          <p:nvPr/>
        </p:nvSpPr>
        <p:spPr>
          <a:xfrm>
            <a:off x="269670" y="3582342"/>
            <a:ext cx="10919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보완서류 검토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1DC379-4AE6-DBC7-CB49-65BEBBD381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5362309"/>
              </p:ext>
            </p:extLst>
          </p:nvPr>
        </p:nvGraphicFramePr>
        <p:xfrm>
          <a:off x="402618" y="3824937"/>
          <a:ext cx="9430537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90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014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2045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81512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96502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추가서류 제출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7" name="그룹 21">
            <a:extLst>
              <a:ext uri="{FF2B5EF4-FFF2-40B4-BE49-F238E27FC236}">
                <a16:creationId xmlns:a16="http://schemas.microsoft.com/office/drawing/2014/main" id="{9E11B03F-2B0C-6DF9-9EF3-3290AEF9C4F4}"/>
              </a:ext>
            </a:extLst>
          </p:cNvPr>
          <p:cNvGrpSpPr>
            <a:grpSpLocks/>
          </p:cNvGrpSpPr>
          <p:nvPr/>
        </p:nvGrpSpPr>
        <p:grpSpPr bwMode="auto">
          <a:xfrm>
            <a:off x="195039" y="4466693"/>
            <a:ext cx="252413" cy="165100"/>
            <a:chOff x="3125393" y="1499499"/>
            <a:chExt cx="252000" cy="165260"/>
          </a:xfrm>
        </p:grpSpPr>
        <p:sp>
          <p:nvSpPr>
            <p:cNvPr id="8" name="모서리가 둥근 사각형 설명선 321">
              <a:extLst>
                <a:ext uri="{FF2B5EF4-FFF2-40B4-BE49-F238E27FC236}">
                  <a16:creationId xmlns:a16="http://schemas.microsoft.com/office/drawing/2014/main" id="{27AE1059-D4AC-0C75-653A-A7C92BF138D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" name="TextBox 23">
              <a:extLst>
                <a:ext uri="{FF2B5EF4-FFF2-40B4-BE49-F238E27FC236}">
                  <a16:creationId xmlns:a16="http://schemas.microsoft.com/office/drawing/2014/main" id="{39122552-2BE5-897F-9B9E-ED8139819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21</a:t>
              </a: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295FB25-32C6-FB52-5C44-9F8F3A8F6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2517" y="3836188"/>
            <a:ext cx="404248" cy="21516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33C05666-CEB2-9BE5-3233-E3EAA4A3E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3131" y="3866874"/>
            <a:ext cx="36854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5D76BCBB-FCA3-9BEA-9BAD-6BFC7927D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3985" y="3852438"/>
            <a:ext cx="74434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CF5390C8-A869-734F-4AE6-C26A65E87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1302" y="3825113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8A54CD23-F857-5963-7C05-D4A2A18D13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8494820"/>
              </p:ext>
            </p:extLst>
          </p:nvPr>
        </p:nvGraphicFramePr>
        <p:xfrm>
          <a:off x="320384" y="1508095"/>
          <a:ext cx="9430537" cy="86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96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9991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57943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59131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5.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27999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6. 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사용성 검사 성적서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(QC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50103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샘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플점검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시생산품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양산품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346534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F7C14FE3-3EFD-1F7B-061A-1DC704BBC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739" y="1542483"/>
            <a:ext cx="416542" cy="168257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34C5B7D-0049-205D-17CA-74BA46C9F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737" y="1826041"/>
            <a:ext cx="416543" cy="168257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864DFF9-BB94-4ED5-52E9-54719DDF0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9040" y="1542483"/>
            <a:ext cx="74945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CE628CD-7AFE-CEF4-0778-99190C4A5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7406" y="1542483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1E8A926-31D5-5D91-AC47-9B39467EEF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8875" y="1823981"/>
            <a:ext cx="74945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81A8640-D555-C9B7-9E28-7A724EE3B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7241" y="1823981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E1A57844-43A8-739F-1061-BE946AC31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8623" y="1545200"/>
            <a:ext cx="367798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B75E6AF-B177-9D9A-31BA-AB501D223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8623" y="1838201"/>
            <a:ext cx="367798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BAEDF752-7151-1092-0AE2-6FA76288E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569" y="1543242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11B7ACE8-662F-0B88-BE08-1449BD349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569" y="1830344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73E280A3-629D-BAD9-407A-54E05F75E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569" y="3863253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87CF96E-6F7D-246E-0D02-6BAAD079D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135" y="2104276"/>
            <a:ext cx="415519" cy="168257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D860EEC-EBF0-6D00-2B00-02F44DEFA1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273" y="2102216"/>
            <a:ext cx="74945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7DE2940-811F-21D9-850A-9ED43D095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8639" y="2102216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B046BD05-863F-A605-00E6-18D6606E5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0021" y="2116436"/>
            <a:ext cx="367798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69F8224-3D2B-DA4C-F4C3-5B1FCB871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2967" y="2108579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10A24B68-49CE-CD0B-998E-F97F01357FA4}"/>
              </a:ext>
            </a:extLst>
          </p:cNvPr>
          <p:cNvGrpSpPr/>
          <p:nvPr/>
        </p:nvGrpSpPr>
        <p:grpSpPr>
          <a:xfrm>
            <a:off x="402618" y="4340953"/>
            <a:ext cx="3096127" cy="1855440"/>
            <a:chOff x="5811252" y="2941726"/>
            <a:chExt cx="3096127" cy="2123570"/>
          </a:xfrm>
        </p:grpSpPr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6F276FDA-4037-ACFA-9DC0-DCE356609C17}"/>
                </a:ext>
              </a:extLst>
            </p:cNvPr>
            <p:cNvGrpSpPr/>
            <p:nvPr/>
          </p:nvGrpSpPr>
          <p:grpSpPr>
            <a:xfrm>
              <a:off x="5811252" y="2941726"/>
              <a:ext cx="3096127" cy="2123570"/>
              <a:chOff x="5811252" y="2941726"/>
              <a:chExt cx="3096127" cy="2123570"/>
            </a:xfrm>
          </p:grpSpPr>
          <p:pic>
            <p:nvPicPr>
              <p:cNvPr id="78" name="그림 77">
                <a:extLst>
                  <a:ext uri="{FF2B5EF4-FFF2-40B4-BE49-F238E27FC236}">
                    <a16:creationId xmlns:a16="http://schemas.microsoft.com/office/drawing/2014/main" id="{EE2BC83E-8B6E-B9E0-BB58-137BA3C56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811252" y="2941726"/>
                <a:ext cx="3096127" cy="2123570"/>
              </a:xfrm>
              <a:prstGeom prst="rect">
                <a:avLst/>
              </a:prstGeom>
            </p:spPr>
          </p:pic>
          <p:sp>
            <p:nvSpPr>
              <p:cNvPr id="79" name="직사각형 78">
                <a:extLst>
                  <a:ext uri="{FF2B5EF4-FFF2-40B4-BE49-F238E27FC236}">
                    <a16:creationId xmlns:a16="http://schemas.microsoft.com/office/drawing/2014/main" id="{E2CF273F-BD03-8FA0-8234-021EAD9B678F}"/>
                  </a:ext>
                </a:extLst>
              </p:cNvPr>
              <p:cNvSpPr/>
              <p:nvPr/>
            </p:nvSpPr>
            <p:spPr>
              <a:xfrm>
                <a:off x="5867400" y="3019926"/>
                <a:ext cx="3031957" cy="20453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80" name="그림 79">
                <a:extLst>
                  <a:ext uri="{FF2B5EF4-FFF2-40B4-BE49-F238E27FC236}">
                    <a16:creationId xmlns:a16="http://schemas.microsoft.com/office/drawing/2014/main" id="{66366F04-3BCE-3B88-60B1-6F23CCC8A7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993731" y="3518233"/>
                <a:ext cx="2731168" cy="1282890"/>
              </a:xfrm>
              <a:prstGeom prst="rect">
                <a:avLst/>
              </a:prstGeom>
            </p:spPr>
          </p:pic>
          <p:pic>
            <p:nvPicPr>
              <p:cNvPr id="81" name="그림 80">
                <a:extLst>
                  <a:ext uri="{FF2B5EF4-FFF2-40B4-BE49-F238E27FC236}">
                    <a16:creationId xmlns:a16="http://schemas.microsoft.com/office/drawing/2014/main" id="{54AE6E98-D755-2FE5-1B91-EB43125F3A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142442" y="3070059"/>
                <a:ext cx="2481872" cy="409073"/>
              </a:xfrm>
              <a:prstGeom prst="rect">
                <a:avLst/>
              </a:prstGeom>
            </p:spPr>
          </p:pic>
        </p:grpSp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DD813DEF-6E86-E4EE-7218-3D2F73728E2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97856" y="4833701"/>
              <a:ext cx="1779608" cy="199016"/>
            </a:xfrm>
            <a:prstGeom prst="rect">
              <a:avLst/>
            </a:prstGeom>
          </p:spPr>
        </p:pic>
      </p:grp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7DFBB046-D597-19CF-507A-D8549EAC2C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821979"/>
              </p:ext>
            </p:extLst>
          </p:nvPr>
        </p:nvGraphicFramePr>
        <p:xfrm>
          <a:off x="331293" y="2376120"/>
          <a:ext cx="9430537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40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894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9991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57943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59131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출고 검사 성적서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(OQC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27999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50103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98.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 성적서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34653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99.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확약서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46475"/>
                  </a:ext>
                </a:extLst>
              </a:tr>
            </a:tbl>
          </a:graphicData>
        </a:graphic>
      </p:graphicFrame>
      <p:sp>
        <p:nvSpPr>
          <p:cNvPr id="83" name="직사각형 82">
            <a:extLst>
              <a:ext uri="{FF2B5EF4-FFF2-40B4-BE49-F238E27FC236}">
                <a16:creationId xmlns:a16="http://schemas.microsoft.com/office/drawing/2014/main" id="{894DE8AD-66E4-B7C0-F20A-72C52D656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738" y="2410278"/>
            <a:ext cx="416543" cy="17549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3E89D45-4C0A-06DE-8225-913F2378C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737" y="2689068"/>
            <a:ext cx="416543" cy="193522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BE738284-476A-FF2D-25D4-8E318F2A2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9040" y="2412191"/>
            <a:ext cx="74945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22E600A4-0BFA-C220-EA30-5874FDF51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7406" y="2412191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906D839-B01A-EF5D-EDE0-E70209004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8875" y="2693689"/>
            <a:ext cx="74945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A7918A0-F393-748E-53B1-95AC671E0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7241" y="2693689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023E05F8-05F3-9BBB-4360-E2E6FD7A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8623" y="2414908"/>
            <a:ext cx="367798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58316AB4-3710-0C64-10BC-590310F38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8623" y="2707909"/>
            <a:ext cx="367798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5A6798B-C495-E413-D6B8-F4BECA94E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569" y="2412950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50D1BA6-42BC-BCA8-9FA2-FC231A071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569" y="2700052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091F95A-6720-9BE4-4711-2F2B58BF0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135" y="2967303"/>
            <a:ext cx="415518" cy="193522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E5864A11-C6FD-7DBF-FD77-FBF91CA7B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273" y="2971924"/>
            <a:ext cx="74945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D1C40923-F704-B0D1-990D-F1F4A94B3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8639" y="2971924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498FB507-B2F7-25C3-ABE9-96C6AAC82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0021" y="2986144"/>
            <a:ext cx="367798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5681121-BFCD-8BF7-B55F-672836106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2967" y="2978287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7D5CBB44-5333-E14A-BC74-6B66CF021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3131" y="3247671"/>
            <a:ext cx="367798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3A8C642A-6E64-7633-89E5-F237E7D90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6332" y="3270030"/>
            <a:ext cx="104179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C404829-3A54-84FB-B4F2-41F35CC5C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8875" y="3247671"/>
            <a:ext cx="74945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4F38BC0-A92E-6BFC-849D-8CFBB7D40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7241" y="3247671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AFB75A5-7D1D-05D8-CF66-5022EC3D9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7625" y="3263814"/>
            <a:ext cx="407832" cy="210095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grpSp>
        <p:nvGrpSpPr>
          <p:cNvPr id="104" name="그룹 21">
            <a:extLst>
              <a:ext uri="{FF2B5EF4-FFF2-40B4-BE49-F238E27FC236}">
                <a16:creationId xmlns:a16="http://schemas.microsoft.com/office/drawing/2014/main" id="{C5C51A6D-2091-ED6E-7252-1A0E7EBA5809}"/>
              </a:ext>
            </a:extLst>
          </p:cNvPr>
          <p:cNvGrpSpPr>
            <a:grpSpLocks/>
          </p:cNvGrpSpPr>
          <p:nvPr/>
        </p:nvGrpSpPr>
        <p:grpSpPr bwMode="auto">
          <a:xfrm>
            <a:off x="6409530" y="1292923"/>
            <a:ext cx="252413" cy="165100"/>
            <a:chOff x="3125393" y="1499499"/>
            <a:chExt cx="252000" cy="165260"/>
          </a:xfrm>
        </p:grpSpPr>
        <p:sp>
          <p:nvSpPr>
            <p:cNvPr id="105" name="모서리가 둥근 사각형 설명선 321">
              <a:extLst>
                <a:ext uri="{FF2B5EF4-FFF2-40B4-BE49-F238E27FC236}">
                  <a16:creationId xmlns:a16="http://schemas.microsoft.com/office/drawing/2014/main" id="{A28590AA-F6BC-B013-FBA9-CDA08292825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6" name="TextBox 23">
              <a:extLst>
                <a:ext uri="{FF2B5EF4-FFF2-40B4-BE49-F238E27FC236}">
                  <a16:creationId xmlns:a16="http://schemas.microsoft.com/office/drawing/2014/main" id="{AB86F666-9F02-9344-B8B3-F5E87BAF99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14</a:t>
              </a:r>
            </a:p>
          </p:txBody>
        </p:sp>
      </p:grpSp>
      <p:grpSp>
        <p:nvGrpSpPr>
          <p:cNvPr id="111" name="그룹 21">
            <a:extLst>
              <a:ext uri="{FF2B5EF4-FFF2-40B4-BE49-F238E27FC236}">
                <a16:creationId xmlns:a16="http://schemas.microsoft.com/office/drawing/2014/main" id="{940C0F22-2F08-05D8-4270-C3B9C4DFAC3C}"/>
              </a:ext>
            </a:extLst>
          </p:cNvPr>
          <p:cNvGrpSpPr>
            <a:grpSpLocks/>
          </p:cNvGrpSpPr>
          <p:nvPr/>
        </p:nvGrpSpPr>
        <p:grpSpPr bwMode="auto">
          <a:xfrm>
            <a:off x="94955" y="1789092"/>
            <a:ext cx="252413" cy="165100"/>
            <a:chOff x="3125393" y="1499499"/>
            <a:chExt cx="252000" cy="165260"/>
          </a:xfrm>
        </p:grpSpPr>
        <p:sp>
          <p:nvSpPr>
            <p:cNvPr id="112" name="모서리가 둥근 사각형 설명선 321">
              <a:extLst>
                <a:ext uri="{FF2B5EF4-FFF2-40B4-BE49-F238E27FC236}">
                  <a16:creationId xmlns:a16="http://schemas.microsoft.com/office/drawing/2014/main" id="{B49783A3-8F93-A6F7-D3C0-89EC3734602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" name="TextBox 23">
              <a:extLst>
                <a:ext uri="{FF2B5EF4-FFF2-40B4-BE49-F238E27FC236}">
                  <a16:creationId xmlns:a16="http://schemas.microsoft.com/office/drawing/2014/main" id="{C9FED873-47E8-05A7-D616-5E1A878CB4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15</a:t>
              </a:r>
            </a:p>
          </p:txBody>
        </p:sp>
      </p:grpSp>
      <p:grpSp>
        <p:nvGrpSpPr>
          <p:cNvPr id="117" name="그룹 21">
            <a:extLst>
              <a:ext uri="{FF2B5EF4-FFF2-40B4-BE49-F238E27FC236}">
                <a16:creationId xmlns:a16="http://schemas.microsoft.com/office/drawing/2014/main" id="{DF0A90DF-D5B3-FA38-2880-54C10EE27FB1}"/>
              </a:ext>
            </a:extLst>
          </p:cNvPr>
          <p:cNvGrpSpPr>
            <a:grpSpLocks/>
          </p:cNvGrpSpPr>
          <p:nvPr/>
        </p:nvGrpSpPr>
        <p:grpSpPr bwMode="auto">
          <a:xfrm>
            <a:off x="94955" y="2073108"/>
            <a:ext cx="252413" cy="165100"/>
            <a:chOff x="3125393" y="1499499"/>
            <a:chExt cx="252000" cy="165260"/>
          </a:xfrm>
        </p:grpSpPr>
        <p:sp>
          <p:nvSpPr>
            <p:cNvPr id="118" name="모서리가 둥근 사각형 설명선 321">
              <a:extLst>
                <a:ext uri="{FF2B5EF4-FFF2-40B4-BE49-F238E27FC236}">
                  <a16:creationId xmlns:a16="http://schemas.microsoft.com/office/drawing/2014/main" id="{17735B26-2C21-DA0C-D8D3-4863353EE19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" name="TextBox 23">
              <a:extLst>
                <a:ext uri="{FF2B5EF4-FFF2-40B4-BE49-F238E27FC236}">
                  <a16:creationId xmlns:a16="http://schemas.microsoft.com/office/drawing/2014/main" id="{E8EB6F26-BDA6-45C7-6335-63246611B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16</a:t>
              </a:r>
            </a:p>
          </p:txBody>
        </p:sp>
      </p:grpSp>
      <p:grpSp>
        <p:nvGrpSpPr>
          <p:cNvPr id="120" name="그룹 21">
            <a:extLst>
              <a:ext uri="{FF2B5EF4-FFF2-40B4-BE49-F238E27FC236}">
                <a16:creationId xmlns:a16="http://schemas.microsoft.com/office/drawing/2014/main" id="{3850B690-E1D7-26CF-2432-640AF8122DF9}"/>
              </a:ext>
            </a:extLst>
          </p:cNvPr>
          <p:cNvGrpSpPr>
            <a:grpSpLocks/>
          </p:cNvGrpSpPr>
          <p:nvPr/>
        </p:nvGrpSpPr>
        <p:grpSpPr bwMode="auto">
          <a:xfrm>
            <a:off x="94955" y="2373909"/>
            <a:ext cx="252413" cy="165100"/>
            <a:chOff x="3125393" y="1499499"/>
            <a:chExt cx="252000" cy="165260"/>
          </a:xfrm>
        </p:grpSpPr>
        <p:sp>
          <p:nvSpPr>
            <p:cNvPr id="121" name="모서리가 둥근 사각형 설명선 321">
              <a:extLst>
                <a:ext uri="{FF2B5EF4-FFF2-40B4-BE49-F238E27FC236}">
                  <a16:creationId xmlns:a16="http://schemas.microsoft.com/office/drawing/2014/main" id="{588FC096-09F0-A370-233C-EBE650CDA36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" name="TextBox 23">
              <a:extLst>
                <a:ext uri="{FF2B5EF4-FFF2-40B4-BE49-F238E27FC236}">
                  <a16:creationId xmlns:a16="http://schemas.microsoft.com/office/drawing/2014/main" id="{6311E602-5C79-310A-0F6E-341C7F0DF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17</a:t>
              </a:r>
            </a:p>
          </p:txBody>
        </p:sp>
      </p:grpSp>
      <p:grpSp>
        <p:nvGrpSpPr>
          <p:cNvPr id="123" name="그룹 21">
            <a:extLst>
              <a:ext uri="{FF2B5EF4-FFF2-40B4-BE49-F238E27FC236}">
                <a16:creationId xmlns:a16="http://schemas.microsoft.com/office/drawing/2014/main" id="{260E47ED-3F3B-B4B0-0894-B87FD1BE7ACA}"/>
              </a:ext>
            </a:extLst>
          </p:cNvPr>
          <p:cNvGrpSpPr>
            <a:grpSpLocks/>
          </p:cNvGrpSpPr>
          <p:nvPr/>
        </p:nvGrpSpPr>
        <p:grpSpPr bwMode="auto">
          <a:xfrm>
            <a:off x="94955" y="2666923"/>
            <a:ext cx="252413" cy="165100"/>
            <a:chOff x="3125393" y="1499499"/>
            <a:chExt cx="252000" cy="165260"/>
          </a:xfrm>
        </p:grpSpPr>
        <p:sp>
          <p:nvSpPr>
            <p:cNvPr id="126" name="모서리가 둥근 사각형 설명선 321">
              <a:extLst>
                <a:ext uri="{FF2B5EF4-FFF2-40B4-BE49-F238E27FC236}">
                  <a16:creationId xmlns:a16="http://schemas.microsoft.com/office/drawing/2014/main" id="{69FEAE98-6E19-1272-E5BE-1CCBB121486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" name="TextBox 23">
              <a:extLst>
                <a:ext uri="{FF2B5EF4-FFF2-40B4-BE49-F238E27FC236}">
                  <a16:creationId xmlns:a16="http://schemas.microsoft.com/office/drawing/2014/main" id="{C5FD07C2-F287-DCE5-2418-BD73DD952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18</a:t>
              </a:r>
            </a:p>
          </p:txBody>
        </p:sp>
      </p:grpSp>
      <p:grpSp>
        <p:nvGrpSpPr>
          <p:cNvPr id="129" name="그룹 21">
            <a:extLst>
              <a:ext uri="{FF2B5EF4-FFF2-40B4-BE49-F238E27FC236}">
                <a16:creationId xmlns:a16="http://schemas.microsoft.com/office/drawing/2014/main" id="{B5A088EF-454F-E891-26D0-9117EB66A4A3}"/>
              </a:ext>
            </a:extLst>
          </p:cNvPr>
          <p:cNvGrpSpPr>
            <a:grpSpLocks/>
          </p:cNvGrpSpPr>
          <p:nvPr/>
        </p:nvGrpSpPr>
        <p:grpSpPr bwMode="auto">
          <a:xfrm>
            <a:off x="94955" y="2950119"/>
            <a:ext cx="252413" cy="165100"/>
            <a:chOff x="3125393" y="1499499"/>
            <a:chExt cx="252000" cy="165260"/>
          </a:xfrm>
        </p:grpSpPr>
        <p:sp>
          <p:nvSpPr>
            <p:cNvPr id="130" name="모서리가 둥근 사각형 설명선 321">
              <a:extLst>
                <a:ext uri="{FF2B5EF4-FFF2-40B4-BE49-F238E27FC236}">
                  <a16:creationId xmlns:a16="http://schemas.microsoft.com/office/drawing/2014/main" id="{92216428-F4C0-51A5-BCE4-132D099EF18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" name="TextBox 23">
              <a:extLst>
                <a:ext uri="{FF2B5EF4-FFF2-40B4-BE49-F238E27FC236}">
                  <a16:creationId xmlns:a16="http://schemas.microsoft.com/office/drawing/2014/main" id="{17DDD98E-C6BB-B1B6-FBFD-7506510C2B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19</a:t>
              </a:r>
            </a:p>
          </p:txBody>
        </p:sp>
      </p:grpSp>
      <p:grpSp>
        <p:nvGrpSpPr>
          <p:cNvPr id="132" name="그룹 21">
            <a:extLst>
              <a:ext uri="{FF2B5EF4-FFF2-40B4-BE49-F238E27FC236}">
                <a16:creationId xmlns:a16="http://schemas.microsoft.com/office/drawing/2014/main" id="{CA51463F-317D-3E4D-8031-E15CFB9B3DBF}"/>
              </a:ext>
            </a:extLst>
          </p:cNvPr>
          <p:cNvGrpSpPr>
            <a:grpSpLocks/>
          </p:cNvGrpSpPr>
          <p:nvPr/>
        </p:nvGrpSpPr>
        <p:grpSpPr bwMode="auto">
          <a:xfrm>
            <a:off x="94955" y="3249663"/>
            <a:ext cx="252413" cy="165100"/>
            <a:chOff x="3125393" y="1499499"/>
            <a:chExt cx="252000" cy="165260"/>
          </a:xfrm>
        </p:grpSpPr>
        <p:sp>
          <p:nvSpPr>
            <p:cNvPr id="133" name="모서리가 둥근 사각형 설명선 321">
              <a:extLst>
                <a:ext uri="{FF2B5EF4-FFF2-40B4-BE49-F238E27FC236}">
                  <a16:creationId xmlns:a16="http://schemas.microsoft.com/office/drawing/2014/main" id="{6C368B3F-B391-7B30-E735-DA7E71355A9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" name="TextBox 23">
              <a:extLst>
                <a:ext uri="{FF2B5EF4-FFF2-40B4-BE49-F238E27FC236}">
                  <a16:creationId xmlns:a16="http://schemas.microsoft.com/office/drawing/2014/main" id="{06A73660-8D67-A413-FC2B-0DA798D876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20</a:t>
              </a:r>
            </a:p>
          </p:txBody>
        </p:sp>
      </p:grpSp>
      <p:pic>
        <p:nvPicPr>
          <p:cNvPr id="2050" name="Picture 2">
            <a:extLst>
              <a:ext uri="{FF2B5EF4-FFF2-40B4-BE49-F238E27FC236}">
                <a16:creationId xmlns:a16="http://schemas.microsoft.com/office/drawing/2014/main" id="{CC2CCB74-743D-E87A-A2B4-5B245D6ED5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66304" y="4405999"/>
            <a:ext cx="3972327" cy="21708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6B9761C-DA6E-F301-F9B6-601FF1744B48}"/>
              </a:ext>
            </a:extLst>
          </p:cNvPr>
          <p:cNvSpPr txBox="1"/>
          <p:nvPr/>
        </p:nvSpPr>
        <p:spPr>
          <a:xfrm>
            <a:off x="3765765" y="4492011"/>
            <a:ext cx="45111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QA/QC 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 등록 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 확정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검토완료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조건부완료는  품질안전센터 모두 가능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(07/07 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진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PM)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551269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136172"/>
              </p:ext>
            </p:extLst>
          </p:nvPr>
        </p:nvGraphicFramePr>
        <p:xfrm>
          <a:off x="254000" y="1343534"/>
          <a:ext cx="11691939" cy="300292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SERPWEB.SFTY_XMNT_RFRNR_INFO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참조자구분코드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(REFR_DIV_CODE)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11611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SERPWEB.SFTY_XMNT_ATFL_XMNT_OPN_RDN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 열람 여부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67145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90943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5084376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0570834"/>
              </p:ext>
            </p:extLst>
          </p:nvPr>
        </p:nvGraphicFramePr>
        <p:xfrm>
          <a:off x="247260" y="5348544"/>
          <a:ext cx="11710849" cy="92304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9800DA38-637A-2D23-B9E8-2A781801A1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58675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329910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988212"/>
              </p:ext>
            </p:extLst>
          </p:nvPr>
        </p:nvGraphicFramePr>
        <p:xfrm>
          <a:off x="254000" y="1343534"/>
          <a:ext cx="11698679" cy="3090045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 추가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비식품첨부파일분류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 SCK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 점검 의뢰서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201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한글 표시사항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증빙자료 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lang="ko-KR" altLang="en-US" sz="900" strike="noStrik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202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 정보확약서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203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 자료 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204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205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206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섬유제품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207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 보완 서류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2Q0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216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217 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218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230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명칭변경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376995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368792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4904484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2111282"/>
              </p:ext>
            </p:extLst>
          </p:nvPr>
        </p:nvGraphicFramePr>
        <p:xfrm>
          <a:off x="247260" y="5168652"/>
          <a:ext cx="11698678" cy="115380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859A4D73-9671-A7FD-C348-539EF52406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191480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937964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4754359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명칭변경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및 버튼 순서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제품정보 컬럼 명칭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제조사점검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신규벤더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여부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버튼 순서변경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재검토요청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 순서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 클릭 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Alert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표시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 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 필수 제외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구분에 프로모션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지정시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 프로모션 번호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 값이 지정되지 않아도 검토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 완료 가능하도록 로직 변경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식품도 동일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알림전송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메일 내용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메일에 검토자의 마지막 의견이 항목별 노출되어 메일 전송메일에 검토자의 마지막 의견이 항목별 노출되어 메일 전송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---------------------------------------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QC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의견 등록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QC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의견 등록 항목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SCK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점검 의뢰서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품질표시사항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항목별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(QA/QC)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나누어 출력하고 해당라인에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QA(       ), QC(   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아이콘 출력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업로드 파일은 공유 컬럼으로 출력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 검토의견 팝업 출력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SFTY000080_P03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[5]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첨부파일 항목 추가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항목 삭제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기타 성적서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확약서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1" lang="ko-KR" altLang="en-US" sz="900" b="0" kern="1200" spc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검토상세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화면 만 출력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 파일 업로드 없음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항목 명칭변경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900" strike="noStrike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케어라벨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시안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증빙자료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&gt; </a:t>
                      </a:r>
                      <a:r>
                        <a:rPr lang="ko-KR" altLang="en-US" sz="900" strike="noStrik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검수요청시 필수로 변경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           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포함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&gt;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           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포장재 시안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증빙자료 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포장재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시안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구성</a:t>
                      </a:r>
                      <a:r>
                        <a:rPr kumimoji="1" lang="en-US" altLang="ko-KR" sz="9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추가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사용성 검사 성적서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(QC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,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샘플점검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시생산품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noStrike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양산품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,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출고 검사 성적서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(OQC 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코드 추가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2Q0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216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217 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218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230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[6] QC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검토 알림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 -  </a:t>
                      </a:r>
                      <a:r>
                        <a:rPr kumimoji="1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 요청자가 </a:t>
                      </a: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1, 2</a:t>
                      </a:r>
                      <a:r>
                        <a:rPr kumimoji="1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항목에 대하여 요청의견을 작성하면 검토자 권한으로 접근하는 사람은 누구나 알림 아이콘 표기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49784CC7-912C-826F-7576-C3023A14AC12}"/>
              </a:ext>
            </a:extLst>
          </p:cNvPr>
          <p:cNvSpPr/>
          <p:nvPr/>
        </p:nvSpPr>
        <p:spPr bwMode="auto">
          <a:xfrm>
            <a:off x="8093796" y="1575302"/>
            <a:ext cx="3727799" cy="2091351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이메일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내용수정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endParaRPr lang="ko-KR" altLang="en-US" sz="900" dirty="0"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6" name="Group 234">
            <a:extLst>
              <a:ext uri="{FF2B5EF4-FFF2-40B4-BE49-F238E27FC236}">
                <a16:creationId xmlns:a16="http://schemas.microsoft.com/office/drawing/2014/main" id="{EBA63601-5896-CB88-9227-78862E948D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330429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상세조회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비식품에 대한 안전성 검토 내역을 상세 조회 및 수정을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3568A0C0-0614-288D-FD45-5B6CC385AFA5}"/>
              </a:ext>
            </a:extLst>
          </p:cNvPr>
          <p:cNvGrpSpPr/>
          <p:nvPr/>
        </p:nvGrpSpPr>
        <p:grpSpPr>
          <a:xfrm>
            <a:off x="8409631" y="1738270"/>
            <a:ext cx="3096127" cy="1855440"/>
            <a:chOff x="5811252" y="2941726"/>
            <a:chExt cx="3096127" cy="2123570"/>
          </a:xfrm>
        </p:grpSpPr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567FC8F8-CA61-04DF-E8FC-A56401793565}"/>
                </a:ext>
              </a:extLst>
            </p:cNvPr>
            <p:cNvGrpSpPr/>
            <p:nvPr/>
          </p:nvGrpSpPr>
          <p:grpSpPr>
            <a:xfrm>
              <a:off x="5811252" y="2941726"/>
              <a:ext cx="3096127" cy="2123570"/>
              <a:chOff x="5811252" y="2941726"/>
              <a:chExt cx="3096127" cy="2123570"/>
            </a:xfrm>
          </p:grpSpPr>
          <p:pic>
            <p:nvPicPr>
              <p:cNvPr id="17" name="그림 16">
                <a:extLst>
                  <a:ext uri="{FF2B5EF4-FFF2-40B4-BE49-F238E27FC236}">
                    <a16:creationId xmlns:a16="http://schemas.microsoft.com/office/drawing/2014/main" id="{7B289695-262A-030B-780E-2FDAE774E5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811252" y="2941726"/>
                <a:ext cx="3096127" cy="2123570"/>
              </a:xfrm>
              <a:prstGeom prst="rect">
                <a:avLst/>
              </a:prstGeom>
            </p:spPr>
          </p:pic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id="{D0EAF5F5-121B-99B6-6E65-4C0D44563A1B}"/>
                  </a:ext>
                </a:extLst>
              </p:cNvPr>
              <p:cNvSpPr/>
              <p:nvPr/>
            </p:nvSpPr>
            <p:spPr>
              <a:xfrm>
                <a:off x="5867400" y="3019926"/>
                <a:ext cx="3031957" cy="20453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20" name="그림 19">
                <a:extLst>
                  <a:ext uri="{FF2B5EF4-FFF2-40B4-BE49-F238E27FC236}">
                    <a16:creationId xmlns:a16="http://schemas.microsoft.com/office/drawing/2014/main" id="{6749DF3B-83DD-2F3F-8728-9DBC477A95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893146" y="3550810"/>
                <a:ext cx="2731168" cy="1282889"/>
              </a:xfrm>
              <a:prstGeom prst="rect">
                <a:avLst/>
              </a:prstGeom>
            </p:spPr>
          </p:pic>
          <p:pic>
            <p:nvPicPr>
              <p:cNvPr id="21" name="그림 20">
                <a:extLst>
                  <a:ext uri="{FF2B5EF4-FFF2-40B4-BE49-F238E27FC236}">
                    <a16:creationId xmlns:a16="http://schemas.microsoft.com/office/drawing/2014/main" id="{D6BBC265-1F15-5DA7-426A-6B78ED60F3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993359" y="3070059"/>
                <a:ext cx="2905997" cy="409073"/>
              </a:xfrm>
              <a:prstGeom prst="rect">
                <a:avLst/>
              </a:prstGeom>
            </p:spPr>
          </p:pic>
        </p:grpSp>
        <p:pic>
          <p:nvPicPr>
            <p:cNvPr id="16" name="그림 15">
              <a:extLst>
                <a:ext uri="{FF2B5EF4-FFF2-40B4-BE49-F238E27FC236}">
                  <a16:creationId xmlns:a16="http://schemas.microsoft.com/office/drawing/2014/main" id="{1EAE7761-31C9-09C2-7717-BA98F5E2DB2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397856" y="4833701"/>
              <a:ext cx="1779608" cy="199016"/>
            </a:xfrm>
            <a:prstGeom prst="rect">
              <a:avLst/>
            </a:prstGeom>
          </p:spPr>
        </p:pic>
      </p:grpSp>
      <p:pic>
        <p:nvPicPr>
          <p:cNvPr id="22" name="그림 21">
            <a:extLst>
              <a:ext uri="{FF2B5EF4-FFF2-40B4-BE49-F238E27FC236}">
                <a16:creationId xmlns:a16="http://schemas.microsoft.com/office/drawing/2014/main" id="{AC37E13D-B640-277C-55B7-F11622242555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6928"/>
          <a:stretch/>
        </p:blipFill>
        <p:spPr>
          <a:xfrm>
            <a:off x="9112524" y="2279156"/>
            <a:ext cx="2110169" cy="1120907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40C12834-9C86-DA4A-54B8-0CBD7A5AFB4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9771" y="3063844"/>
            <a:ext cx="212756" cy="212756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5B07E8C1-D8D1-090E-F9A9-01EA17004FC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3074" y="3063844"/>
            <a:ext cx="212756" cy="2127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836509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A1B67B-8F8B-DB28-EAC4-385670739C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418CA286-4EFA-855E-8C19-A63B9ECA023F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직사각형 23">
            <a:extLst>
              <a:ext uri="{FF2B5EF4-FFF2-40B4-BE49-F238E27FC236}">
                <a16:creationId xmlns:a16="http://schemas.microsoft.com/office/drawing/2014/main" id="{CE3032AB-7360-9488-AB08-DC2DBC7429AA}"/>
              </a:ext>
            </a:extLst>
          </p:cNvPr>
          <p:cNvSpPr/>
          <p:nvPr/>
        </p:nvSpPr>
        <p:spPr>
          <a:xfrm>
            <a:off x="924816" y="1466018"/>
            <a:ext cx="8349813" cy="5191637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E85C2DF4-5A65-1F2A-CA11-78E9400729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1257891"/>
              </p:ext>
            </p:extLst>
          </p:nvPr>
        </p:nvGraphicFramePr>
        <p:xfrm>
          <a:off x="1059415" y="3233311"/>
          <a:ext cx="6699922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5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추가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9A731EF9-8AAC-BB0E-5304-EE28E9C65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5753585"/>
              </p:ext>
            </p:extLst>
          </p:nvPr>
        </p:nvGraphicFramePr>
        <p:xfrm>
          <a:off x="243841" y="66457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A83A9570-4BFB-8BEE-7348-2E2DD738FEFA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90ABE0E8-FFD2-05AE-7C28-0EDB1D6932CB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87D555D1-FC99-2A44-7352-BF2350F719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446955"/>
              </p:ext>
            </p:extLst>
          </p:nvPr>
        </p:nvGraphicFramePr>
        <p:xfrm>
          <a:off x="9858994" y="1664954"/>
          <a:ext cx="2067327" cy="2758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21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기존 검토의견 팝업의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기능 및 알림 팝업은 재사용한다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1.  SCK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품질 점검 의뢰서 </a:t>
                      </a: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/2. 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품질표시사항</a:t>
                      </a: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 </a:t>
                      </a:r>
                      <a:r>
                        <a:rPr kumimoji="1" lang="ko-KR" altLang="en-US" sz="700" b="0" kern="1200" spc="0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케어라벨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시안</a:t>
                      </a: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증빙자료 에서만 </a:t>
                      </a: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QA/QC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 출력</a:t>
                      </a:r>
                      <a:endParaRPr kumimoji="1" lang="en-US" altLang="ko-KR" sz="700" b="0" kern="1200" spc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</a:t>
                      </a: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하 스크롤바</a:t>
                      </a: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</a:t>
                      </a:r>
                      <a:endParaRPr kumimoji="1" lang="en-US" altLang="ko-KR" sz="700" b="0" kern="1200" spc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파일을 추가로 등록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탐색기 오픈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QA(QC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모두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 권한 있음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132919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QA(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에게 요청자가 의견 입력 관리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(QA)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의견 등록 및 의견완료 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QC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에게 요청자가 의견 입력 관리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(QA)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 의견 등록 및 의견완료 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432166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49E31EDE-D27C-E5C3-A90E-EF60CF46A2DB}"/>
              </a:ext>
            </a:extLst>
          </p:cNvPr>
          <p:cNvSpPr/>
          <p:nvPr/>
        </p:nvSpPr>
        <p:spPr bwMode="auto">
          <a:xfrm>
            <a:off x="924814" y="1466020"/>
            <a:ext cx="8349813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인허가 </a:t>
            </a:r>
            <a:r>
              <a:rPr lang="en-US" altLang="ko-KR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인증서 </a:t>
            </a:r>
            <a:r>
              <a:rPr lang="en-US" altLang="ko-KR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lang="ko-KR" altLang="en-US" sz="1000" b="1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비식품</a:t>
            </a: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검토 의견</a:t>
            </a:r>
            <a:endParaRPr lang="en-US" altLang="ko-KR" sz="10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십자형 6">
            <a:extLst>
              <a:ext uri="{FF2B5EF4-FFF2-40B4-BE49-F238E27FC236}">
                <a16:creationId xmlns:a16="http://schemas.microsoft.com/office/drawing/2014/main" id="{B1CD0342-3A3C-8952-9014-5E27017F1C38}"/>
              </a:ext>
            </a:extLst>
          </p:cNvPr>
          <p:cNvSpPr/>
          <p:nvPr/>
        </p:nvSpPr>
        <p:spPr>
          <a:xfrm rot="2700000" flipV="1">
            <a:off x="9035102" y="1542640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29EFC8D-5830-B01D-C7DD-FC81D9A55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7765" y="2398820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8335756C-F26C-A893-AE99-B5C9B20F25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6716525"/>
              </p:ext>
            </p:extLst>
          </p:nvPr>
        </p:nvGraphicFramePr>
        <p:xfrm>
          <a:off x="1059415" y="2581683"/>
          <a:ext cx="7947639" cy="475686"/>
        </p:xfrm>
        <a:graphic>
          <a:graphicData uri="http://schemas.openxmlformats.org/drawingml/2006/table">
            <a:tbl>
              <a:tblPr/>
              <a:tblGrid>
                <a:gridCol w="4110441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1279066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  <a:gridCol w="1279066">
                  <a:extLst>
                    <a:ext uri="{9D8B030D-6E8A-4147-A177-3AD203B41FA5}">
                      <a16:colId xmlns:a16="http://schemas.microsoft.com/office/drawing/2014/main" val="2423167296"/>
                    </a:ext>
                  </a:extLst>
                </a:gridCol>
                <a:gridCol w="1279066">
                  <a:extLst>
                    <a:ext uri="{9D8B030D-6E8A-4147-A177-3AD203B41FA5}">
                      <a16:colId xmlns:a16="http://schemas.microsoft.com/office/drawing/2014/main" val="4284449770"/>
                    </a:ext>
                  </a:extLst>
                </a:gridCol>
              </a:tblGrid>
              <a:tr h="1583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15901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sng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15833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sng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sng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8A8286ED-C226-887A-AEFD-F092AD0E8BAB}"/>
              </a:ext>
            </a:extLst>
          </p:cNvPr>
          <p:cNvSpPr txBox="1"/>
          <p:nvPr/>
        </p:nvSpPr>
        <p:spPr>
          <a:xfrm>
            <a:off x="994140" y="2298494"/>
            <a:ext cx="84350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파일 정보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416453-295F-97F0-32B9-230FC4875F9D}"/>
              </a:ext>
            </a:extLst>
          </p:cNvPr>
          <p:cNvSpPr txBox="1"/>
          <p:nvPr/>
        </p:nvSpPr>
        <p:spPr>
          <a:xfrm>
            <a:off x="899656" y="3002195"/>
            <a:ext cx="11160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[QA]</a:t>
            </a:r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요청자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의견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A4D308A-84E6-7975-00E0-D2F945B02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9990" y="3255849"/>
            <a:ext cx="6399666" cy="238034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6582ED5-DE06-8398-E1D1-EC312718B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2498" y="334604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 등록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7C1DB4AA-43BA-C2AD-4321-ED79699D52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6126596"/>
              </p:ext>
            </p:extLst>
          </p:nvPr>
        </p:nvGraphicFramePr>
        <p:xfrm>
          <a:off x="1059415" y="3566082"/>
          <a:ext cx="7941743" cy="508083"/>
        </p:xfrm>
        <a:graphic>
          <a:graphicData uri="http://schemas.openxmlformats.org/drawingml/2006/table">
            <a:tbl>
              <a:tblPr/>
              <a:tblGrid>
                <a:gridCol w="6099353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704568">
                  <a:extLst>
                    <a:ext uri="{9D8B030D-6E8A-4147-A177-3AD203B41FA5}">
                      <a16:colId xmlns:a16="http://schemas.microsoft.com/office/drawing/2014/main" val="2423167296"/>
                    </a:ext>
                  </a:extLst>
                </a:gridCol>
                <a:gridCol w="1137822">
                  <a:extLst>
                    <a:ext uri="{9D8B030D-6E8A-4147-A177-3AD203B41FA5}">
                      <a16:colId xmlns:a16="http://schemas.microsoft.com/office/drawing/2014/main" val="4284449770"/>
                    </a:ext>
                  </a:extLst>
                </a:gridCol>
              </a:tblGrid>
              <a:tr h="1693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요청자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의견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169361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169361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7C52A7CD-3115-297A-2E8E-7B822E3BE0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7781787"/>
              </p:ext>
            </p:extLst>
          </p:nvPr>
        </p:nvGraphicFramePr>
        <p:xfrm>
          <a:off x="1053519" y="4291272"/>
          <a:ext cx="7973035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5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755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추가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B12A38C8-E769-5E58-D842-69BEC34566A1}"/>
              </a:ext>
            </a:extLst>
          </p:cNvPr>
          <p:cNvSpPr txBox="1"/>
          <p:nvPr/>
        </p:nvSpPr>
        <p:spPr>
          <a:xfrm>
            <a:off x="893760" y="4060156"/>
            <a:ext cx="11160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[QA]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검토자 의견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0ADC125-EA9A-C911-DB10-893E036C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4094" y="4325606"/>
            <a:ext cx="5469830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6853F2B-F62C-E4D1-6883-23798AA31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2810" y="4370451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의견등록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B7804705-0202-35CE-0408-83BA376860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1075630"/>
              </p:ext>
            </p:extLst>
          </p:nvPr>
        </p:nvGraphicFramePr>
        <p:xfrm>
          <a:off x="1053518" y="4624043"/>
          <a:ext cx="7947640" cy="475071"/>
        </p:xfrm>
        <a:graphic>
          <a:graphicData uri="http://schemas.openxmlformats.org/drawingml/2006/table">
            <a:tbl>
              <a:tblPr/>
              <a:tblGrid>
                <a:gridCol w="6115391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700690">
                  <a:extLst>
                    <a:ext uri="{9D8B030D-6E8A-4147-A177-3AD203B41FA5}">
                      <a16:colId xmlns:a16="http://schemas.microsoft.com/office/drawing/2014/main" val="2423167296"/>
                    </a:ext>
                  </a:extLst>
                </a:gridCol>
                <a:gridCol w="1131559">
                  <a:extLst>
                    <a:ext uri="{9D8B030D-6E8A-4147-A177-3AD203B41FA5}">
                      <a16:colId xmlns:a16="http://schemas.microsoft.com/office/drawing/2014/main" val="4284449770"/>
                    </a:ext>
                  </a:extLst>
                </a:gridCol>
              </a:tblGrid>
              <a:tr h="15835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검토자 의견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158357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158357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E4A6BE4D-E25E-3E7F-1224-92EFDB0C3D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0625047"/>
              </p:ext>
            </p:extLst>
          </p:nvPr>
        </p:nvGraphicFramePr>
        <p:xfrm>
          <a:off x="1043103" y="1954497"/>
          <a:ext cx="7947639" cy="4249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72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67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72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26484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</a:tblGrid>
              <a:tr h="212451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프로모션명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2451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정보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791974"/>
                  </a:ext>
                </a:extLst>
              </a:tr>
            </a:tbl>
          </a:graphicData>
        </a:graphic>
      </p:graphicFrame>
      <p:grpSp>
        <p:nvGrpSpPr>
          <p:cNvPr id="41" name="그룹 21">
            <a:extLst>
              <a:ext uri="{FF2B5EF4-FFF2-40B4-BE49-F238E27FC236}">
                <a16:creationId xmlns:a16="http://schemas.microsoft.com/office/drawing/2014/main" id="{DB51BF07-1E24-A825-1694-44C0BE0E9D32}"/>
              </a:ext>
            </a:extLst>
          </p:cNvPr>
          <p:cNvGrpSpPr>
            <a:grpSpLocks/>
          </p:cNvGrpSpPr>
          <p:nvPr/>
        </p:nvGrpSpPr>
        <p:grpSpPr bwMode="auto">
          <a:xfrm>
            <a:off x="715678" y="3978466"/>
            <a:ext cx="252413" cy="165100"/>
            <a:chOff x="3125393" y="1499499"/>
            <a:chExt cx="252000" cy="165260"/>
          </a:xfrm>
        </p:grpSpPr>
        <p:sp>
          <p:nvSpPr>
            <p:cNvPr id="42" name="모서리가 둥근 사각형 설명선 321">
              <a:extLst>
                <a:ext uri="{FF2B5EF4-FFF2-40B4-BE49-F238E27FC236}">
                  <a16:creationId xmlns:a16="http://schemas.microsoft.com/office/drawing/2014/main" id="{6784A301-15A6-F287-E828-27FF5E2E8FF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" name="TextBox 23">
              <a:extLst>
                <a:ext uri="{FF2B5EF4-FFF2-40B4-BE49-F238E27FC236}">
                  <a16:creationId xmlns:a16="http://schemas.microsoft.com/office/drawing/2014/main" id="{BB5A06FE-D7F0-6C20-1AE3-C700845AD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44" name="그룹 21">
            <a:extLst>
              <a:ext uri="{FF2B5EF4-FFF2-40B4-BE49-F238E27FC236}">
                <a16:creationId xmlns:a16="http://schemas.microsoft.com/office/drawing/2014/main" id="{7DF8F68D-4828-6390-8406-02945861E162}"/>
              </a:ext>
            </a:extLst>
          </p:cNvPr>
          <p:cNvGrpSpPr>
            <a:grpSpLocks/>
          </p:cNvGrpSpPr>
          <p:nvPr/>
        </p:nvGrpSpPr>
        <p:grpSpPr bwMode="auto">
          <a:xfrm>
            <a:off x="736264" y="5035567"/>
            <a:ext cx="252413" cy="165100"/>
            <a:chOff x="3125393" y="1499499"/>
            <a:chExt cx="252000" cy="165260"/>
          </a:xfrm>
        </p:grpSpPr>
        <p:sp>
          <p:nvSpPr>
            <p:cNvPr id="45" name="모서리가 둥근 사각형 설명선 321">
              <a:extLst>
                <a:ext uri="{FF2B5EF4-FFF2-40B4-BE49-F238E27FC236}">
                  <a16:creationId xmlns:a16="http://schemas.microsoft.com/office/drawing/2014/main" id="{E552B146-8F4A-3ED6-6680-68621FA3EAB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23">
              <a:extLst>
                <a:ext uri="{FF2B5EF4-FFF2-40B4-BE49-F238E27FC236}">
                  <a16:creationId xmlns:a16="http://schemas.microsoft.com/office/drawing/2014/main" id="{13AB9961-F206-75CC-5F52-1D4F8CA607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9E5994B-98E9-5A0F-A780-6DAB538E0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182" y="2026176"/>
            <a:ext cx="3049790" cy="16881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프로모션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8E9D026-7FA7-679B-522B-62A2602D3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2043" y="1998460"/>
            <a:ext cx="2515454" cy="1615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크리스마스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F1ABE43-C0C4-2CF6-C6EA-AD99A9E3D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051" y="2224923"/>
            <a:ext cx="780043" cy="15524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970000001111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6024697-69ED-296F-4E98-1B83401F6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907" y="2215159"/>
            <a:ext cx="2231066" cy="15524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파인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코코넛 향 소스 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750ML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DCBCF5D-63EC-BA8A-9FFF-04338850A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2043" y="2209133"/>
            <a:ext cx="2515454" cy="17006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파인 코코넛 향 소스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64FFE8E-0C2E-2340-C410-D277B4C23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589" y="4382762"/>
            <a:ext cx="572198" cy="14702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의견완료취소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22BECB65-7183-FCE8-A6FC-88EEAE3D9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0594" y="4380665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의견완료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3" name="그룹 21">
            <a:extLst>
              <a:ext uri="{FF2B5EF4-FFF2-40B4-BE49-F238E27FC236}">
                <a16:creationId xmlns:a16="http://schemas.microsoft.com/office/drawing/2014/main" id="{A06E1BF6-D641-C734-5651-8453103C6B64}"/>
              </a:ext>
            </a:extLst>
          </p:cNvPr>
          <p:cNvGrpSpPr>
            <a:grpSpLocks/>
          </p:cNvGrpSpPr>
          <p:nvPr/>
        </p:nvGrpSpPr>
        <p:grpSpPr bwMode="auto">
          <a:xfrm>
            <a:off x="745265" y="6122746"/>
            <a:ext cx="252413" cy="165100"/>
            <a:chOff x="3125393" y="1499499"/>
            <a:chExt cx="252000" cy="165260"/>
          </a:xfrm>
        </p:grpSpPr>
        <p:sp>
          <p:nvSpPr>
            <p:cNvPr id="54" name="모서리가 둥근 사각형 설명선 321">
              <a:extLst>
                <a:ext uri="{FF2B5EF4-FFF2-40B4-BE49-F238E27FC236}">
                  <a16:creationId xmlns:a16="http://schemas.microsoft.com/office/drawing/2014/main" id="{53F99434-CBA1-893D-FCE1-FA56FA79CE4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23">
              <a:extLst>
                <a:ext uri="{FF2B5EF4-FFF2-40B4-BE49-F238E27FC236}">
                  <a16:creationId xmlns:a16="http://schemas.microsoft.com/office/drawing/2014/main" id="{4EBD4688-58B9-8DDA-9162-73B08EED4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sp>
        <p:nvSpPr>
          <p:cNvPr id="62" name="모서리가 둥근 직사각형 55">
            <a:extLst>
              <a:ext uri="{FF2B5EF4-FFF2-40B4-BE49-F238E27FC236}">
                <a16:creationId xmlns:a16="http://schemas.microsoft.com/office/drawing/2014/main" id="{FDA91194-258C-3FBD-F583-9C0F6ED9AF56}"/>
              </a:ext>
            </a:extLst>
          </p:cNvPr>
          <p:cNvSpPr/>
          <p:nvPr/>
        </p:nvSpPr>
        <p:spPr>
          <a:xfrm>
            <a:off x="1053519" y="1753997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grpSp>
        <p:nvGrpSpPr>
          <p:cNvPr id="63" name="그룹 21">
            <a:extLst>
              <a:ext uri="{FF2B5EF4-FFF2-40B4-BE49-F238E27FC236}">
                <a16:creationId xmlns:a16="http://schemas.microsoft.com/office/drawing/2014/main" id="{252FCF8C-343F-337A-4E03-0408865C67C2}"/>
              </a:ext>
            </a:extLst>
          </p:cNvPr>
          <p:cNvGrpSpPr>
            <a:grpSpLocks/>
          </p:cNvGrpSpPr>
          <p:nvPr/>
        </p:nvGrpSpPr>
        <p:grpSpPr bwMode="auto">
          <a:xfrm>
            <a:off x="8442430" y="2180968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BDE14A15-CEB8-5975-E639-E423F731F2A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60820377-EE1A-DDED-112B-CC380DD259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38" name="그룹 21">
            <a:extLst>
              <a:ext uri="{FF2B5EF4-FFF2-40B4-BE49-F238E27FC236}">
                <a16:creationId xmlns:a16="http://schemas.microsoft.com/office/drawing/2014/main" id="{B78A9D86-CEC2-D67C-21DD-DFEEF31E3541}"/>
              </a:ext>
            </a:extLst>
          </p:cNvPr>
          <p:cNvGrpSpPr>
            <a:grpSpLocks/>
          </p:cNvGrpSpPr>
          <p:nvPr/>
        </p:nvGrpSpPr>
        <p:grpSpPr bwMode="auto">
          <a:xfrm>
            <a:off x="752626" y="2931523"/>
            <a:ext cx="252413" cy="165100"/>
            <a:chOff x="3125393" y="1499499"/>
            <a:chExt cx="252000" cy="165260"/>
          </a:xfrm>
        </p:grpSpPr>
        <p:sp>
          <p:nvSpPr>
            <p:cNvPr id="39" name="모서리가 둥근 사각형 설명선 321">
              <a:extLst>
                <a:ext uri="{FF2B5EF4-FFF2-40B4-BE49-F238E27FC236}">
                  <a16:creationId xmlns:a16="http://schemas.microsoft.com/office/drawing/2014/main" id="{E3BAE59C-9556-8086-7B18-F3E27C1A419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TextBox 23">
              <a:extLst>
                <a:ext uri="{FF2B5EF4-FFF2-40B4-BE49-F238E27FC236}">
                  <a16:creationId xmlns:a16="http://schemas.microsoft.com/office/drawing/2014/main" id="{CA54D151-A092-82E8-8E3F-C181CB2467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FA9CCFF-10D2-B03F-D304-784BBE07B3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9954192"/>
              </p:ext>
            </p:extLst>
          </p:nvPr>
        </p:nvGraphicFramePr>
        <p:xfrm>
          <a:off x="1044648" y="5310223"/>
          <a:ext cx="6699922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5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추가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D7FE49EF-2DC4-DD43-491B-FA8FB47AA303}"/>
              </a:ext>
            </a:extLst>
          </p:cNvPr>
          <p:cNvSpPr txBox="1"/>
          <p:nvPr/>
        </p:nvSpPr>
        <p:spPr>
          <a:xfrm>
            <a:off x="884889" y="5079107"/>
            <a:ext cx="11160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[QC]</a:t>
            </a:r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요청자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의견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FB439E1-A301-9E31-BD73-D34DEB89D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223" y="5332761"/>
            <a:ext cx="6399666" cy="238034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16D5F9-1517-9FDE-B2EA-6B1512E3E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7731" y="5422958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 등록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C1A363FA-0F03-06A6-A50A-C81CF0676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6879149"/>
              </p:ext>
            </p:extLst>
          </p:nvPr>
        </p:nvGraphicFramePr>
        <p:xfrm>
          <a:off x="1044648" y="5642994"/>
          <a:ext cx="7941743" cy="508083"/>
        </p:xfrm>
        <a:graphic>
          <a:graphicData uri="http://schemas.openxmlformats.org/drawingml/2006/table">
            <a:tbl>
              <a:tblPr/>
              <a:tblGrid>
                <a:gridCol w="6099353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704568">
                  <a:extLst>
                    <a:ext uri="{9D8B030D-6E8A-4147-A177-3AD203B41FA5}">
                      <a16:colId xmlns:a16="http://schemas.microsoft.com/office/drawing/2014/main" val="2423167296"/>
                    </a:ext>
                  </a:extLst>
                </a:gridCol>
                <a:gridCol w="1137822">
                  <a:extLst>
                    <a:ext uri="{9D8B030D-6E8A-4147-A177-3AD203B41FA5}">
                      <a16:colId xmlns:a16="http://schemas.microsoft.com/office/drawing/2014/main" val="4284449770"/>
                    </a:ext>
                  </a:extLst>
                </a:gridCol>
              </a:tblGrid>
              <a:tr h="1693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요청자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의견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169361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169361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78D9DD1-253E-97F8-F4B5-28A1D8594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1947288"/>
              </p:ext>
            </p:extLst>
          </p:nvPr>
        </p:nvGraphicFramePr>
        <p:xfrm>
          <a:off x="1038752" y="6368184"/>
          <a:ext cx="7973035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75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755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의견 추가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1CDB1E68-1459-FCCF-E28D-FBAF4E2F77E2}"/>
              </a:ext>
            </a:extLst>
          </p:cNvPr>
          <p:cNvSpPr txBox="1"/>
          <p:nvPr/>
        </p:nvSpPr>
        <p:spPr>
          <a:xfrm>
            <a:off x="878993" y="6137068"/>
            <a:ext cx="11160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 [QC]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검토자 의견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E6291BB-0ED6-C608-D623-3E2BA4395B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9327" y="6402518"/>
            <a:ext cx="5469830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89AEB5-E683-D263-D823-E9BE1DF8B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8043" y="6447363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의견등록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5BEED63D-8B9A-3FE4-25CF-D91E6CA7C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1514241"/>
              </p:ext>
            </p:extLst>
          </p:nvPr>
        </p:nvGraphicFramePr>
        <p:xfrm>
          <a:off x="1038751" y="6700955"/>
          <a:ext cx="7947640" cy="475071"/>
        </p:xfrm>
        <a:graphic>
          <a:graphicData uri="http://schemas.openxmlformats.org/drawingml/2006/table">
            <a:tbl>
              <a:tblPr/>
              <a:tblGrid>
                <a:gridCol w="6115391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700690">
                  <a:extLst>
                    <a:ext uri="{9D8B030D-6E8A-4147-A177-3AD203B41FA5}">
                      <a16:colId xmlns:a16="http://schemas.microsoft.com/office/drawing/2014/main" val="2423167296"/>
                    </a:ext>
                  </a:extLst>
                </a:gridCol>
                <a:gridCol w="1131559">
                  <a:extLst>
                    <a:ext uri="{9D8B030D-6E8A-4147-A177-3AD203B41FA5}">
                      <a16:colId xmlns:a16="http://schemas.microsoft.com/office/drawing/2014/main" val="4284449770"/>
                    </a:ext>
                  </a:extLst>
                </a:gridCol>
              </a:tblGrid>
              <a:tr h="15835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검토자 의견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158357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158357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61" name="직사각형 60">
            <a:extLst>
              <a:ext uri="{FF2B5EF4-FFF2-40B4-BE49-F238E27FC236}">
                <a16:creationId xmlns:a16="http://schemas.microsoft.com/office/drawing/2014/main" id="{3777B147-9DCA-5309-F04F-D53082A6D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24822" y="6459674"/>
            <a:ext cx="572198" cy="14702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의견완료취소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202C968B-BEE5-CEDA-255E-9A23BDC81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5827" y="645757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의견완료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75" name="그림 74">
            <a:extLst>
              <a:ext uri="{FF2B5EF4-FFF2-40B4-BE49-F238E27FC236}">
                <a16:creationId xmlns:a16="http://schemas.microsoft.com/office/drawing/2014/main" id="{7F06B44F-3420-A78A-AEBA-10DEABFE9C31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14736" y="5661844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903847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F06912-AA11-C084-5D5B-F1BEB01896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3FB085B5-E28A-C2F7-D82F-16B097334E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694542"/>
              </p:ext>
            </p:extLst>
          </p:nvPr>
        </p:nvGraphicFramePr>
        <p:xfrm>
          <a:off x="254000" y="1343534"/>
          <a:ext cx="11691939" cy="207988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SERPWEB.SFTY_XMNT_ATFL_RQST_OPN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요청의견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 SFTY_XMNT_ATFL_OPN_RDN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의견 열람여부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DF08C7E4-FD05-0673-8613-BCEAA544A5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A21C4AB8-7D5E-4230-70CD-8CC3B43CA7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44" y="4713592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8AA70847-4C75-ED9D-72F1-54BA82DE96E7}"/>
              </a:ext>
            </a:extLst>
          </p:cNvPr>
          <p:cNvGraphicFramePr>
            <a:graphicFrameLocks noGrp="1"/>
          </p:cNvGraphicFramePr>
          <p:nvPr/>
        </p:nvGraphicFramePr>
        <p:xfrm>
          <a:off x="256313" y="4977760"/>
          <a:ext cx="11710849" cy="115380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F9EC4DA5-6EF5-3F80-E5A1-AE5FD44DE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271226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334029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04E3BC-CBAA-C1EE-39C9-7930BD2E57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360AFFA9-684D-157D-63C6-FB17A1B63F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9143433"/>
              </p:ext>
            </p:extLst>
          </p:nvPr>
        </p:nvGraphicFramePr>
        <p:xfrm>
          <a:off x="254000" y="1343534"/>
          <a:ext cx="11698679" cy="2534925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042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8255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SFT009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비식품첨부파일분류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 SCK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 점검 의뢰서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201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한글 표시사항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증빙자료 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lang="ko-KR" altLang="en-US" sz="900" strike="noStrik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ko-KR" altLang="en-US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900" strike="no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202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 정보확약서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203 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 시안</a:t>
                      </a:r>
                      <a:r>
                        <a:rPr lang="en-US" altLang="ko-KR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strike="sngStrik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 자료 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204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검사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205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인허가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206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섬유제품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혼용율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207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성적서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 보완 서류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2Q0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216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217 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218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230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품질표시사항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포장재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시안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명칭변경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사용성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신규제품검토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견뢰도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인장강도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샘플점검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시생산품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양산품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출고 검사 성적서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(OQC,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인스펙션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추가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DE1556CC-4B7E-E319-9C85-D33400BEC1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014F9DFC-5D82-F001-8BFB-FE3716E873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5051582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109CDC80-67A8-2633-B104-EDA92A90F38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5315750"/>
          <a:ext cx="11698678" cy="9230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654BCBE9-41E3-286B-D8E8-0FAFE59DAB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271226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788282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0DC2FC-B5FD-B910-5A4D-ADEAD7F3B0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4EC86FA3-D7E3-6B80-36AC-AC425AD5D5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9863909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 등록된 첨부 파일 종류별 목록을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로그인자가 요청자일 경우 파일 첨부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요청자의견등록 버튼 활성화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로그인자가 검토자와 검토부서일 경우 파일첨부와 검토자 의견 등록 버튼 활성화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첨부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다운로드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탐색기를 오픈하여 추가로 파일 등록 가능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등록 시 안전검토 첨부파일 기본정보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SFTY_XMNT_ATFL_BASIC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부터 동일 정보 있는지 체크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없으면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SFTY_XMNT_ATFL_BASIC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테이블에 정보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insert,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있다면 안전검토 첨부파일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SFTY_XMNT_ATFL_INFO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파일 정보만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insert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첨부파일명 클릭 시 해당 파일 다운로드 가능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의견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의견 목록 조회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SFTY_XMNT_ATFL_RQST_OPN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의견 등록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요청자만 가능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의견 등록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순번 증가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첨부파일구분코드 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MAX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값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QA/QC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분리 의견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QC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분리 코드로 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2Q0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검토자와 검토부서에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[5]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검토자 의견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검토자 의견 목록 조회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SFTY_XMNT_ATFL_XMNT_OPN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[6]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검토자 의견 등록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검토부서만 가능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검토자 의견 등록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순번 증가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첨부파일구분코드 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MAX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값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QA/QC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분리 의견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QC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분리 코드로 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2Q0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SCK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 점검 의뢰서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FF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2Q1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품질표시사항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QC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[7]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검토의견 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완료취소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검토의견을 완료 처리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첨부파일 기본정보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SFTY_XMNT_ATFL_BASIC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의견완료여부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(OPN_CMPLN_YN) -&gt; Y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완료 처리 시 더 이상 의견을 작성 불가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첨부파일별 검토의견을 완료를 취소 처리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첨부파일 기본정보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SFTY_XMNT_AT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_BASIC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의견완료여부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(OPN_CMPLN_YN) -&gt; 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[8]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3D122F48-0DE9-8CEB-BCED-7221663156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271226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SFTY000080_P03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첨부파일 검토의견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첨부파일 검토의견을 등록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79889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EB9305-7848-35A8-69DC-E68D7BA4B5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58165E9E-9026-F819-EC33-82ED9E8210B0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5" name="Group 233">
            <a:extLst>
              <a:ext uri="{FF2B5EF4-FFF2-40B4-BE49-F238E27FC236}">
                <a16:creationId xmlns:a16="http://schemas.microsoft.com/office/drawing/2014/main" id="{C0E20A11-8E35-FABE-9A82-F2DE5D3057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9096457"/>
              </p:ext>
            </p:extLst>
          </p:nvPr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81077AC5-AEA5-853D-1DF6-03E20664A87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00573" y="1525270"/>
            <a:ext cx="6298573" cy="5008424"/>
          </a:xfrm>
          <a:prstGeom prst="rect">
            <a:avLst/>
          </a:prstGeom>
        </p:spPr>
      </p:pic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D096A881-1FCD-B7E7-D833-30F664A387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76549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주의사항 문구 및 가이드 첨부파일을 관리한다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E4F04939-0B7F-4B5F-2E49-CE3D7FFF45AC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E147902E-8E67-975C-B46A-0F183466759B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63425648-E518-34DE-C657-F5D5F60C52F8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D6AE1B66-979C-63FF-82C7-F170FF785286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139" name="표 138">
            <a:extLst>
              <a:ext uri="{FF2B5EF4-FFF2-40B4-BE49-F238E27FC236}">
                <a16:creationId xmlns:a16="http://schemas.microsoft.com/office/drawing/2014/main" id="{B44ED8C7-BAC2-3652-CA4D-B5A872547F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1987075"/>
              </p:ext>
            </p:extLst>
          </p:nvPr>
        </p:nvGraphicFramePr>
        <p:xfrm>
          <a:off x="9855876" y="1664954"/>
          <a:ext cx="2088000" cy="3454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(Tab)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으로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매뉴구분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주의사항 구분 추가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사유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규정 </a:t>
                      </a:r>
                      <a:r>
                        <a:rPr kumimoji="1" lang="ko-KR" altLang="en-US" sz="7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사유서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팝업에 주의문구 관리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Tab (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기본관리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화면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+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상태관리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참조자관리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화면관리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선택된 탭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글자색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변경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흰색 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항목 추가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가이드 업로드 기능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4607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932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93123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38811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2070448"/>
                  </a:ext>
                </a:extLst>
              </a:tr>
            </a:tbl>
          </a:graphicData>
        </a:graphic>
      </p:graphicFrame>
      <p:grpSp>
        <p:nvGrpSpPr>
          <p:cNvPr id="180" name="그룹 21">
            <a:extLst>
              <a:ext uri="{FF2B5EF4-FFF2-40B4-BE49-F238E27FC236}">
                <a16:creationId xmlns:a16="http://schemas.microsoft.com/office/drawing/2014/main" id="{AE60C1A2-4345-D5E0-F881-26E7F4734209}"/>
              </a:ext>
            </a:extLst>
          </p:cNvPr>
          <p:cNvGrpSpPr>
            <a:grpSpLocks/>
          </p:cNvGrpSpPr>
          <p:nvPr/>
        </p:nvGrpSpPr>
        <p:grpSpPr bwMode="auto">
          <a:xfrm>
            <a:off x="1694940" y="1771720"/>
            <a:ext cx="252413" cy="165100"/>
            <a:chOff x="3125393" y="1499499"/>
            <a:chExt cx="252000" cy="165260"/>
          </a:xfrm>
        </p:grpSpPr>
        <p:sp>
          <p:nvSpPr>
            <p:cNvPr id="181" name="모서리가 둥근 사각형 설명선 321">
              <a:extLst>
                <a:ext uri="{FF2B5EF4-FFF2-40B4-BE49-F238E27FC236}">
                  <a16:creationId xmlns:a16="http://schemas.microsoft.com/office/drawing/2014/main" id="{21CD54B5-4377-9DCC-21B9-3460ABC4181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2" name="TextBox 23">
              <a:extLst>
                <a:ext uri="{FF2B5EF4-FFF2-40B4-BE49-F238E27FC236}">
                  <a16:creationId xmlns:a16="http://schemas.microsoft.com/office/drawing/2014/main" id="{E3777803-D0B4-E0C0-7757-C7E9A6989C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pic>
        <p:nvPicPr>
          <p:cNvPr id="8" name="그림 7">
            <a:extLst>
              <a:ext uri="{FF2B5EF4-FFF2-40B4-BE49-F238E27FC236}">
                <a16:creationId xmlns:a16="http://schemas.microsoft.com/office/drawing/2014/main" id="{841631D9-45FB-0118-8FF1-22805CC91BD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8756"/>
          <a:stretch/>
        </p:blipFill>
        <p:spPr>
          <a:xfrm>
            <a:off x="1900573" y="2162335"/>
            <a:ext cx="6298573" cy="4569911"/>
          </a:xfrm>
          <a:prstGeom prst="rect">
            <a:avLst/>
          </a:prstGeom>
        </p:spPr>
      </p:pic>
      <p:grpSp>
        <p:nvGrpSpPr>
          <p:cNvPr id="280" name="그룹 21">
            <a:extLst>
              <a:ext uri="{FF2B5EF4-FFF2-40B4-BE49-F238E27FC236}">
                <a16:creationId xmlns:a16="http://schemas.microsoft.com/office/drawing/2014/main" id="{D566C825-FDBD-32E2-0859-15BE46A78A85}"/>
              </a:ext>
            </a:extLst>
          </p:cNvPr>
          <p:cNvGrpSpPr>
            <a:grpSpLocks/>
          </p:cNvGrpSpPr>
          <p:nvPr/>
        </p:nvGrpSpPr>
        <p:grpSpPr bwMode="auto">
          <a:xfrm>
            <a:off x="2692594" y="4482905"/>
            <a:ext cx="252413" cy="165100"/>
            <a:chOff x="3125393" y="1499499"/>
            <a:chExt cx="252000" cy="165260"/>
          </a:xfrm>
        </p:grpSpPr>
        <p:sp>
          <p:nvSpPr>
            <p:cNvPr id="281" name="모서리가 둥근 사각형 설명선 321">
              <a:extLst>
                <a:ext uri="{FF2B5EF4-FFF2-40B4-BE49-F238E27FC236}">
                  <a16:creationId xmlns:a16="http://schemas.microsoft.com/office/drawing/2014/main" id="{0AB14CED-EA24-DB83-14ED-763061CB5FE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2" name="TextBox 23">
              <a:extLst>
                <a:ext uri="{FF2B5EF4-FFF2-40B4-BE49-F238E27FC236}">
                  <a16:creationId xmlns:a16="http://schemas.microsoft.com/office/drawing/2014/main" id="{C3CA1ADB-00FF-41FF-9E76-50BFF70CD9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97B2598-E413-416B-CF8D-C10355F2789C}"/>
              </a:ext>
            </a:extLst>
          </p:cNvPr>
          <p:cNvSpPr txBox="1"/>
          <p:nvPr/>
        </p:nvSpPr>
        <p:spPr>
          <a:xfrm>
            <a:off x="2807933" y="4611345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미준수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사유</a:t>
            </a:r>
          </a:p>
        </p:txBody>
      </p:sp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B924E121-82CE-DCCC-DCBA-F698583AA1D9}"/>
              </a:ext>
            </a:extLst>
          </p:cNvPr>
          <p:cNvSpPr/>
          <p:nvPr/>
        </p:nvSpPr>
        <p:spPr bwMode="auto">
          <a:xfrm>
            <a:off x="1983379" y="1963783"/>
            <a:ext cx="655155" cy="122992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기본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11" name="사각형: 둥근 위쪽 모서리 10">
            <a:extLst>
              <a:ext uri="{FF2B5EF4-FFF2-40B4-BE49-F238E27FC236}">
                <a16:creationId xmlns:a16="http://schemas.microsoft.com/office/drawing/2014/main" id="{91E414D8-1D09-0F46-27DC-7A2E2A7C8027}"/>
              </a:ext>
            </a:extLst>
          </p:cNvPr>
          <p:cNvSpPr/>
          <p:nvPr/>
        </p:nvSpPr>
        <p:spPr bwMode="auto">
          <a:xfrm>
            <a:off x="2648414" y="1968124"/>
            <a:ext cx="655155" cy="122992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상태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12" name="사각형: 둥근 위쪽 모서리 11">
            <a:extLst>
              <a:ext uri="{FF2B5EF4-FFF2-40B4-BE49-F238E27FC236}">
                <a16:creationId xmlns:a16="http://schemas.microsoft.com/office/drawing/2014/main" id="{2DD51CCA-E2A5-2990-B4DD-2946F196960E}"/>
              </a:ext>
            </a:extLst>
          </p:cNvPr>
          <p:cNvSpPr/>
          <p:nvPr/>
        </p:nvSpPr>
        <p:spPr bwMode="auto">
          <a:xfrm>
            <a:off x="3303569" y="1969209"/>
            <a:ext cx="933889" cy="108885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b="1" i="0" u="none" strike="noStrike" cap="none" normalizeH="0" baseline="0" dirty="0" err="1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참조자</a:t>
            </a:r>
            <a:r>
              <a:rPr kumimoji="1" lang="en-US" altLang="ko-KR" sz="8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/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임원 관리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83DBC14-E221-DED6-F8C8-2D4EEF7F91B1}"/>
              </a:ext>
            </a:extLst>
          </p:cNvPr>
          <p:cNvSpPr/>
          <p:nvPr/>
        </p:nvSpPr>
        <p:spPr bwMode="auto">
          <a:xfrm>
            <a:off x="1906079" y="1927509"/>
            <a:ext cx="2430532" cy="183203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Dot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E0755CC-8C8F-38E0-7D91-0B3EFD150C22}"/>
              </a:ext>
            </a:extLst>
          </p:cNvPr>
          <p:cNvSpPr/>
          <p:nvPr/>
        </p:nvSpPr>
        <p:spPr bwMode="auto">
          <a:xfrm>
            <a:off x="7053943" y="1894712"/>
            <a:ext cx="1155083" cy="216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07D4D9-162C-7E7C-680D-29046A690C73}"/>
              </a:ext>
            </a:extLst>
          </p:cNvPr>
          <p:cNvSpPr txBox="1"/>
          <p:nvPr/>
        </p:nvSpPr>
        <p:spPr>
          <a:xfrm>
            <a:off x="2807933" y="6211194"/>
            <a:ext cx="492443" cy="123111"/>
          </a:xfrm>
          <a:prstGeom prst="rect">
            <a:avLst/>
          </a:prstGeom>
          <a:solidFill>
            <a:schemeClr val="bg1"/>
          </a:solidFill>
        </p:spPr>
        <p:txBody>
          <a:bodyPr wrap="none" tIns="0" bIns="0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</a:t>
            </a:r>
          </a:p>
        </p:txBody>
      </p:sp>
      <p:grpSp>
        <p:nvGrpSpPr>
          <p:cNvPr id="2" name="그룹 21">
            <a:extLst>
              <a:ext uri="{FF2B5EF4-FFF2-40B4-BE49-F238E27FC236}">
                <a16:creationId xmlns:a16="http://schemas.microsoft.com/office/drawing/2014/main" id="{4F750096-D189-EB8E-8F88-B9E2F9A9AA69}"/>
              </a:ext>
            </a:extLst>
          </p:cNvPr>
          <p:cNvGrpSpPr>
            <a:grpSpLocks/>
          </p:cNvGrpSpPr>
          <p:nvPr/>
        </p:nvGrpSpPr>
        <p:grpSpPr bwMode="auto">
          <a:xfrm>
            <a:off x="2702812" y="6046094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0CEEF516-ADCB-AF99-F07C-60E4BDFC7C4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DC754361-4DC9-824A-617B-ABA5F8A68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7662087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53CCAB-4C3B-9F30-B687-05A30761E0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DC9B052A-C567-38DA-1D63-0DB673443F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770"/>
              </p:ext>
            </p:extLst>
          </p:nvPr>
        </p:nvGraphicFramePr>
        <p:xfrm>
          <a:off x="254000" y="1343534"/>
          <a:ext cx="11691939" cy="1846080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SERPWEB.SFTY_XMNT_ATTN_MTR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주의사항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SERPWEB.SFTY_XMNT_GUIDE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가이드 관리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CE56C9D5-9945-F960-2B02-1018FF2A75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2AB4FC09-18F4-DD88-2AC5-0A99041849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81C03C5-47C0-CE57-0772-55C15F1741AC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219031FD-2A6F-B9B3-7901-3EA7AF64C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7819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주의사항 문구 및 가이드 첨부파일을 관리한다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7189039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D005A-08FC-DE29-DC2C-4A3EA63B0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4FDB22FC-9EFB-BBDB-2145-E1638A6CFA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7016875"/>
              </p:ext>
            </p:extLst>
          </p:nvPr>
        </p:nvGraphicFramePr>
        <p:xfrm>
          <a:off x="254000" y="1343534"/>
          <a:ext cx="11698679" cy="2129925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주의사항구분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점검제외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미준수사유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미준수사유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추가</a:t>
                      </a:r>
                      <a:endParaRPr lang="en-US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513063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209176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85EF97AE-B2F1-79D0-49D7-0AC8F8FA23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8AAA3781-DE7B-3AFF-CFB2-A049882176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57230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EB7FC266-592E-7535-F3DF-5D298F920A0C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836468"/>
          <a:ext cx="11698678" cy="25383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665A7C32-7576-2C20-B500-44EB3AE5F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7819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주의사항 문구 및 가이드 첨부파일을 관리한다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7648913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E6EF1-20E1-3C6C-3F43-D130C80EB0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488E9AB2-D5A4-C1A5-4265-6FE821D550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3835448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관리 주의사항 등록 관리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주의사항 신규 등록을 위해 입력 데이터 클리어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주의사항 삭제 처리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(flag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체크박스 체크 후 삭제 로직 수행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사유 코드추가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미준수사유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SFT011)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관리 가이드 문서 첨부파일 관리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업로드로 신규 등록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가이드 첨부파일 삭제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(flag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체크박스 체크 후 삭제 로직 수행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코드 추가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CFB69F33-4E47-A8AF-B3EF-89C84FEFAF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7819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주의사항 문구 및 가이드 첨부파일을 관리한다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685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040FCE-1231-1062-DE72-1966904A13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B2CD3B84-47EF-17F2-AB9A-252CE0F838BF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5" name="Group 233">
            <a:extLst>
              <a:ext uri="{FF2B5EF4-FFF2-40B4-BE49-F238E27FC236}">
                <a16:creationId xmlns:a16="http://schemas.microsoft.com/office/drawing/2014/main" id="{CADFB218-6F07-39F8-B8E2-778F4B762F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1989649"/>
              </p:ext>
            </p:extLst>
          </p:nvPr>
        </p:nvGraphicFramePr>
        <p:xfrm>
          <a:off x="234704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196D870B-A15A-20D3-1163-D8DA1DFBF4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6237254"/>
              </p:ext>
            </p:extLst>
          </p:nvPr>
        </p:nvGraphicFramePr>
        <p:xfrm>
          <a:off x="1970200" y="2975994"/>
          <a:ext cx="6921503" cy="2522220"/>
        </p:xfrm>
        <a:graphic>
          <a:graphicData uri="http://schemas.openxmlformats.org/drawingml/2006/table">
            <a:tbl>
              <a:tblPr/>
              <a:tblGrid>
                <a:gridCol w="685486">
                  <a:extLst>
                    <a:ext uri="{9D8B030D-6E8A-4147-A177-3AD203B41FA5}">
                      <a16:colId xmlns:a16="http://schemas.microsoft.com/office/drawing/2014/main" val="1660886656"/>
                    </a:ext>
                  </a:extLst>
                </a:gridCol>
                <a:gridCol w="685486">
                  <a:extLst>
                    <a:ext uri="{9D8B030D-6E8A-4147-A177-3AD203B41FA5}">
                      <a16:colId xmlns:a16="http://schemas.microsoft.com/office/drawing/2014/main" val="103191924"/>
                    </a:ext>
                  </a:extLst>
                </a:gridCol>
                <a:gridCol w="685486">
                  <a:extLst>
                    <a:ext uri="{9D8B030D-6E8A-4147-A177-3AD203B41FA5}">
                      <a16:colId xmlns:a16="http://schemas.microsoft.com/office/drawing/2014/main" val="1475020554"/>
                    </a:ext>
                  </a:extLst>
                </a:gridCol>
                <a:gridCol w="685486">
                  <a:extLst>
                    <a:ext uri="{9D8B030D-6E8A-4147-A177-3AD203B41FA5}">
                      <a16:colId xmlns:a16="http://schemas.microsoft.com/office/drawing/2014/main" val="1850240351"/>
                    </a:ext>
                  </a:extLst>
                </a:gridCol>
                <a:gridCol w="2808587">
                  <a:extLst>
                    <a:ext uri="{9D8B030D-6E8A-4147-A177-3AD203B41FA5}">
                      <a16:colId xmlns:a16="http://schemas.microsoft.com/office/drawing/2014/main" val="442208856"/>
                    </a:ext>
                  </a:extLst>
                </a:gridCol>
                <a:gridCol w="685486">
                  <a:extLst>
                    <a:ext uri="{9D8B030D-6E8A-4147-A177-3AD203B41FA5}">
                      <a16:colId xmlns:a16="http://schemas.microsoft.com/office/drawing/2014/main" val="3428458455"/>
                    </a:ext>
                  </a:extLst>
                </a:gridCol>
                <a:gridCol w="685486">
                  <a:extLst>
                    <a:ext uri="{9D8B030D-6E8A-4147-A177-3AD203B41FA5}">
                      <a16:colId xmlns:a16="http://schemas.microsoft.com/office/drawing/2014/main" val="552928685"/>
                    </a:ext>
                  </a:extLst>
                </a:gridCol>
              </a:tblGrid>
              <a:tr h="2857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검토번호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240014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/ASKU/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/QA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기획파트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/SKU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김*민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길동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검*자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닉넴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655674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232323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조건부완료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4408688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234234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795759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0525826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424232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9921406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200695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8719449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4494087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FCC51127-D9D9-E3F6-C35F-A6D3A2C946BD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88311"/>
          <a:stretch/>
        </p:blipFill>
        <p:spPr>
          <a:xfrm>
            <a:off x="1900573" y="1525270"/>
            <a:ext cx="6298573" cy="585442"/>
          </a:xfrm>
          <a:prstGeom prst="rect">
            <a:avLst/>
          </a:prstGeom>
        </p:spPr>
      </p:pic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A245C3A5-FAAD-10C5-C2E2-3FDFB0C883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42033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건을 조회하여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상태로 되돌리는 화면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36E2E054-CB39-66EE-7A36-08EEF4B35457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5E6325EF-1903-0748-1F9D-8E428600FD27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B601D65E-965A-3B53-9657-556F3DCF56EA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394BE4C2-79EF-2A93-1C3A-1A7468FA839B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139" name="표 138">
            <a:extLst>
              <a:ext uri="{FF2B5EF4-FFF2-40B4-BE49-F238E27FC236}">
                <a16:creationId xmlns:a16="http://schemas.microsoft.com/office/drawing/2014/main" id="{56AF4B5F-EF22-6629-D741-0C94DAE4E1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4094374"/>
              </p:ext>
            </p:extLst>
          </p:nvPr>
        </p:nvGraphicFramePr>
        <p:xfrm>
          <a:off x="9855876" y="1664954"/>
          <a:ext cx="2088000" cy="49239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(Tab)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으로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매뉴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구분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 선택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금일 기준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30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일전 설정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기간은 최대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기준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조회유형은 기본 설정은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상태관리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(D),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비식품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,,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검토번호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상태변경할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항목 성택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복수선택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않됨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4607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조회유형 컬럼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932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조건부완료인지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홍보물은 조건부완료 없음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93123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상태변경 할 항목을 선택한 후 클릭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상태변경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확입팝업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(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전자결재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확입팝업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(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홍보물포함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확입팝업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(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38811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상태변경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확입팝업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확인 클릭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검토건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검토요청상태로 변경하고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재조회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건 재조회시 재외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20704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전자결재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확입팝업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확인 클릭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검토건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검토요청상태로 변경하고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재조회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건 재조회시 재외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011212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홍보물포함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확입팝업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확인 클릭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검토건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검토요청상태로 변경하고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재조회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건 재조회시 재외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9433177"/>
                  </a:ext>
                </a:extLst>
              </a:tr>
            </a:tbl>
          </a:graphicData>
        </a:graphic>
      </p:graphicFrame>
      <p:grpSp>
        <p:nvGrpSpPr>
          <p:cNvPr id="280" name="그룹 21">
            <a:extLst>
              <a:ext uri="{FF2B5EF4-FFF2-40B4-BE49-F238E27FC236}">
                <a16:creationId xmlns:a16="http://schemas.microsoft.com/office/drawing/2014/main" id="{3C7D4A9D-A573-3779-BEB6-1DEC69DE4D33}"/>
              </a:ext>
            </a:extLst>
          </p:cNvPr>
          <p:cNvGrpSpPr>
            <a:grpSpLocks/>
          </p:cNvGrpSpPr>
          <p:nvPr/>
        </p:nvGrpSpPr>
        <p:grpSpPr bwMode="auto">
          <a:xfrm>
            <a:off x="2759079" y="1735441"/>
            <a:ext cx="252413" cy="165100"/>
            <a:chOff x="3125393" y="1499499"/>
            <a:chExt cx="252000" cy="165260"/>
          </a:xfrm>
        </p:grpSpPr>
        <p:sp>
          <p:nvSpPr>
            <p:cNvPr id="281" name="모서리가 둥근 사각형 설명선 321">
              <a:extLst>
                <a:ext uri="{FF2B5EF4-FFF2-40B4-BE49-F238E27FC236}">
                  <a16:creationId xmlns:a16="http://schemas.microsoft.com/office/drawing/2014/main" id="{A4B7A0BC-448B-8EA8-3E0B-1C52C9F0A00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2" name="TextBox 23">
              <a:extLst>
                <a:ext uri="{FF2B5EF4-FFF2-40B4-BE49-F238E27FC236}">
                  <a16:creationId xmlns:a16="http://schemas.microsoft.com/office/drawing/2014/main" id="{EFCCF529-9506-35EA-F3EB-FFCCCC8940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8D66D2F5-9805-96E8-C051-E52813EEC24B}"/>
              </a:ext>
            </a:extLst>
          </p:cNvPr>
          <p:cNvSpPr/>
          <p:nvPr/>
        </p:nvSpPr>
        <p:spPr bwMode="auto">
          <a:xfrm>
            <a:off x="1983379" y="1963783"/>
            <a:ext cx="655155" cy="122992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기본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11" name="사각형: 둥근 위쪽 모서리 10">
            <a:extLst>
              <a:ext uri="{FF2B5EF4-FFF2-40B4-BE49-F238E27FC236}">
                <a16:creationId xmlns:a16="http://schemas.microsoft.com/office/drawing/2014/main" id="{82B9807F-5FE5-8DBB-EBFF-DA178B9042A9}"/>
              </a:ext>
            </a:extLst>
          </p:cNvPr>
          <p:cNvSpPr/>
          <p:nvPr/>
        </p:nvSpPr>
        <p:spPr bwMode="auto">
          <a:xfrm>
            <a:off x="2648414" y="1968124"/>
            <a:ext cx="655155" cy="122992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상태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12" name="사각형: 둥근 위쪽 모서리 11">
            <a:extLst>
              <a:ext uri="{FF2B5EF4-FFF2-40B4-BE49-F238E27FC236}">
                <a16:creationId xmlns:a16="http://schemas.microsoft.com/office/drawing/2014/main" id="{0123EF9A-8CB6-2D8F-2A99-CE71827CAB55}"/>
              </a:ext>
            </a:extLst>
          </p:cNvPr>
          <p:cNvSpPr/>
          <p:nvPr/>
        </p:nvSpPr>
        <p:spPr bwMode="auto">
          <a:xfrm>
            <a:off x="3303569" y="1969209"/>
            <a:ext cx="855609" cy="116382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b="1" i="0" u="none" strike="noStrike" cap="none" normalizeH="0" baseline="0" dirty="0" err="1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참조자</a:t>
            </a:r>
            <a:r>
              <a:rPr kumimoji="1" lang="en-US" altLang="ko-KR" sz="8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/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임원관리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AC9647E-BC2A-5284-7576-CF1F533CE6A9}"/>
              </a:ext>
            </a:extLst>
          </p:cNvPr>
          <p:cNvSpPr/>
          <p:nvPr/>
        </p:nvSpPr>
        <p:spPr bwMode="auto">
          <a:xfrm>
            <a:off x="7053943" y="1894712"/>
            <a:ext cx="1155083" cy="216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EBCA585-6050-47D6-28DF-35E49941C2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0902293"/>
              </p:ext>
            </p:extLst>
          </p:nvPr>
        </p:nvGraphicFramePr>
        <p:xfrm>
          <a:off x="1994774" y="2245308"/>
          <a:ext cx="6110170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30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01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44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75657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  <a:gridCol w="644434">
                  <a:extLst>
                    <a:ext uri="{9D8B030D-6E8A-4147-A177-3AD203B41FA5}">
                      <a16:colId xmlns:a16="http://schemas.microsoft.com/office/drawing/2014/main" val="1062137084"/>
                    </a:ext>
                  </a:extLst>
                </a:gridCol>
                <a:gridCol w="1062446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156E9D22-9E0A-B63F-7981-22B695A68412}"/>
              </a:ext>
            </a:extLst>
          </p:cNvPr>
          <p:cNvGrpSpPr/>
          <p:nvPr/>
        </p:nvGrpSpPr>
        <p:grpSpPr>
          <a:xfrm>
            <a:off x="2830371" y="2283610"/>
            <a:ext cx="1688476" cy="216000"/>
            <a:chOff x="-3636994" y="2085036"/>
            <a:chExt cx="1688476" cy="216000"/>
          </a:xfrm>
        </p:grpSpPr>
        <p:grpSp>
          <p:nvGrpSpPr>
            <p:cNvPr id="4" name="그룹 75">
              <a:extLst>
                <a:ext uri="{FF2B5EF4-FFF2-40B4-BE49-F238E27FC236}">
                  <a16:creationId xmlns:a16="http://schemas.microsoft.com/office/drawing/2014/main" id="{05D0C2E8-E357-27FE-0697-34DCFB9C4DC2}"/>
                </a:ext>
              </a:extLst>
            </p:cNvPr>
            <p:cNvGrpSpPr/>
            <p:nvPr/>
          </p:nvGrpSpPr>
          <p:grpSpPr>
            <a:xfrm>
              <a:off x="-3636994" y="2085036"/>
              <a:ext cx="792000" cy="216000"/>
              <a:chOff x="3834532" y="2772519"/>
              <a:chExt cx="792000" cy="216000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65E5AFDB-E2D9-1D9A-220A-E0BDF213C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2025-06-16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20" name="Picture 8">
                <a:extLst>
                  <a:ext uri="{FF2B5EF4-FFF2-40B4-BE49-F238E27FC236}">
                    <a16:creationId xmlns:a16="http://schemas.microsoft.com/office/drawing/2014/main" id="{8699B59B-7F2E-4FF8-FDEE-495EF831B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" name="그룹 75">
              <a:extLst>
                <a:ext uri="{FF2B5EF4-FFF2-40B4-BE49-F238E27FC236}">
                  <a16:creationId xmlns:a16="http://schemas.microsoft.com/office/drawing/2014/main" id="{1F95A92F-3812-E977-2553-B36C13F8E04C}"/>
                </a:ext>
              </a:extLst>
            </p:cNvPr>
            <p:cNvGrpSpPr/>
            <p:nvPr/>
          </p:nvGrpSpPr>
          <p:grpSpPr>
            <a:xfrm>
              <a:off x="-2740518" y="2085036"/>
              <a:ext cx="792000" cy="216000"/>
              <a:chOff x="3834532" y="2772519"/>
              <a:chExt cx="792000" cy="216000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B3874F2E-A52F-2E91-B128-3EF2BF8E5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</a:t>
                </a:r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5</a:t>
                </a: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-07-15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18" name="Picture 8">
                <a:extLst>
                  <a:ext uri="{FF2B5EF4-FFF2-40B4-BE49-F238E27FC236}">
                    <a16:creationId xmlns:a16="http://schemas.microsoft.com/office/drawing/2014/main" id="{A7E968BF-F094-9231-9365-3242DC707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FFF5915-142E-DB49-E505-26177DD485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24015" y="2139175"/>
              <a:ext cx="62518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~</a:t>
              </a:r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68D28A8-1E53-5877-868E-AAB32F37B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5280" y="2277248"/>
            <a:ext cx="743799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등록</a:t>
            </a:r>
            <a:r>
              <a:rPr kumimoji="1" lang="ko-KR" altLang="en-US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일</a:t>
            </a:r>
            <a:r>
              <a:rPr kumimoji="1" lang="en-US" altLang="ko-KR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검토완료일</a:t>
            </a:r>
          </a:p>
        </p:txBody>
      </p:sp>
      <p:pic>
        <p:nvPicPr>
          <p:cNvPr id="22" name="Picture 103">
            <a:extLst>
              <a:ext uri="{FF2B5EF4-FFF2-40B4-BE49-F238E27FC236}">
                <a16:creationId xmlns:a16="http://schemas.microsoft.com/office/drawing/2014/main" id="{5E4757B1-0088-9C38-DAE5-19A38B7CFD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 t="15633" r="9297"/>
          <a:stretch>
            <a:fillRect/>
          </a:stretch>
        </p:blipFill>
        <p:spPr bwMode="auto">
          <a:xfrm>
            <a:off x="2593676" y="2341276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23" name="직사각형 22">
            <a:extLst>
              <a:ext uri="{FF2B5EF4-FFF2-40B4-BE49-F238E27FC236}">
                <a16:creationId xmlns:a16="http://schemas.microsoft.com/office/drawing/2014/main" id="{9F336A99-1D5D-C6C5-EE39-3F54E7A0C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1812" y="2283474"/>
            <a:ext cx="1137968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전체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식품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비식품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</a:t>
            </a:r>
          </a:p>
        </p:txBody>
      </p:sp>
      <p:pic>
        <p:nvPicPr>
          <p:cNvPr id="24" name="Picture 103">
            <a:extLst>
              <a:ext uri="{FF2B5EF4-FFF2-40B4-BE49-F238E27FC236}">
                <a16:creationId xmlns:a16="http://schemas.microsoft.com/office/drawing/2014/main" id="{C6F89ACC-E153-14CB-1104-0A0B14D3D8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 t="15633" r="9297"/>
          <a:stretch>
            <a:fillRect/>
          </a:stretch>
        </p:blipFill>
        <p:spPr bwMode="auto">
          <a:xfrm>
            <a:off x="6245523" y="2337996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grpSp>
        <p:nvGrpSpPr>
          <p:cNvPr id="48" name="그룹 21">
            <a:extLst>
              <a:ext uri="{FF2B5EF4-FFF2-40B4-BE49-F238E27FC236}">
                <a16:creationId xmlns:a16="http://schemas.microsoft.com/office/drawing/2014/main" id="{62568C64-C98E-31D2-68AA-74EF79A154BA}"/>
              </a:ext>
            </a:extLst>
          </p:cNvPr>
          <p:cNvGrpSpPr>
            <a:grpSpLocks/>
          </p:cNvGrpSpPr>
          <p:nvPr/>
        </p:nvGrpSpPr>
        <p:grpSpPr bwMode="auto">
          <a:xfrm>
            <a:off x="1783289" y="2202287"/>
            <a:ext cx="252413" cy="165100"/>
            <a:chOff x="3125393" y="1499499"/>
            <a:chExt cx="252000" cy="165260"/>
          </a:xfrm>
        </p:grpSpPr>
        <p:sp>
          <p:nvSpPr>
            <p:cNvPr id="49" name="모서리가 둥근 사각형 설명선 321">
              <a:extLst>
                <a:ext uri="{FF2B5EF4-FFF2-40B4-BE49-F238E27FC236}">
                  <a16:creationId xmlns:a16="http://schemas.microsoft.com/office/drawing/2014/main" id="{9B95C07B-E1DB-CE73-04B8-0185522D380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23">
              <a:extLst>
                <a:ext uri="{FF2B5EF4-FFF2-40B4-BE49-F238E27FC236}">
                  <a16:creationId xmlns:a16="http://schemas.microsoft.com/office/drawing/2014/main" id="{89E7F629-27A5-8D01-9173-F6A4BDE50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51" name="그룹 21">
            <a:extLst>
              <a:ext uri="{FF2B5EF4-FFF2-40B4-BE49-F238E27FC236}">
                <a16:creationId xmlns:a16="http://schemas.microsoft.com/office/drawing/2014/main" id="{D217B068-5489-A4C4-FDFC-B15351654818}"/>
              </a:ext>
            </a:extLst>
          </p:cNvPr>
          <p:cNvGrpSpPr>
            <a:grpSpLocks/>
          </p:cNvGrpSpPr>
          <p:nvPr/>
        </p:nvGrpSpPr>
        <p:grpSpPr bwMode="auto">
          <a:xfrm>
            <a:off x="4671240" y="2110712"/>
            <a:ext cx="252413" cy="165100"/>
            <a:chOff x="3125393" y="1499499"/>
            <a:chExt cx="252000" cy="165260"/>
          </a:xfrm>
        </p:grpSpPr>
        <p:sp>
          <p:nvSpPr>
            <p:cNvPr id="52" name="모서리가 둥근 사각형 설명선 321">
              <a:extLst>
                <a:ext uri="{FF2B5EF4-FFF2-40B4-BE49-F238E27FC236}">
                  <a16:creationId xmlns:a16="http://schemas.microsoft.com/office/drawing/2014/main" id="{FC9CD843-549D-7036-CEA4-B89B01FA214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TextBox 23">
              <a:extLst>
                <a:ext uri="{FF2B5EF4-FFF2-40B4-BE49-F238E27FC236}">
                  <a16:creationId xmlns:a16="http://schemas.microsoft.com/office/drawing/2014/main" id="{8C9A4A31-57BC-2944-3E09-F081E78E8C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54" name="그룹 21">
            <a:extLst>
              <a:ext uri="{FF2B5EF4-FFF2-40B4-BE49-F238E27FC236}">
                <a16:creationId xmlns:a16="http://schemas.microsoft.com/office/drawing/2014/main" id="{33E94A7E-6627-D574-78F4-8DA327CE3718}"/>
              </a:ext>
            </a:extLst>
          </p:cNvPr>
          <p:cNvGrpSpPr>
            <a:grpSpLocks/>
          </p:cNvGrpSpPr>
          <p:nvPr/>
        </p:nvGrpSpPr>
        <p:grpSpPr bwMode="auto">
          <a:xfrm>
            <a:off x="4160094" y="2759620"/>
            <a:ext cx="252413" cy="165100"/>
            <a:chOff x="3125393" y="1499499"/>
            <a:chExt cx="252000" cy="165260"/>
          </a:xfrm>
        </p:grpSpPr>
        <p:sp>
          <p:nvSpPr>
            <p:cNvPr id="55" name="모서리가 둥근 사각형 설명선 321">
              <a:extLst>
                <a:ext uri="{FF2B5EF4-FFF2-40B4-BE49-F238E27FC236}">
                  <a16:creationId xmlns:a16="http://schemas.microsoft.com/office/drawing/2014/main" id="{4D878ACD-97AC-C462-4BD6-DED3056DE1C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23">
              <a:extLst>
                <a:ext uri="{FF2B5EF4-FFF2-40B4-BE49-F238E27FC236}">
                  <a16:creationId xmlns:a16="http://schemas.microsoft.com/office/drawing/2014/main" id="{AA09E2E8-80F2-0D24-3312-E3E6E64BC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grpSp>
        <p:nvGrpSpPr>
          <p:cNvPr id="58" name="그룹 21">
            <a:extLst>
              <a:ext uri="{FF2B5EF4-FFF2-40B4-BE49-F238E27FC236}">
                <a16:creationId xmlns:a16="http://schemas.microsoft.com/office/drawing/2014/main" id="{0F1C6299-A691-717F-7234-F23495DD1E35}"/>
              </a:ext>
            </a:extLst>
          </p:cNvPr>
          <p:cNvGrpSpPr>
            <a:grpSpLocks/>
          </p:cNvGrpSpPr>
          <p:nvPr/>
        </p:nvGrpSpPr>
        <p:grpSpPr bwMode="auto">
          <a:xfrm>
            <a:off x="6488257" y="2085591"/>
            <a:ext cx="252413" cy="165100"/>
            <a:chOff x="3125393" y="1499499"/>
            <a:chExt cx="252000" cy="165260"/>
          </a:xfrm>
        </p:grpSpPr>
        <p:sp>
          <p:nvSpPr>
            <p:cNvPr id="59" name="모서리가 둥근 사각형 설명선 321">
              <a:extLst>
                <a:ext uri="{FF2B5EF4-FFF2-40B4-BE49-F238E27FC236}">
                  <a16:creationId xmlns:a16="http://schemas.microsoft.com/office/drawing/2014/main" id="{9A4F36DE-7FE1-B74B-0EFA-FDCE2253F60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23">
              <a:extLst>
                <a:ext uri="{FF2B5EF4-FFF2-40B4-BE49-F238E27FC236}">
                  <a16:creationId xmlns:a16="http://schemas.microsoft.com/office/drawing/2014/main" id="{9076F069-0978-9857-A435-4EE15723D6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pic>
        <p:nvPicPr>
          <p:cNvPr id="64" name="그림 63">
            <a:extLst>
              <a:ext uri="{FF2B5EF4-FFF2-40B4-BE49-F238E27FC236}">
                <a16:creationId xmlns:a16="http://schemas.microsoft.com/office/drawing/2014/main" id="{EF98A2B6-454C-57AF-68E8-ED64A23504E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76236" y="2306066"/>
            <a:ext cx="543161" cy="181054"/>
          </a:xfrm>
          <a:prstGeom prst="rect">
            <a:avLst/>
          </a:prstGeom>
        </p:spPr>
      </p:pic>
      <p:grpSp>
        <p:nvGrpSpPr>
          <p:cNvPr id="70" name="그룹 21">
            <a:extLst>
              <a:ext uri="{FF2B5EF4-FFF2-40B4-BE49-F238E27FC236}">
                <a16:creationId xmlns:a16="http://schemas.microsoft.com/office/drawing/2014/main" id="{6B3E339A-D451-E859-D1D0-4853F7F747F3}"/>
              </a:ext>
            </a:extLst>
          </p:cNvPr>
          <p:cNvGrpSpPr>
            <a:grpSpLocks/>
          </p:cNvGrpSpPr>
          <p:nvPr/>
        </p:nvGrpSpPr>
        <p:grpSpPr bwMode="auto">
          <a:xfrm>
            <a:off x="2713587" y="2765823"/>
            <a:ext cx="252413" cy="165100"/>
            <a:chOff x="3125393" y="1499499"/>
            <a:chExt cx="252000" cy="165260"/>
          </a:xfrm>
        </p:grpSpPr>
        <p:sp>
          <p:nvSpPr>
            <p:cNvPr id="71" name="모서리가 둥근 사각형 설명선 321">
              <a:extLst>
                <a:ext uri="{FF2B5EF4-FFF2-40B4-BE49-F238E27FC236}">
                  <a16:creationId xmlns:a16="http://schemas.microsoft.com/office/drawing/2014/main" id="{56F8BC92-47F3-CD02-07C6-E5FF5C1E8FB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23">
              <a:extLst>
                <a:ext uri="{FF2B5EF4-FFF2-40B4-BE49-F238E27FC236}">
                  <a16:creationId xmlns:a16="http://schemas.microsoft.com/office/drawing/2014/main" id="{F70C2B5A-B621-EF39-16B9-588BC29FA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1FFD653-65E3-E336-00DE-848CE3EE7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3328" y="2275845"/>
            <a:ext cx="976115" cy="20724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65" name="그룹 21">
            <a:extLst>
              <a:ext uri="{FF2B5EF4-FFF2-40B4-BE49-F238E27FC236}">
                <a16:creationId xmlns:a16="http://schemas.microsoft.com/office/drawing/2014/main" id="{98197921-F3D0-6B17-D0C4-0D69E86A863A}"/>
              </a:ext>
            </a:extLst>
          </p:cNvPr>
          <p:cNvGrpSpPr>
            <a:grpSpLocks/>
          </p:cNvGrpSpPr>
          <p:nvPr/>
        </p:nvGrpSpPr>
        <p:grpSpPr bwMode="auto">
          <a:xfrm>
            <a:off x="2015280" y="2744573"/>
            <a:ext cx="252413" cy="165100"/>
            <a:chOff x="3125393" y="1499499"/>
            <a:chExt cx="252000" cy="165260"/>
          </a:xfrm>
        </p:grpSpPr>
        <p:sp>
          <p:nvSpPr>
            <p:cNvPr id="66" name="모서리가 둥근 사각형 설명선 321">
              <a:extLst>
                <a:ext uri="{FF2B5EF4-FFF2-40B4-BE49-F238E27FC236}">
                  <a16:creationId xmlns:a16="http://schemas.microsoft.com/office/drawing/2014/main" id="{12629E21-A601-F630-0348-9884B4B7EF1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23">
              <a:extLst>
                <a:ext uri="{FF2B5EF4-FFF2-40B4-BE49-F238E27FC236}">
                  <a16:creationId xmlns:a16="http://schemas.microsoft.com/office/drawing/2014/main" id="{3F53C5E6-5E66-4CF2-7697-22B01E6DC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grpSp>
        <p:nvGrpSpPr>
          <p:cNvPr id="78" name="그룹 21">
            <a:extLst>
              <a:ext uri="{FF2B5EF4-FFF2-40B4-BE49-F238E27FC236}">
                <a16:creationId xmlns:a16="http://schemas.microsoft.com/office/drawing/2014/main" id="{EDC830BD-C735-49DA-B239-B55656897E39}"/>
              </a:ext>
            </a:extLst>
          </p:cNvPr>
          <p:cNvGrpSpPr>
            <a:grpSpLocks/>
          </p:cNvGrpSpPr>
          <p:nvPr/>
        </p:nvGrpSpPr>
        <p:grpSpPr bwMode="auto">
          <a:xfrm>
            <a:off x="8082819" y="2546751"/>
            <a:ext cx="252413" cy="165100"/>
            <a:chOff x="3125393" y="1499499"/>
            <a:chExt cx="252000" cy="165260"/>
          </a:xfrm>
        </p:grpSpPr>
        <p:sp>
          <p:nvSpPr>
            <p:cNvPr id="79" name="모서리가 둥근 사각형 설명선 321">
              <a:extLst>
                <a:ext uri="{FF2B5EF4-FFF2-40B4-BE49-F238E27FC236}">
                  <a16:creationId xmlns:a16="http://schemas.microsoft.com/office/drawing/2014/main" id="{5C1062D2-A1DB-DCCF-AE8B-B57FBBFB7AD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23">
              <a:extLst>
                <a:ext uri="{FF2B5EF4-FFF2-40B4-BE49-F238E27FC236}">
                  <a16:creationId xmlns:a16="http://schemas.microsoft.com/office/drawing/2014/main" id="{20ADDEC6-2EBC-EC57-9ED5-EE8028927E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FC951612-B716-3884-6011-9860E86E8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6997" y="2785260"/>
            <a:ext cx="533676" cy="143400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상태변경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양쪽 모서리가 둥근 사각형 56">
            <a:extLst>
              <a:ext uri="{FF2B5EF4-FFF2-40B4-BE49-F238E27FC236}">
                <a16:creationId xmlns:a16="http://schemas.microsoft.com/office/drawing/2014/main" id="{88D4F37F-107B-D5D4-7C64-9A8E4ECF73AF}"/>
              </a:ext>
            </a:extLst>
          </p:cNvPr>
          <p:cNvSpPr/>
          <p:nvPr/>
        </p:nvSpPr>
        <p:spPr>
          <a:xfrm>
            <a:off x="4456231" y="5590784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검토 항목이 검토진행 상태로 변경됩니다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변경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83" name="그룹 21">
            <a:extLst>
              <a:ext uri="{FF2B5EF4-FFF2-40B4-BE49-F238E27FC236}">
                <a16:creationId xmlns:a16="http://schemas.microsoft.com/office/drawing/2014/main" id="{C5EF58C8-B38A-E3C0-BBFC-94C0F583DDEA}"/>
              </a:ext>
            </a:extLst>
          </p:cNvPr>
          <p:cNvGrpSpPr>
            <a:grpSpLocks/>
          </p:cNvGrpSpPr>
          <p:nvPr/>
        </p:nvGrpSpPr>
        <p:grpSpPr bwMode="auto">
          <a:xfrm>
            <a:off x="4331239" y="5367257"/>
            <a:ext cx="252413" cy="165100"/>
            <a:chOff x="3125393" y="1499499"/>
            <a:chExt cx="252000" cy="165260"/>
          </a:xfrm>
        </p:grpSpPr>
        <p:sp>
          <p:nvSpPr>
            <p:cNvPr id="84" name="모서리가 둥근 사각형 설명선 321">
              <a:extLst>
                <a:ext uri="{FF2B5EF4-FFF2-40B4-BE49-F238E27FC236}">
                  <a16:creationId xmlns:a16="http://schemas.microsoft.com/office/drawing/2014/main" id="{56336DE6-90B2-4BA2-8F6B-CD8A4BC7151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5" name="TextBox 23">
              <a:extLst>
                <a:ext uri="{FF2B5EF4-FFF2-40B4-BE49-F238E27FC236}">
                  <a16:creationId xmlns:a16="http://schemas.microsoft.com/office/drawing/2014/main" id="{32BADF63-7CCA-BDDF-767A-DFEFD9E58C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969B57EA-DBE0-1C89-45E3-B5BED1AD84DE}"/>
              </a:ext>
            </a:extLst>
          </p:cNvPr>
          <p:cNvSpPr/>
          <p:nvPr/>
        </p:nvSpPr>
        <p:spPr>
          <a:xfrm>
            <a:off x="4921964" y="6149110"/>
            <a:ext cx="985409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DC1020A-0D58-091D-9F94-3AF2AC5D8A19}"/>
              </a:ext>
            </a:extLst>
          </p:cNvPr>
          <p:cNvSpPr/>
          <p:nvPr/>
        </p:nvSpPr>
        <p:spPr>
          <a:xfrm>
            <a:off x="4464249" y="6152529"/>
            <a:ext cx="445573" cy="252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양쪽 모서리가 둥근 사각형 56">
            <a:extLst>
              <a:ext uri="{FF2B5EF4-FFF2-40B4-BE49-F238E27FC236}">
                <a16:creationId xmlns:a16="http://schemas.microsoft.com/office/drawing/2014/main" id="{1FD8994C-0144-4960-FFF7-19690A56CAB2}"/>
              </a:ext>
            </a:extLst>
          </p:cNvPr>
          <p:cNvSpPr/>
          <p:nvPr/>
        </p:nvSpPr>
        <p:spPr>
          <a:xfrm>
            <a:off x="6065387" y="5590153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검토완료 문서에 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'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전자결재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'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 적용된 문서로 상태변경 할 수 없습니다</a:t>
            </a:r>
            <a:endParaRPr lang="en-US" altLang="ko-KR" sz="8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21">
            <a:extLst>
              <a:ext uri="{FF2B5EF4-FFF2-40B4-BE49-F238E27FC236}">
                <a16:creationId xmlns:a16="http://schemas.microsoft.com/office/drawing/2014/main" id="{1E14415F-B75E-FEDA-0073-DAA69836BB34}"/>
              </a:ext>
            </a:extLst>
          </p:cNvPr>
          <p:cNvGrpSpPr>
            <a:grpSpLocks/>
          </p:cNvGrpSpPr>
          <p:nvPr/>
        </p:nvGrpSpPr>
        <p:grpSpPr bwMode="auto">
          <a:xfrm>
            <a:off x="5940395" y="5366626"/>
            <a:ext cx="252413" cy="165100"/>
            <a:chOff x="3125393" y="1499499"/>
            <a:chExt cx="252000" cy="165260"/>
          </a:xfrm>
        </p:grpSpPr>
        <p:sp>
          <p:nvSpPr>
            <p:cNvPr id="14" name="모서리가 둥근 사각형 설명선 321">
              <a:extLst>
                <a:ext uri="{FF2B5EF4-FFF2-40B4-BE49-F238E27FC236}">
                  <a16:creationId xmlns:a16="http://schemas.microsoft.com/office/drawing/2014/main" id="{9842193F-9DAC-03D2-CE0E-1F8F4F5AFBD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3">
              <a:extLst>
                <a:ext uri="{FF2B5EF4-FFF2-40B4-BE49-F238E27FC236}">
                  <a16:creationId xmlns:a16="http://schemas.microsoft.com/office/drawing/2014/main" id="{32E3EA3F-FC9C-C2D5-9EC8-F4E0ED4BDB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b</a:t>
              </a:r>
            </a:p>
          </p:txBody>
        </p:sp>
      </p:grp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F702BFD1-E36D-9166-E6CF-333606569AF8}"/>
              </a:ext>
            </a:extLst>
          </p:cNvPr>
          <p:cNvSpPr/>
          <p:nvPr/>
        </p:nvSpPr>
        <p:spPr>
          <a:xfrm>
            <a:off x="6073405" y="6151898"/>
            <a:ext cx="1442255" cy="252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양쪽 모서리가 둥근 사각형 56">
            <a:extLst>
              <a:ext uri="{FF2B5EF4-FFF2-40B4-BE49-F238E27FC236}">
                <a16:creationId xmlns:a16="http://schemas.microsoft.com/office/drawing/2014/main" id="{B9E271F3-5DEE-88A1-DC33-F2492276E255}"/>
              </a:ext>
            </a:extLst>
          </p:cNvPr>
          <p:cNvSpPr/>
          <p:nvPr/>
        </p:nvSpPr>
        <p:spPr>
          <a:xfrm>
            <a:off x="7656926" y="5589536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검토 항목이 홍보물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검토에 포함되어 있습니다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변경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29" name="그룹 21">
            <a:extLst>
              <a:ext uri="{FF2B5EF4-FFF2-40B4-BE49-F238E27FC236}">
                <a16:creationId xmlns:a16="http://schemas.microsoft.com/office/drawing/2014/main" id="{F935EB75-4D49-7CCD-602D-A35039FE9BC3}"/>
              </a:ext>
            </a:extLst>
          </p:cNvPr>
          <p:cNvGrpSpPr>
            <a:grpSpLocks/>
          </p:cNvGrpSpPr>
          <p:nvPr/>
        </p:nvGrpSpPr>
        <p:grpSpPr bwMode="auto">
          <a:xfrm>
            <a:off x="7531934" y="5366009"/>
            <a:ext cx="252413" cy="165100"/>
            <a:chOff x="3125393" y="1499499"/>
            <a:chExt cx="252000" cy="165260"/>
          </a:xfrm>
        </p:grpSpPr>
        <p:sp>
          <p:nvSpPr>
            <p:cNvPr id="30" name="모서리가 둥근 사각형 설명선 321">
              <a:extLst>
                <a:ext uri="{FF2B5EF4-FFF2-40B4-BE49-F238E27FC236}">
                  <a16:creationId xmlns:a16="http://schemas.microsoft.com/office/drawing/2014/main" id="{B320230E-1842-5D4A-F57F-005F956A5D9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" name="TextBox 23">
              <a:extLst>
                <a:ext uri="{FF2B5EF4-FFF2-40B4-BE49-F238E27FC236}">
                  <a16:creationId xmlns:a16="http://schemas.microsoft.com/office/drawing/2014/main" id="{F82E0D25-10A4-6CEC-C356-DAB943C1A7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c</a:t>
              </a:r>
            </a:p>
          </p:txBody>
        </p:sp>
      </p:grp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CB6B8CD8-FF7A-C819-5E0C-9A0E8F155ADF}"/>
              </a:ext>
            </a:extLst>
          </p:cNvPr>
          <p:cNvSpPr/>
          <p:nvPr/>
        </p:nvSpPr>
        <p:spPr>
          <a:xfrm>
            <a:off x="8122659" y="6147862"/>
            <a:ext cx="985409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F106D6B6-D389-8487-D5DE-3D4AA465BAC7}"/>
              </a:ext>
            </a:extLst>
          </p:cNvPr>
          <p:cNvSpPr/>
          <p:nvPr/>
        </p:nvSpPr>
        <p:spPr>
          <a:xfrm>
            <a:off x="7664944" y="6151281"/>
            <a:ext cx="445573" cy="252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2109918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A63EDD-79F1-F84D-BE1B-3921C0FA51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19A1C9C1-9FBD-3A82-D0DC-446B515FFF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6819724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84111CD1-00CE-DEF3-6383-F720AB9E8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307ECFC-A389-D441-9BD7-DFC0564AE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191723D8-5AB2-500F-6DFB-95301C96134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CD757300-CCC3-7592-2EF3-7E0A81077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61506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건을 조회하여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상태로 되돌리는 화면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807454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48308B-6A46-F6BB-6785-3D21FBF89F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DAAA4B32-DB13-403A-02AF-601F3FC70A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0686813"/>
              </p:ext>
            </p:extLst>
          </p:nvPr>
        </p:nvGraphicFramePr>
        <p:xfrm>
          <a:off x="254000" y="1343534"/>
          <a:ext cx="11698679" cy="20768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513063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209176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80E2DFEA-F3CE-5E16-98CA-A33C3D5C5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070A0B3C-76A6-9B54-8DC5-4DC810D7A7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57230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58E57688-1C95-40EA-4EBA-ECBD7F28273A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836468"/>
          <a:ext cx="11698678" cy="25383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C2789411-D83B-4F8B-50AC-606B7A8C65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61506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건을 조회하여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상태로 되돌리는 화면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0693109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C8301-3CF7-A98F-6108-62CE4DD4CB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C189A79D-FAD5-F74A-3A65-9C24E672CC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40877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 홍보물 목록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조회기간 등록일 선택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금일 기준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일전으로 설정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최대 조회 기간은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조회유형은 전체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조회조건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안전성검토 및 홍보물 중에  조회기간에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 상태로서  결재상태가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NULL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또는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상신전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(10)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 검토 건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상태변경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상태변경 버튼 클릭시에 결재상태 다시 체크하여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상신전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이후 상태일때는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알림팝업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출력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진행 상태변경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조건부완료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검토진행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결재 상태변경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상신전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(10) &gt;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NULL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" name="Group 234">
            <a:extLst>
              <a:ext uri="{FF2B5EF4-FFF2-40B4-BE49-F238E27FC236}">
                <a16:creationId xmlns:a16="http://schemas.microsoft.com/office/drawing/2014/main" id="{F7BFC14C-326A-6AA0-D1EF-60C2FB21C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615068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상태관리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건을 조회하여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”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상태로 되돌리는 화면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3003613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AC6DC-4FE8-5C6A-773D-48FCECF669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FE264393-2241-1CD8-E325-C2C8F1FBBB9A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5" name="Group 233">
            <a:extLst>
              <a:ext uri="{FF2B5EF4-FFF2-40B4-BE49-F238E27FC236}">
                <a16:creationId xmlns:a16="http://schemas.microsoft.com/office/drawing/2014/main" id="{BD8339B0-5D60-EC81-101F-46D004A82B49}"/>
              </a:ext>
            </a:extLst>
          </p:cNvPr>
          <p:cNvGraphicFramePr>
            <a:graphicFrameLocks noGrp="1"/>
          </p:cNvGraphicFramePr>
          <p:nvPr/>
        </p:nvGraphicFramePr>
        <p:xfrm>
          <a:off x="234704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F2278D84-6C05-D1F4-00B5-65153C3D3F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190217"/>
              </p:ext>
            </p:extLst>
          </p:nvPr>
        </p:nvGraphicFramePr>
        <p:xfrm>
          <a:off x="1941847" y="2237211"/>
          <a:ext cx="4843249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62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970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336819"/>
                  </a:ext>
                </a:extLst>
              </a:tr>
            </a:tbl>
          </a:graphicData>
        </a:graphic>
      </p:graphicFrame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0844F477-B04E-7624-311B-324B9D2B33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8986860"/>
              </p:ext>
            </p:extLst>
          </p:nvPr>
        </p:nvGraphicFramePr>
        <p:xfrm>
          <a:off x="1970199" y="2975994"/>
          <a:ext cx="5910101" cy="2101215"/>
        </p:xfrm>
        <a:graphic>
          <a:graphicData uri="http://schemas.openxmlformats.org/drawingml/2006/table">
            <a:tbl>
              <a:tblPr/>
              <a:tblGrid>
                <a:gridCol w="613253">
                  <a:extLst>
                    <a:ext uri="{9D8B030D-6E8A-4147-A177-3AD203B41FA5}">
                      <a16:colId xmlns:a16="http://schemas.microsoft.com/office/drawing/2014/main" val="1660886656"/>
                    </a:ext>
                  </a:extLst>
                </a:gridCol>
                <a:gridCol w="905472">
                  <a:extLst>
                    <a:ext uri="{9D8B030D-6E8A-4147-A177-3AD203B41FA5}">
                      <a16:colId xmlns:a16="http://schemas.microsoft.com/office/drawing/2014/main" val="103191924"/>
                    </a:ext>
                  </a:extLst>
                </a:gridCol>
                <a:gridCol w="1436325">
                  <a:extLst>
                    <a:ext uri="{9D8B030D-6E8A-4147-A177-3AD203B41FA5}">
                      <a16:colId xmlns:a16="http://schemas.microsoft.com/office/drawing/2014/main" val="1475020554"/>
                    </a:ext>
                  </a:extLst>
                </a:gridCol>
                <a:gridCol w="985017">
                  <a:extLst>
                    <a:ext uri="{9D8B030D-6E8A-4147-A177-3AD203B41FA5}">
                      <a16:colId xmlns:a16="http://schemas.microsoft.com/office/drawing/2014/main" val="1850240351"/>
                    </a:ext>
                  </a:extLst>
                </a:gridCol>
                <a:gridCol w="985017">
                  <a:extLst>
                    <a:ext uri="{9D8B030D-6E8A-4147-A177-3AD203B41FA5}">
                      <a16:colId xmlns:a16="http://schemas.microsoft.com/office/drawing/2014/main" val="3428458455"/>
                    </a:ext>
                  </a:extLst>
                </a:gridCol>
                <a:gridCol w="985017">
                  <a:extLst>
                    <a:ext uri="{9D8B030D-6E8A-4147-A177-3AD203B41FA5}">
                      <a16:colId xmlns:a16="http://schemas.microsoft.com/office/drawing/2014/main" val="552928685"/>
                    </a:ext>
                  </a:extLst>
                </a:gridCol>
              </a:tblGrid>
              <a:tr h="2857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사원번호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사원명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등록일자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240014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김*민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길동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푸드팀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655674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232323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참*자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1(</a:t>
                      </a:r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닉넴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푸드팀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4408688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234234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참*자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2(</a:t>
                      </a:r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닉넴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푸드팀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795759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참*자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3(</a:t>
                      </a:r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닉넴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푸드팀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YYYY-MM-DD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0525826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200695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8719449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4494087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DC97DC84-AF12-7C28-3B92-A2AF8C2CC1C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88311"/>
          <a:stretch/>
        </p:blipFill>
        <p:spPr>
          <a:xfrm>
            <a:off x="1900573" y="1525270"/>
            <a:ext cx="6298573" cy="585442"/>
          </a:xfrm>
          <a:prstGeom prst="rect">
            <a:avLst/>
          </a:prstGeom>
        </p:spPr>
      </p:pic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C53FD4F4-8B17-FC49-CF32-AE627A4A40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462952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참조자관리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자동설정을 위한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등록 및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사유 이메일 임원 등록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EBFFCD93-3122-9701-D89E-E6900BEC7514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1A52DE3-97C8-806D-EF41-274793195133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BA24E925-3DE3-69FB-B39B-5748094AD898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DF2D2D59-3E1D-A8AE-CCAF-154A869C9913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139" name="표 138">
            <a:extLst>
              <a:ext uri="{FF2B5EF4-FFF2-40B4-BE49-F238E27FC236}">
                <a16:creationId xmlns:a16="http://schemas.microsoft.com/office/drawing/2014/main" id="{A6675B28-2273-0BF4-F8BD-3039665116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5971692"/>
              </p:ext>
            </p:extLst>
          </p:nvPr>
        </p:nvGraphicFramePr>
        <p:xfrm>
          <a:off x="9855876" y="1664954"/>
          <a:ext cx="2088000" cy="34229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(Tab)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으로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매뉴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구분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r>
                        <a:rPr lang="ko-KR" altLang="en-US" sz="700" b="1" spc="-5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lang="ko-KR" altLang="en-US" sz="700" b="1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유형 선택 </a:t>
                      </a:r>
                      <a:r>
                        <a:rPr lang="en-US" altLang="ko-KR" sz="700" b="1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lang="ko-KR" altLang="en-US" sz="700" b="1" spc="-5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푸드</a:t>
                      </a:r>
                      <a:r>
                        <a:rPr lang="en-US" altLang="ko-KR" sz="700" b="1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lang="ko-KR" altLang="en-US" sz="700" b="1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직수입</a:t>
                      </a:r>
                      <a:r>
                        <a:rPr kumimoji="1" lang="en-US" altLang="ko-KR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음료</a:t>
                      </a:r>
                      <a:r>
                        <a:rPr kumimoji="1" lang="en-US" altLang="ko-KR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lang="en-US" altLang="ko-KR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MD/</a:t>
                      </a:r>
                      <a:r>
                        <a:rPr lang="ko-KR" altLang="en-US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</a:t>
                      </a:r>
                      <a:r>
                        <a:rPr lang="en-US" altLang="ko-KR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lang="ko-KR" altLang="en-US" sz="700" spc="-5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임원  </a:t>
                      </a:r>
                      <a:r>
                        <a:rPr lang="en-US" altLang="ko-KR" sz="700" spc="-5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en-US" altLang="ko-KR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07/10) </a:t>
                      </a:r>
                      <a:r>
                        <a:rPr lang="ko-KR" altLang="en-US" sz="700" spc="-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임원추가</a:t>
                      </a:r>
                      <a:endParaRPr kumimoji="1" lang="ko-KR" altLang="en-US" sz="700" spc="-5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사용자 검색 팝업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선택한 사원 추가됨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 할 항목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을 선택한 후 클릭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복수선택 가능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확인 팝업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 유형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 사원번호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4607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 사원명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932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등록사원의 부서명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93123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임원선택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(07/10)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임원선택 후 등록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미준수사유서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등록 시 알람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메일 임원 대상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38811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확입팝업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확인 클릭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삭제 후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재조회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2070448"/>
                  </a:ext>
                </a:extLst>
              </a:tr>
            </a:tbl>
          </a:graphicData>
        </a:graphic>
      </p:graphicFrame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792E49B0-1CCE-EAB7-BC86-E2FCE709971C}"/>
              </a:ext>
            </a:extLst>
          </p:cNvPr>
          <p:cNvSpPr/>
          <p:nvPr/>
        </p:nvSpPr>
        <p:spPr bwMode="auto">
          <a:xfrm>
            <a:off x="1983379" y="1963783"/>
            <a:ext cx="655155" cy="122992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기본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11" name="사각형: 둥근 위쪽 모서리 10">
            <a:extLst>
              <a:ext uri="{FF2B5EF4-FFF2-40B4-BE49-F238E27FC236}">
                <a16:creationId xmlns:a16="http://schemas.microsoft.com/office/drawing/2014/main" id="{1726D069-5546-4196-E39E-7A4BBD5F7A07}"/>
              </a:ext>
            </a:extLst>
          </p:cNvPr>
          <p:cNvSpPr/>
          <p:nvPr/>
        </p:nvSpPr>
        <p:spPr bwMode="auto">
          <a:xfrm>
            <a:off x="2648414" y="1968124"/>
            <a:ext cx="655155" cy="122992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상태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12" name="사각형: 둥근 위쪽 모서리 11">
            <a:extLst>
              <a:ext uri="{FF2B5EF4-FFF2-40B4-BE49-F238E27FC236}">
                <a16:creationId xmlns:a16="http://schemas.microsoft.com/office/drawing/2014/main" id="{D7EF4EF5-4EBE-3883-BD06-3FAB61D8BD74}"/>
              </a:ext>
            </a:extLst>
          </p:cNvPr>
          <p:cNvSpPr/>
          <p:nvPr/>
        </p:nvSpPr>
        <p:spPr bwMode="auto">
          <a:xfrm>
            <a:off x="3303569" y="1969208"/>
            <a:ext cx="831993" cy="127409"/>
          </a:xfrm>
          <a:prstGeom prst="round2SameRect">
            <a:avLst/>
          </a:prstGeom>
          <a:solidFill>
            <a:srgbClr val="77A22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b="1" i="0" u="none" strike="noStrike" cap="none" normalizeH="0" baseline="0" dirty="0" err="1">
                <a:ln>
                  <a:noFill/>
                </a:ln>
                <a:solidFill>
                  <a:schemeClr val="bg1"/>
                </a:solidFill>
                <a:effectLst/>
                <a:latin typeface="맑은 고딕" pitchFamily="50" charset="-127"/>
                <a:ea typeface="맑은 고딕" pitchFamily="50" charset="-127"/>
              </a:rPr>
              <a:t>참조자</a:t>
            </a:r>
            <a:r>
              <a: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itchFamily="50" charset="-127"/>
                <a:ea typeface="맑은 고딕" pitchFamily="50" charset="-127"/>
              </a:rPr>
              <a:t>/</a:t>
            </a:r>
            <a:r>
              <a:rPr kumimoji="1" lang="ko-KR" altLang="en-US" sz="800" b="1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itchFamily="50" charset="-127"/>
                <a:ea typeface="맑은 고딕" pitchFamily="50" charset="-127"/>
              </a:rPr>
              <a:t>임원 관리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318A2D2-2C3A-E6B3-404A-D819B6CC87C8}"/>
              </a:ext>
            </a:extLst>
          </p:cNvPr>
          <p:cNvSpPr/>
          <p:nvPr/>
        </p:nvSpPr>
        <p:spPr bwMode="auto">
          <a:xfrm>
            <a:off x="7053943" y="1894712"/>
            <a:ext cx="1155083" cy="216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6B08779-5E1E-6C35-0F69-4F625D252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493" y="2258321"/>
            <a:ext cx="3432338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b="1" spc="-5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푸드</a:t>
            </a:r>
            <a:r>
              <a:rPr lang="en-US" altLang="ko-KR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직수입</a:t>
            </a:r>
            <a:r>
              <a:rPr kumimoji="1" lang="en-US" altLang="ko-KR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음료</a:t>
            </a:r>
            <a:r>
              <a:rPr kumimoji="1" lang="en-US" altLang="ko-KR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en-US" altLang="ko-KR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MD/</a:t>
            </a:r>
            <a:r>
              <a:rPr lang="ko-KR" altLang="en-US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</a:t>
            </a:r>
            <a:r>
              <a:rPr lang="en-US" altLang="ko-KR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임원</a:t>
            </a:r>
            <a:endParaRPr kumimoji="1" lang="ko-KR" altLang="en-US" sz="700" spc="-5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22" name="Picture 103">
            <a:extLst>
              <a:ext uri="{FF2B5EF4-FFF2-40B4-BE49-F238E27FC236}">
                <a16:creationId xmlns:a16="http://schemas.microsoft.com/office/drawing/2014/main" id="{E060C075-D43A-A1E2-A669-FA856669FB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 t="15633" r="9297"/>
          <a:stretch>
            <a:fillRect/>
          </a:stretch>
        </p:blipFill>
        <p:spPr bwMode="auto">
          <a:xfrm>
            <a:off x="6554508" y="2343231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grpSp>
        <p:nvGrpSpPr>
          <p:cNvPr id="48" name="그룹 21">
            <a:extLst>
              <a:ext uri="{FF2B5EF4-FFF2-40B4-BE49-F238E27FC236}">
                <a16:creationId xmlns:a16="http://schemas.microsoft.com/office/drawing/2014/main" id="{63C8DD53-4E59-796D-BD75-0610A7D741B7}"/>
              </a:ext>
            </a:extLst>
          </p:cNvPr>
          <p:cNvGrpSpPr>
            <a:grpSpLocks/>
          </p:cNvGrpSpPr>
          <p:nvPr/>
        </p:nvGrpSpPr>
        <p:grpSpPr bwMode="auto">
          <a:xfrm>
            <a:off x="6856734" y="2573260"/>
            <a:ext cx="252413" cy="165100"/>
            <a:chOff x="3125393" y="1499499"/>
            <a:chExt cx="252000" cy="165260"/>
          </a:xfrm>
        </p:grpSpPr>
        <p:sp>
          <p:nvSpPr>
            <p:cNvPr id="49" name="모서리가 둥근 사각형 설명선 321">
              <a:extLst>
                <a:ext uri="{FF2B5EF4-FFF2-40B4-BE49-F238E27FC236}">
                  <a16:creationId xmlns:a16="http://schemas.microsoft.com/office/drawing/2014/main" id="{AE935E9C-BA03-C7F1-E7BB-84E57ACA847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23">
              <a:extLst>
                <a:ext uri="{FF2B5EF4-FFF2-40B4-BE49-F238E27FC236}">
                  <a16:creationId xmlns:a16="http://schemas.microsoft.com/office/drawing/2014/main" id="{98166960-6425-B45E-2802-2D6D02C351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51" name="그룹 21">
            <a:extLst>
              <a:ext uri="{FF2B5EF4-FFF2-40B4-BE49-F238E27FC236}">
                <a16:creationId xmlns:a16="http://schemas.microsoft.com/office/drawing/2014/main" id="{02E3FA27-6AAB-7FEB-C3D1-CF86063C8D5C}"/>
              </a:ext>
            </a:extLst>
          </p:cNvPr>
          <p:cNvGrpSpPr>
            <a:grpSpLocks/>
          </p:cNvGrpSpPr>
          <p:nvPr/>
        </p:nvGrpSpPr>
        <p:grpSpPr bwMode="auto">
          <a:xfrm>
            <a:off x="7508265" y="2533302"/>
            <a:ext cx="252413" cy="165100"/>
            <a:chOff x="3125393" y="1499499"/>
            <a:chExt cx="252000" cy="165260"/>
          </a:xfrm>
        </p:grpSpPr>
        <p:sp>
          <p:nvSpPr>
            <p:cNvPr id="52" name="모서리가 둥근 사각형 설명선 321">
              <a:extLst>
                <a:ext uri="{FF2B5EF4-FFF2-40B4-BE49-F238E27FC236}">
                  <a16:creationId xmlns:a16="http://schemas.microsoft.com/office/drawing/2014/main" id="{A9C76D44-8F64-6AAE-3F78-CD91BA74AC7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TextBox 23">
              <a:extLst>
                <a:ext uri="{FF2B5EF4-FFF2-40B4-BE49-F238E27FC236}">
                  <a16:creationId xmlns:a16="http://schemas.microsoft.com/office/drawing/2014/main" id="{09D52659-98AB-B329-92A6-079C7A425A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54" name="그룹 21">
            <a:extLst>
              <a:ext uri="{FF2B5EF4-FFF2-40B4-BE49-F238E27FC236}">
                <a16:creationId xmlns:a16="http://schemas.microsoft.com/office/drawing/2014/main" id="{4C52F119-5920-16F2-20CE-178B98F9EAD4}"/>
              </a:ext>
            </a:extLst>
          </p:cNvPr>
          <p:cNvGrpSpPr>
            <a:grpSpLocks/>
          </p:cNvGrpSpPr>
          <p:nvPr/>
        </p:nvGrpSpPr>
        <p:grpSpPr bwMode="auto">
          <a:xfrm>
            <a:off x="6284989" y="2805392"/>
            <a:ext cx="252413" cy="165100"/>
            <a:chOff x="3125393" y="1499499"/>
            <a:chExt cx="252000" cy="165260"/>
          </a:xfrm>
        </p:grpSpPr>
        <p:sp>
          <p:nvSpPr>
            <p:cNvPr id="55" name="모서리가 둥근 사각형 설명선 321">
              <a:extLst>
                <a:ext uri="{FF2B5EF4-FFF2-40B4-BE49-F238E27FC236}">
                  <a16:creationId xmlns:a16="http://schemas.microsoft.com/office/drawing/2014/main" id="{136BE3D2-4CAB-B16B-3863-DE47A39C98B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23">
              <a:extLst>
                <a:ext uri="{FF2B5EF4-FFF2-40B4-BE49-F238E27FC236}">
                  <a16:creationId xmlns:a16="http://schemas.microsoft.com/office/drawing/2014/main" id="{BC7756B6-B99C-8E00-1178-27EA9351A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grpSp>
        <p:nvGrpSpPr>
          <p:cNvPr id="58" name="그룹 21">
            <a:extLst>
              <a:ext uri="{FF2B5EF4-FFF2-40B4-BE49-F238E27FC236}">
                <a16:creationId xmlns:a16="http://schemas.microsoft.com/office/drawing/2014/main" id="{8080DAB9-C4CD-931D-B4B5-29C083D8F960}"/>
              </a:ext>
            </a:extLst>
          </p:cNvPr>
          <p:cNvGrpSpPr>
            <a:grpSpLocks/>
          </p:cNvGrpSpPr>
          <p:nvPr/>
        </p:nvGrpSpPr>
        <p:grpSpPr bwMode="auto">
          <a:xfrm>
            <a:off x="3109119" y="2859157"/>
            <a:ext cx="252413" cy="165100"/>
            <a:chOff x="3125393" y="1499499"/>
            <a:chExt cx="252000" cy="165260"/>
          </a:xfrm>
        </p:grpSpPr>
        <p:sp>
          <p:nvSpPr>
            <p:cNvPr id="59" name="모서리가 둥근 사각형 설명선 321">
              <a:extLst>
                <a:ext uri="{FF2B5EF4-FFF2-40B4-BE49-F238E27FC236}">
                  <a16:creationId xmlns:a16="http://schemas.microsoft.com/office/drawing/2014/main" id="{A74B1C86-0A4C-9771-252A-2B4D9633D5A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23">
              <a:extLst>
                <a:ext uri="{FF2B5EF4-FFF2-40B4-BE49-F238E27FC236}">
                  <a16:creationId xmlns:a16="http://schemas.microsoft.com/office/drawing/2014/main" id="{983BC4AA-E302-E382-7B27-BAE7F8BE6F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pic>
        <p:nvPicPr>
          <p:cNvPr id="64" name="그림 63">
            <a:extLst>
              <a:ext uri="{FF2B5EF4-FFF2-40B4-BE49-F238E27FC236}">
                <a16:creationId xmlns:a16="http://schemas.microsoft.com/office/drawing/2014/main" id="{1702F3BB-3F41-2B18-6F8D-406B3C9020D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63809" y="2285927"/>
            <a:ext cx="543161" cy="181054"/>
          </a:xfrm>
          <a:prstGeom prst="rect">
            <a:avLst/>
          </a:prstGeom>
        </p:spPr>
      </p:pic>
      <p:grpSp>
        <p:nvGrpSpPr>
          <p:cNvPr id="70" name="그룹 21">
            <a:extLst>
              <a:ext uri="{FF2B5EF4-FFF2-40B4-BE49-F238E27FC236}">
                <a16:creationId xmlns:a16="http://schemas.microsoft.com/office/drawing/2014/main" id="{73FC4C09-E938-96EE-D13D-EF863B024258}"/>
              </a:ext>
            </a:extLst>
          </p:cNvPr>
          <p:cNvGrpSpPr>
            <a:grpSpLocks/>
          </p:cNvGrpSpPr>
          <p:nvPr/>
        </p:nvGrpSpPr>
        <p:grpSpPr bwMode="auto">
          <a:xfrm>
            <a:off x="5199413" y="2799889"/>
            <a:ext cx="252413" cy="165100"/>
            <a:chOff x="3125393" y="1499499"/>
            <a:chExt cx="252000" cy="165260"/>
          </a:xfrm>
        </p:grpSpPr>
        <p:sp>
          <p:nvSpPr>
            <p:cNvPr id="71" name="모서리가 둥근 사각형 설명선 321">
              <a:extLst>
                <a:ext uri="{FF2B5EF4-FFF2-40B4-BE49-F238E27FC236}">
                  <a16:creationId xmlns:a16="http://schemas.microsoft.com/office/drawing/2014/main" id="{DF6E6E93-B867-2DC1-943D-997E55E1F94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23">
              <a:extLst>
                <a:ext uri="{FF2B5EF4-FFF2-40B4-BE49-F238E27FC236}">
                  <a16:creationId xmlns:a16="http://schemas.microsoft.com/office/drawing/2014/main" id="{CE0E87E3-E5A3-4E64-D96D-8B941680D6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grpSp>
        <p:nvGrpSpPr>
          <p:cNvPr id="65" name="그룹 21">
            <a:extLst>
              <a:ext uri="{FF2B5EF4-FFF2-40B4-BE49-F238E27FC236}">
                <a16:creationId xmlns:a16="http://schemas.microsoft.com/office/drawing/2014/main" id="{0FD56DE2-D874-3BAD-46DB-BEC062B2DBA7}"/>
              </a:ext>
            </a:extLst>
          </p:cNvPr>
          <p:cNvGrpSpPr>
            <a:grpSpLocks/>
          </p:cNvGrpSpPr>
          <p:nvPr/>
        </p:nvGrpSpPr>
        <p:grpSpPr bwMode="auto">
          <a:xfrm>
            <a:off x="3809505" y="2835050"/>
            <a:ext cx="252413" cy="165100"/>
            <a:chOff x="3125393" y="1499499"/>
            <a:chExt cx="252000" cy="165260"/>
          </a:xfrm>
        </p:grpSpPr>
        <p:sp>
          <p:nvSpPr>
            <p:cNvPr id="66" name="모서리가 둥근 사각형 설명선 321">
              <a:extLst>
                <a:ext uri="{FF2B5EF4-FFF2-40B4-BE49-F238E27FC236}">
                  <a16:creationId xmlns:a16="http://schemas.microsoft.com/office/drawing/2014/main" id="{62BB940D-E919-94D4-4366-D23BC9522CB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23">
              <a:extLst>
                <a:ext uri="{FF2B5EF4-FFF2-40B4-BE49-F238E27FC236}">
                  <a16:creationId xmlns:a16="http://schemas.microsoft.com/office/drawing/2014/main" id="{4A9611D6-7056-27E3-A589-69F7AFED9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F977D2A1-9993-34B4-0759-1C253C5BE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8635" y="2786818"/>
            <a:ext cx="533676" cy="143400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양쪽 모서리가 둥근 사각형 56">
            <a:extLst>
              <a:ext uri="{FF2B5EF4-FFF2-40B4-BE49-F238E27FC236}">
                <a16:creationId xmlns:a16="http://schemas.microsoft.com/office/drawing/2014/main" id="{197FD06F-9B7E-16F1-CF85-4D4E2E9D2AA4}"/>
              </a:ext>
            </a:extLst>
          </p:cNvPr>
          <p:cNvSpPr/>
          <p:nvPr/>
        </p:nvSpPr>
        <p:spPr>
          <a:xfrm>
            <a:off x="6698950" y="5655391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참조자가 삭제 됩니다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정말 삭제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83" name="그룹 21">
            <a:extLst>
              <a:ext uri="{FF2B5EF4-FFF2-40B4-BE49-F238E27FC236}">
                <a16:creationId xmlns:a16="http://schemas.microsoft.com/office/drawing/2014/main" id="{0889AF63-76E7-5E96-A001-015EBBAF5326}"/>
              </a:ext>
            </a:extLst>
          </p:cNvPr>
          <p:cNvGrpSpPr>
            <a:grpSpLocks/>
          </p:cNvGrpSpPr>
          <p:nvPr/>
        </p:nvGrpSpPr>
        <p:grpSpPr bwMode="auto">
          <a:xfrm>
            <a:off x="6573958" y="5431864"/>
            <a:ext cx="252413" cy="165100"/>
            <a:chOff x="3125393" y="1499499"/>
            <a:chExt cx="252000" cy="165260"/>
          </a:xfrm>
        </p:grpSpPr>
        <p:sp>
          <p:nvSpPr>
            <p:cNvPr id="84" name="모서리가 둥근 사각형 설명선 321">
              <a:extLst>
                <a:ext uri="{FF2B5EF4-FFF2-40B4-BE49-F238E27FC236}">
                  <a16:creationId xmlns:a16="http://schemas.microsoft.com/office/drawing/2014/main" id="{79B3CC44-2523-D82A-8AF1-795A5E80CF2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5" name="TextBox 23">
              <a:extLst>
                <a:ext uri="{FF2B5EF4-FFF2-40B4-BE49-F238E27FC236}">
                  <a16:creationId xmlns:a16="http://schemas.microsoft.com/office/drawing/2014/main" id="{E9FF0578-B576-AE87-2D09-8EEA660AA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F078A58-7E00-916B-5020-CF5787A4F557}"/>
              </a:ext>
            </a:extLst>
          </p:cNvPr>
          <p:cNvSpPr/>
          <p:nvPr/>
        </p:nvSpPr>
        <p:spPr>
          <a:xfrm>
            <a:off x="7164683" y="6213717"/>
            <a:ext cx="985409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91026A04-EDFE-55C8-D9A0-CDFD6F9EAB1C}"/>
              </a:ext>
            </a:extLst>
          </p:cNvPr>
          <p:cNvSpPr/>
          <p:nvPr/>
        </p:nvSpPr>
        <p:spPr>
          <a:xfrm>
            <a:off x="6706968" y="6217136"/>
            <a:ext cx="445573" cy="252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F08C6C2-6227-E2B7-F307-B0C35CBAE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976" y="2782902"/>
            <a:ext cx="533676" cy="143400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07FA198F-55DE-09C9-5623-C0197DAFAB7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0" y="4589417"/>
            <a:ext cx="4094571" cy="2268583"/>
          </a:xfrm>
          <a:prstGeom prst="rect">
            <a:avLst/>
          </a:prstGeom>
        </p:spPr>
      </p:pic>
      <p:grpSp>
        <p:nvGrpSpPr>
          <p:cNvPr id="280" name="그룹 21">
            <a:extLst>
              <a:ext uri="{FF2B5EF4-FFF2-40B4-BE49-F238E27FC236}">
                <a16:creationId xmlns:a16="http://schemas.microsoft.com/office/drawing/2014/main" id="{F78A512F-EC7E-042D-09E2-0D0CFBEE961B}"/>
              </a:ext>
            </a:extLst>
          </p:cNvPr>
          <p:cNvGrpSpPr>
            <a:grpSpLocks/>
          </p:cNvGrpSpPr>
          <p:nvPr/>
        </p:nvGrpSpPr>
        <p:grpSpPr bwMode="auto">
          <a:xfrm>
            <a:off x="2226419" y="2042104"/>
            <a:ext cx="252413" cy="165100"/>
            <a:chOff x="3125393" y="1499499"/>
            <a:chExt cx="252000" cy="165260"/>
          </a:xfrm>
        </p:grpSpPr>
        <p:sp>
          <p:nvSpPr>
            <p:cNvPr id="281" name="모서리가 둥근 사각형 설명선 321">
              <a:extLst>
                <a:ext uri="{FF2B5EF4-FFF2-40B4-BE49-F238E27FC236}">
                  <a16:creationId xmlns:a16="http://schemas.microsoft.com/office/drawing/2014/main" id="{66DAE4F2-0B13-178C-A196-F675AD9CF58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2" name="TextBox 23">
              <a:extLst>
                <a:ext uri="{FF2B5EF4-FFF2-40B4-BE49-F238E27FC236}">
                  <a16:creationId xmlns:a16="http://schemas.microsoft.com/office/drawing/2014/main" id="{AAD01357-D0B7-BF91-0F01-C695DC2527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9419F1D7-1B4F-5E16-B3EB-E1523F6A7EFD}"/>
              </a:ext>
            </a:extLst>
          </p:cNvPr>
          <p:cNvGrpSpPr>
            <a:grpSpLocks/>
          </p:cNvGrpSpPr>
          <p:nvPr/>
        </p:nvGrpSpPr>
        <p:grpSpPr bwMode="auto">
          <a:xfrm>
            <a:off x="4104301" y="2095830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9241BD0E-5072-E158-7537-08D4C862525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3391C8D8-FF76-1FFD-2730-325C97890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1604644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A4894C-B06A-9DC9-FE5F-2AE71503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12087C50-17AC-4C49-E13D-129F101CBB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507252"/>
              </p:ext>
            </p:extLst>
          </p:nvPr>
        </p:nvGraphicFramePr>
        <p:xfrm>
          <a:off x="254000" y="1343534"/>
          <a:ext cx="11691939" cy="1846080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 SFTY_XMNT_REFR_SETNG_INFO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설정정보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2B6284A5-9A1F-5306-1B93-2108F54B02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1043D72C-52C5-CEA7-EEB9-03B5A577F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A36ABDB-FB84-C030-BFB6-469257681FEA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334A93B3-0288-F083-DA71-1866D38F1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850361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참조자관리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자동설정을 위한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등록 및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사유 이메일 임원 등록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369711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52319D-2AB3-5ED1-AFCE-3D28CA803A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38EB8C9F-9FCB-36EC-87EF-3C9B33A484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541923"/>
              </p:ext>
            </p:extLst>
          </p:nvPr>
        </p:nvGraphicFramePr>
        <p:xfrm>
          <a:off x="254000" y="1343534"/>
          <a:ext cx="11698679" cy="20768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40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(MD), 50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99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임원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513063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209176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95773995-3031-E4B0-64E7-3A082A6DB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1272106F-998D-B83D-F595-4FEEE92673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57230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8F0C2B07-947C-F4EC-43D8-D6A9A51AB7AD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836468"/>
          <a:ext cx="11698678" cy="25383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7C29AC9D-6422-E385-6860-29BAC7E1AF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5316574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참조자관리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자동설정을 위한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등록 및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사유 이메일 임원 등록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802526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57F7B2-33EF-81F4-3155-5EB578936E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87966E11-5F6C-B43F-2088-7DD040F9B1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7022799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자동 설정 등록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유형선택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추가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추가버튼클릭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사용자 검색 팝업 출력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선택한 사원 추가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자동저장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삭제대상 선택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삭제버튼클릭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삭제확인 팝업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자동저장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027D2E57-8483-A063-1581-49BDEF5833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850361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SFTY000090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참조자관리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및 홍보물의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자동설정을 위한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등록 및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미준수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사유 이메일 임원 등록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846278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2BC2E-3226-0362-A324-37EA3CB1B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30BDAEFA-392C-34E7-ABB6-2484BC3B85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4022248"/>
              </p:ext>
            </p:extLst>
          </p:nvPr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 프로세스 정의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9E338FDA-FBED-D450-9F73-92DE22CCA1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41625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프로세스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50CF98A4-7EE7-0B45-D914-44F22D7A9775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705A90F-ACB4-C085-AFE6-21A4EE1FD392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pSp>
        <p:nvGrpSpPr>
          <p:cNvPr id="2" name="Group 116">
            <a:extLst>
              <a:ext uri="{FF2B5EF4-FFF2-40B4-BE49-F238E27FC236}">
                <a16:creationId xmlns:a16="http://schemas.microsoft.com/office/drawing/2014/main" id="{6E11F6A0-3472-BDDB-FC9F-8855BFA33503}"/>
              </a:ext>
            </a:extLst>
          </p:cNvPr>
          <p:cNvGrpSpPr>
            <a:grpSpLocks/>
          </p:cNvGrpSpPr>
          <p:nvPr/>
        </p:nvGrpSpPr>
        <p:grpSpPr bwMode="auto">
          <a:xfrm>
            <a:off x="1209696" y="1571620"/>
            <a:ext cx="1698421" cy="620969"/>
            <a:chOff x="818" y="1556"/>
            <a:chExt cx="521" cy="354"/>
          </a:xfrm>
        </p:grpSpPr>
        <p:sp>
          <p:nvSpPr>
            <p:cNvPr id="3" name="Rectangle 6">
              <a:extLst>
                <a:ext uri="{FF2B5EF4-FFF2-40B4-BE49-F238E27FC236}">
                  <a16:creationId xmlns:a16="http://schemas.microsoft.com/office/drawing/2014/main" id="{851DB7EF-B4CE-CC26-95AB-57BCBC833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홍보물 검토 요청 작성 후 저장 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 err="1">
                  <a:solidFill>
                    <a:srgbClr val="000000"/>
                  </a:solidFill>
                </a:rPr>
                <a:t>요청자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 만 등록 및 수정 가능</a:t>
              </a:r>
              <a:endParaRPr lang="en-US" altLang="ko-KR" sz="800" kern="0" dirty="0">
                <a:solidFill>
                  <a:srgbClr val="000000"/>
                </a:solidFill>
              </a:endParaRPr>
            </a:p>
          </p:txBody>
        </p:sp>
        <p:sp>
          <p:nvSpPr>
            <p:cNvPr id="4" name="Rectangle 7">
              <a:extLst>
                <a:ext uri="{FF2B5EF4-FFF2-40B4-BE49-F238E27FC236}">
                  <a16:creationId xmlns:a16="http://schemas.microsoft.com/office/drawing/2014/main" id="{01CBFDC2-50A4-352D-CC1E-A56707DF9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 err="1">
                  <a:solidFill>
                    <a:srgbClr val="000000"/>
                  </a:solidFill>
                </a:rPr>
                <a:t>작성중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상태</a:t>
              </a:r>
            </a:p>
          </p:txBody>
        </p:sp>
      </p:grpSp>
      <p:grpSp>
        <p:nvGrpSpPr>
          <p:cNvPr id="5" name="Group 116">
            <a:extLst>
              <a:ext uri="{FF2B5EF4-FFF2-40B4-BE49-F238E27FC236}">
                <a16:creationId xmlns:a16="http://schemas.microsoft.com/office/drawing/2014/main" id="{933A3108-39D0-D14D-8B11-9AE7E8AFE1BD}"/>
              </a:ext>
            </a:extLst>
          </p:cNvPr>
          <p:cNvGrpSpPr>
            <a:grpSpLocks/>
          </p:cNvGrpSpPr>
          <p:nvPr/>
        </p:nvGrpSpPr>
        <p:grpSpPr bwMode="auto">
          <a:xfrm>
            <a:off x="1209697" y="2668599"/>
            <a:ext cx="1699200" cy="688533"/>
            <a:chOff x="818" y="1556"/>
            <a:chExt cx="521" cy="354"/>
          </a:xfrm>
        </p:grpSpPr>
        <p:sp>
          <p:nvSpPr>
            <p:cNvPr id="6" name="Rectangle 6">
              <a:extLst>
                <a:ext uri="{FF2B5EF4-FFF2-40B4-BE49-F238E27FC236}">
                  <a16:creationId xmlns:a16="http://schemas.microsoft.com/office/drawing/2014/main" id="{FE39E5F7-1C7A-70C7-98FD-71BB060D7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안전성검토 요청 건 검토 요청 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 err="1">
                  <a:solidFill>
                    <a:srgbClr val="000000"/>
                  </a:solidFill>
                </a:rPr>
                <a:t>요청자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 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(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내용 수정 가능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)</a:t>
              </a: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검토자 및 검토부서 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(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수정 가능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)</a:t>
              </a: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 err="1">
                  <a:solidFill>
                    <a:srgbClr val="000000"/>
                  </a:solidFill>
                </a:rPr>
                <a:t>참조자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 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( Read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만 가능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)</a:t>
              </a:r>
            </a:p>
          </p:txBody>
        </p:sp>
        <p:sp>
          <p:nvSpPr>
            <p:cNvPr id="7" name="Rectangle 7">
              <a:extLst>
                <a:ext uri="{FF2B5EF4-FFF2-40B4-BE49-F238E27FC236}">
                  <a16:creationId xmlns:a16="http://schemas.microsoft.com/office/drawing/2014/main" id="{DC763659-ECB3-0C6A-11C0-2902B3D67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검토요청 </a:t>
              </a:r>
            </a:p>
          </p:txBody>
        </p:sp>
      </p:grpSp>
      <p:grpSp>
        <p:nvGrpSpPr>
          <p:cNvPr id="8" name="Group 116">
            <a:extLst>
              <a:ext uri="{FF2B5EF4-FFF2-40B4-BE49-F238E27FC236}">
                <a16:creationId xmlns:a16="http://schemas.microsoft.com/office/drawing/2014/main" id="{1B1B898F-0027-B64B-1E64-2E3D0423BA54}"/>
              </a:ext>
            </a:extLst>
          </p:cNvPr>
          <p:cNvGrpSpPr>
            <a:grpSpLocks/>
          </p:cNvGrpSpPr>
          <p:nvPr/>
        </p:nvGrpSpPr>
        <p:grpSpPr bwMode="auto">
          <a:xfrm>
            <a:off x="1209696" y="3742076"/>
            <a:ext cx="1699200" cy="688533"/>
            <a:chOff x="818" y="1556"/>
            <a:chExt cx="521" cy="354"/>
          </a:xfrm>
        </p:grpSpPr>
        <p:sp>
          <p:nvSpPr>
            <p:cNvPr id="10" name="Rectangle 6">
              <a:extLst>
                <a:ext uri="{FF2B5EF4-FFF2-40B4-BE49-F238E27FC236}">
                  <a16:creationId xmlns:a16="http://schemas.microsoft.com/office/drawing/2014/main" id="{3BA929AB-5DAA-A7B1-6D4D-63A927A7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 err="1">
                  <a:solidFill>
                    <a:srgbClr val="000000"/>
                  </a:solidFill>
                </a:rPr>
                <a:t>검토중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 한 건이라도 의견 등록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검토요청 권한 내용 동일</a:t>
              </a:r>
              <a:endParaRPr lang="en-US" altLang="ko-KR" sz="800" kern="0" dirty="0">
                <a:solidFill>
                  <a:srgbClr val="000000"/>
                </a:solidFill>
              </a:endParaRPr>
            </a:p>
          </p:txBody>
        </p:sp>
        <p:sp>
          <p:nvSpPr>
            <p:cNvPr id="11" name="Rectangle 7">
              <a:extLst>
                <a:ext uri="{FF2B5EF4-FFF2-40B4-BE49-F238E27FC236}">
                  <a16:creationId xmlns:a16="http://schemas.microsoft.com/office/drawing/2014/main" id="{860B8B8A-D57E-128B-D41E-940E9B536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검토진행 </a:t>
              </a:r>
            </a:p>
          </p:txBody>
        </p:sp>
      </p:grpSp>
      <p:grpSp>
        <p:nvGrpSpPr>
          <p:cNvPr id="12" name="Group 116">
            <a:extLst>
              <a:ext uri="{FF2B5EF4-FFF2-40B4-BE49-F238E27FC236}">
                <a16:creationId xmlns:a16="http://schemas.microsoft.com/office/drawing/2014/main" id="{B2DD9BCF-9224-1F0B-4BE1-87FF19F7CEEE}"/>
              </a:ext>
            </a:extLst>
          </p:cNvPr>
          <p:cNvGrpSpPr>
            <a:grpSpLocks/>
          </p:cNvGrpSpPr>
          <p:nvPr/>
        </p:nvGrpSpPr>
        <p:grpSpPr bwMode="auto">
          <a:xfrm>
            <a:off x="1165734" y="4921570"/>
            <a:ext cx="1699200" cy="688533"/>
            <a:chOff x="818" y="1556"/>
            <a:chExt cx="521" cy="354"/>
          </a:xfrm>
        </p:grpSpPr>
        <p:sp>
          <p:nvSpPr>
            <p:cNvPr id="13" name="Rectangle 6">
              <a:extLst>
                <a:ext uri="{FF2B5EF4-FFF2-40B4-BE49-F238E27FC236}">
                  <a16:creationId xmlns:a16="http://schemas.microsoft.com/office/drawing/2014/main" id="{4F1DEF6D-C990-7AE3-F762-5FFA7868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marL="171450" indent="-171450" algn="l" eaLnBrk="0" hangingPunct="0">
                <a:spcBef>
                  <a:spcPct val="0"/>
                </a:spcBef>
                <a:buFontTx/>
                <a:buChar char="-"/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정보 수정 불가</a:t>
              </a:r>
              <a:endParaRPr lang="en-US" altLang="ko-KR" sz="800" kern="0" dirty="0">
                <a:solidFill>
                  <a:srgbClr val="000000"/>
                </a:solidFill>
              </a:endParaRPr>
            </a:p>
          </p:txBody>
        </p:sp>
        <p:sp>
          <p:nvSpPr>
            <p:cNvPr id="14" name="Rectangle 7">
              <a:extLst>
                <a:ext uri="{FF2B5EF4-FFF2-40B4-BE49-F238E27FC236}">
                  <a16:creationId xmlns:a16="http://schemas.microsoft.com/office/drawing/2014/main" id="{1726A4FD-FD9A-E822-76DE-3E605AE2A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검토완료 </a:t>
              </a:r>
            </a:p>
          </p:txBody>
        </p:sp>
      </p:grpSp>
      <p:grpSp>
        <p:nvGrpSpPr>
          <p:cNvPr id="18" name="Group 116">
            <a:extLst>
              <a:ext uri="{FF2B5EF4-FFF2-40B4-BE49-F238E27FC236}">
                <a16:creationId xmlns:a16="http://schemas.microsoft.com/office/drawing/2014/main" id="{43D51858-A4FF-BB6A-63D7-51761ED47E26}"/>
              </a:ext>
            </a:extLst>
          </p:cNvPr>
          <p:cNvGrpSpPr>
            <a:grpSpLocks/>
          </p:cNvGrpSpPr>
          <p:nvPr/>
        </p:nvGrpSpPr>
        <p:grpSpPr bwMode="auto">
          <a:xfrm>
            <a:off x="7656407" y="1763456"/>
            <a:ext cx="1638104" cy="688533"/>
            <a:chOff x="818" y="1556"/>
            <a:chExt cx="521" cy="354"/>
          </a:xfrm>
        </p:grpSpPr>
        <p:sp>
          <p:nvSpPr>
            <p:cNvPr id="19" name="Rectangle 6">
              <a:extLst>
                <a:ext uri="{FF2B5EF4-FFF2-40B4-BE49-F238E27FC236}">
                  <a16:creationId xmlns:a16="http://schemas.microsoft.com/office/drawing/2014/main" id="{80F95804-2130-106D-178D-7E40C540F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기안 작성하여 상신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  (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반려나 회수에서 다시 상신을 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  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올리면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상신 상태로 변경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)</a:t>
              </a:r>
            </a:p>
          </p:txBody>
        </p:sp>
        <p:sp>
          <p:nvSpPr>
            <p:cNvPr id="20" name="Rectangle 7">
              <a:extLst>
                <a:ext uri="{FF2B5EF4-FFF2-40B4-BE49-F238E27FC236}">
                  <a16:creationId xmlns:a16="http://schemas.microsoft.com/office/drawing/2014/main" id="{36669906-55D7-C7D2-0F06-F62B4D899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상신</a:t>
              </a:r>
            </a:p>
          </p:txBody>
        </p:sp>
      </p:grpSp>
      <p:grpSp>
        <p:nvGrpSpPr>
          <p:cNvPr id="24" name="Group 116">
            <a:extLst>
              <a:ext uri="{FF2B5EF4-FFF2-40B4-BE49-F238E27FC236}">
                <a16:creationId xmlns:a16="http://schemas.microsoft.com/office/drawing/2014/main" id="{2B8C5981-7820-880A-571F-62162F887E02}"/>
              </a:ext>
            </a:extLst>
          </p:cNvPr>
          <p:cNvGrpSpPr>
            <a:grpSpLocks/>
          </p:cNvGrpSpPr>
          <p:nvPr/>
        </p:nvGrpSpPr>
        <p:grpSpPr bwMode="auto">
          <a:xfrm>
            <a:off x="7656405" y="4139371"/>
            <a:ext cx="1638103" cy="688533"/>
            <a:chOff x="818" y="1556"/>
            <a:chExt cx="521" cy="354"/>
          </a:xfrm>
        </p:grpSpPr>
        <p:sp>
          <p:nvSpPr>
            <p:cNvPr id="25" name="Rectangle 6">
              <a:extLst>
                <a:ext uri="{FF2B5EF4-FFF2-40B4-BE49-F238E27FC236}">
                  <a16:creationId xmlns:a16="http://schemas.microsoft.com/office/drawing/2014/main" id="{6226C409-1FAC-C757-8BD1-FC6091A05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기안작성자가 회수</a:t>
              </a:r>
              <a:endParaRPr lang="en-US" altLang="ko-KR" sz="800" kern="0" dirty="0">
                <a:solidFill>
                  <a:srgbClr val="000000"/>
                </a:solidFill>
              </a:endParaRPr>
            </a:p>
          </p:txBody>
        </p:sp>
        <p:sp>
          <p:nvSpPr>
            <p:cNvPr id="26" name="Rectangle 7">
              <a:extLst>
                <a:ext uri="{FF2B5EF4-FFF2-40B4-BE49-F238E27FC236}">
                  <a16:creationId xmlns:a16="http://schemas.microsoft.com/office/drawing/2014/main" id="{45A3BF10-847F-324A-5E92-D1ECE9B94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결재회수</a:t>
              </a:r>
            </a:p>
          </p:txBody>
        </p:sp>
      </p:grpSp>
      <p:grpSp>
        <p:nvGrpSpPr>
          <p:cNvPr id="27" name="Group 116">
            <a:extLst>
              <a:ext uri="{FF2B5EF4-FFF2-40B4-BE49-F238E27FC236}">
                <a16:creationId xmlns:a16="http://schemas.microsoft.com/office/drawing/2014/main" id="{A380888B-974F-E36C-E6A9-82CD5981C134}"/>
              </a:ext>
            </a:extLst>
          </p:cNvPr>
          <p:cNvGrpSpPr>
            <a:grpSpLocks/>
          </p:cNvGrpSpPr>
          <p:nvPr/>
        </p:nvGrpSpPr>
        <p:grpSpPr bwMode="auto">
          <a:xfrm>
            <a:off x="7656405" y="5469582"/>
            <a:ext cx="1638104" cy="688533"/>
            <a:chOff x="818" y="1556"/>
            <a:chExt cx="521" cy="354"/>
          </a:xfrm>
        </p:grpSpPr>
        <p:sp>
          <p:nvSpPr>
            <p:cNvPr id="28" name="Rectangle 6">
              <a:extLst>
                <a:ext uri="{FF2B5EF4-FFF2-40B4-BE49-F238E27FC236}">
                  <a16:creationId xmlns:a16="http://schemas.microsoft.com/office/drawing/2014/main" id="{532BA5AB-726E-EEFC-7F25-503A06027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 결재자가 승인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FF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FF0000"/>
                  </a:solidFill>
                </a:rPr>
                <a:t>조건부완료 </a:t>
              </a:r>
              <a:r>
                <a:rPr lang="en-US" altLang="ko-KR" sz="800" kern="0" dirty="0">
                  <a:solidFill>
                    <a:srgbClr val="FF0000"/>
                  </a:solidFill>
                </a:rPr>
                <a:t>2</a:t>
              </a:r>
              <a:r>
                <a:rPr lang="ko-KR" altLang="en-US" sz="800" kern="0" dirty="0">
                  <a:solidFill>
                    <a:srgbClr val="FF0000"/>
                  </a:solidFill>
                </a:rPr>
                <a:t>차 결재 진행일 경우</a:t>
              </a:r>
              <a:endParaRPr lang="en-US" altLang="ko-KR" sz="800" kern="0" dirty="0">
                <a:solidFill>
                  <a:srgbClr val="FF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FF0000"/>
                  </a:solidFill>
                </a:rPr>
                <a:t>  </a:t>
              </a:r>
              <a:r>
                <a:rPr lang="ko-KR" altLang="en-US" sz="800" kern="0" dirty="0">
                  <a:solidFill>
                    <a:srgbClr val="FF0000"/>
                  </a:solidFill>
                </a:rPr>
                <a:t>완료</a:t>
              </a:r>
              <a:r>
                <a:rPr lang="en-US" altLang="ko-KR" sz="800" kern="0" dirty="0">
                  <a:solidFill>
                    <a:srgbClr val="FF0000"/>
                  </a:solidFill>
                </a:rPr>
                <a:t>(2</a:t>
              </a:r>
              <a:r>
                <a:rPr lang="ko-KR" altLang="en-US" sz="800" kern="0" dirty="0">
                  <a:solidFill>
                    <a:srgbClr val="FF0000"/>
                  </a:solidFill>
                </a:rPr>
                <a:t>차</a:t>
              </a:r>
              <a:r>
                <a:rPr lang="en-US" altLang="ko-KR" sz="800" kern="0" dirty="0">
                  <a:solidFill>
                    <a:srgbClr val="FF0000"/>
                  </a:solidFill>
                </a:rPr>
                <a:t>), </a:t>
              </a:r>
              <a:r>
                <a:rPr lang="ko-KR" altLang="en-US" sz="800" kern="0" dirty="0">
                  <a:solidFill>
                    <a:srgbClr val="FF0000"/>
                  </a:solidFill>
                </a:rPr>
                <a:t>완료</a:t>
              </a:r>
              <a:r>
                <a:rPr lang="en-US" altLang="ko-KR" sz="800" kern="0" dirty="0">
                  <a:solidFill>
                    <a:srgbClr val="FF0000"/>
                  </a:solidFill>
                </a:rPr>
                <a:t>(</a:t>
              </a:r>
              <a:r>
                <a:rPr lang="ko-KR" altLang="en-US" sz="800" kern="0" dirty="0">
                  <a:solidFill>
                    <a:srgbClr val="FF0000"/>
                  </a:solidFill>
                </a:rPr>
                <a:t>재</a:t>
              </a:r>
              <a:r>
                <a:rPr lang="en-US" altLang="ko-KR" sz="800" kern="0" dirty="0">
                  <a:solidFill>
                    <a:srgbClr val="FF0000"/>
                  </a:solidFill>
                </a:rPr>
                <a:t>, 2</a:t>
              </a:r>
              <a:r>
                <a:rPr lang="ko-KR" altLang="en-US" sz="800" kern="0" dirty="0">
                  <a:solidFill>
                    <a:srgbClr val="FF0000"/>
                  </a:solidFill>
                </a:rPr>
                <a:t>차</a:t>
              </a:r>
              <a:r>
                <a:rPr lang="en-US" altLang="ko-KR" sz="800" kern="0" dirty="0">
                  <a:solidFill>
                    <a:srgbClr val="FF0000"/>
                  </a:solidFill>
                </a:rPr>
                <a:t>) </a:t>
              </a:r>
            </a:p>
          </p:txBody>
        </p:sp>
        <p:sp>
          <p:nvSpPr>
            <p:cNvPr id="29" name="Rectangle 7">
              <a:extLst>
                <a:ext uri="{FF2B5EF4-FFF2-40B4-BE49-F238E27FC236}">
                  <a16:creationId xmlns:a16="http://schemas.microsoft.com/office/drawing/2014/main" id="{3A97B3AB-3072-699D-4CC0-0CBB7D506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결재완료 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+ (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재</a:t>
              </a:r>
              <a:r>
                <a:rPr lang="en-US" altLang="ko-KR" sz="800" kern="0" dirty="0">
                  <a:solidFill>
                    <a:srgbClr val="000000"/>
                  </a:solidFill>
                </a:rPr>
                <a:t>)</a:t>
              </a:r>
              <a:endParaRPr lang="ko-KR" altLang="en-US" sz="800" kern="0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30" name="Group 116">
            <a:extLst>
              <a:ext uri="{FF2B5EF4-FFF2-40B4-BE49-F238E27FC236}">
                <a16:creationId xmlns:a16="http://schemas.microsoft.com/office/drawing/2014/main" id="{DEE33E8B-A339-36F1-27C9-8263FC18B624}"/>
              </a:ext>
            </a:extLst>
          </p:cNvPr>
          <p:cNvGrpSpPr>
            <a:grpSpLocks/>
          </p:cNvGrpSpPr>
          <p:nvPr/>
        </p:nvGrpSpPr>
        <p:grpSpPr bwMode="auto">
          <a:xfrm>
            <a:off x="3738307" y="3014818"/>
            <a:ext cx="1386746" cy="688533"/>
            <a:chOff x="818" y="1556"/>
            <a:chExt cx="521" cy="354"/>
          </a:xfrm>
        </p:grpSpPr>
        <p:sp>
          <p:nvSpPr>
            <p:cNvPr id="31" name="Rectangle 6">
              <a:extLst>
                <a:ext uri="{FF2B5EF4-FFF2-40B4-BE49-F238E27FC236}">
                  <a16:creationId xmlns:a16="http://schemas.microsoft.com/office/drawing/2014/main" id="{D978112A-4FC4-804A-90C3-F085DDC24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검토요청 권한과 동일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검토진행단계에서 반려 시</a:t>
              </a:r>
              <a:endParaRPr lang="en-US" altLang="ko-KR" sz="800" kern="0" dirty="0">
                <a:solidFill>
                  <a:srgbClr val="000000"/>
                </a:solidFill>
              </a:endParaRPr>
            </a:p>
          </p:txBody>
        </p:sp>
        <p:sp>
          <p:nvSpPr>
            <p:cNvPr id="32" name="Rectangle 7">
              <a:extLst>
                <a:ext uri="{FF2B5EF4-FFF2-40B4-BE49-F238E27FC236}">
                  <a16:creationId xmlns:a16="http://schemas.microsoft.com/office/drawing/2014/main" id="{3914BA23-644E-9F93-8D78-156C08CA2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 err="1">
                  <a:solidFill>
                    <a:srgbClr val="000000"/>
                  </a:solidFill>
                </a:rPr>
                <a:t>검토반려</a:t>
              </a:r>
              <a:endParaRPr lang="ko-KR" altLang="en-US" sz="800" kern="0" dirty="0">
                <a:solidFill>
                  <a:srgbClr val="000000"/>
                </a:solidFill>
              </a:endParaRPr>
            </a:p>
          </p:txBody>
        </p:sp>
      </p:grpSp>
      <p:cxnSp>
        <p:nvCxnSpPr>
          <p:cNvPr id="34" name="연결선: 꺾임 33">
            <a:extLst>
              <a:ext uri="{FF2B5EF4-FFF2-40B4-BE49-F238E27FC236}">
                <a16:creationId xmlns:a16="http://schemas.microsoft.com/office/drawing/2014/main" id="{3006EAA4-14A8-F12C-89C0-561CEA60F561}"/>
              </a:ext>
            </a:extLst>
          </p:cNvPr>
          <p:cNvCxnSpPr>
            <a:cxnSpLocks/>
            <a:stCxn id="3" idx="2"/>
            <a:endCxn id="7" idx="0"/>
          </p:cNvCxnSpPr>
          <p:nvPr/>
        </p:nvCxnSpPr>
        <p:spPr bwMode="auto">
          <a:xfrm rot="16200000" flipH="1">
            <a:off x="1821097" y="2430399"/>
            <a:ext cx="476010" cy="390"/>
          </a:xfrm>
          <a:prstGeom prst="bentConnector3">
            <a:avLst/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2B760D5B-E816-DE63-EEAE-E01C63CABA2C}"/>
              </a:ext>
            </a:extLst>
          </p:cNvPr>
          <p:cNvCxnSpPr>
            <a:cxnSpLocks/>
            <a:stCxn id="6" idx="2"/>
            <a:endCxn id="11" idx="0"/>
          </p:cNvCxnSpPr>
          <p:nvPr/>
        </p:nvCxnSpPr>
        <p:spPr bwMode="auto">
          <a:xfrm flipH="1">
            <a:off x="2059296" y="3357132"/>
            <a:ext cx="1" cy="384944"/>
          </a:xfrm>
          <a:prstGeom prst="straightConnector1">
            <a:avLst/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EB0211F0-F681-B88A-7C93-DDCCF84B8DBE}"/>
              </a:ext>
            </a:extLst>
          </p:cNvPr>
          <p:cNvCxnSpPr>
            <a:cxnSpLocks/>
          </p:cNvCxnSpPr>
          <p:nvPr/>
        </p:nvCxnSpPr>
        <p:spPr bwMode="auto">
          <a:xfrm>
            <a:off x="1986452" y="4438389"/>
            <a:ext cx="0" cy="483181"/>
          </a:xfrm>
          <a:prstGeom prst="straightConnector1">
            <a:avLst/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77" name="연결선: 꺾임 76">
            <a:extLst>
              <a:ext uri="{FF2B5EF4-FFF2-40B4-BE49-F238E27FC236}">
                <a16:creationId xmlns:a16="http://schemas.microsoft.com/office/drawing/2014/main" id="{EEA6B9D1-18D9-18E4-9F0F-0502D9F80564}"/>
              </a:ext>
            </a:extLst>
          </p:cNvPr>
          <p:cNvCxnSpPr>
            <a:cxnSpLocks/>
            <a:stCxn id="32" idx="0"/>
          </p:cNvCxnSpPr>
          <p:nvPr/>
        </p:nvCxnSpPr>
        <p:spPr bwMode="auto">
          <a:xfrm rot="16200000" flipV="1">
            <a:off x="2993743" y="1576881"/>
            <a:ext cx="591700" cy="2284174"/>
          </a:xfrm>
          <a:prstGeom prst="bentConnector2">
            <a:avLst/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94" name="연결선: 꺾임 93">
            <a:extLst>
              <a:ext uri="{FF2B5EF4-FFF2-40B4-BE49-F238E27FC236}">
                <a16:creationId xmlns:a16="http://schemas.microsoft.com/office/drawing/2014/main" id="{2DD8E229-6C81-BF50-2983-E284B057858D}"/>
              </a:ext>
            </a:extLst>
          </p:cNvPr>
          <p:cNvCxnSpPr>
            <a:cxnSpLocks/>
            <a:stCxn id="10" idx="3"/>
            <a:endCxn id="31" idx="2"/>
          </p:cNvCxnSpPr>
          <p:nvPr/>
        </p:nvCxnSpPr>
        <p:spPr bwMode="auto">
          <a:xfrm flipV="1">
            <a:off x="2908896" y="3703351"/>
            <a:ext cx="1522784" cy="467600"/>
          </a:xfrm>
          <a:prstGeom prst="bentConnector2">
            <a:avLst/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98" name="직선 화살표 연결선 97">
            <a:extLst>
              <a:ext uri="{FF2B5EF4-FFF2-40B4-BE49-F238E27FC236}">
                <a16:creationId xmlns:a16="http://schemas.microsoft.com/office/drawing/2014/main" id="{F17A7D80-AEB0-121B-A48F-D7503B1995F8}"/>
              </a:ext>
            </a:extLst>
          </p:cNvPr>
          <p:cNvCxnSpPr>
            <a:cxnSpLocks/>
            <a:endCxn id="22" idx="3"/>
          </p:cNvCxnSpPr>
          <p:nvPr/>
        </p:nvCxnSpPr>
        <p:spPr bwMode="auto">
          <a:xfrm flipH="1">
            <a:off x="9303700" y="3263724"/>
            <a:ext cx="210673" cy="4908"/>
          </a:xfrm>
          <a:prstGeom prst="straightConnector1">
            <a:avLst/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00" name="연결선: 꺾임 99">
            <a:extLst>
              <a:ext uri="{FF2B5EF4-FFF2-40B4-BE49-F238E27FC236}">
                <a16:creationId xmlns:a16="http://schemas.microsoft.com/office/drawing/2014/main" id="{105E9F40-3D19-2517-DC2C-ABEED4987997}"/>
              </a:ext>
            </a:extLst>
          </p:cNvPr>
          <p:cNvCxnSpPr>
            <a:cxnSpLocks/>
            <a:stCxn id="19" idx="3"/>
            <a:endCxn id="25" idx="3"/>
          </p:cNvCxnSpPr>
          <p:nvPr/>
        </p:nvCxnSpPr>
        <p:spPr bwMode="auto">
          <a:xfrm flipH="1">
            <a:off x="9294508" y="2192331"/>
            <a:ext cx="3" cy="2375915"/>
          </a:xfrm>
          <a:prstGeom prst="bentConnector3">
            <a:avLst>
              <a:gd name="adj1" fmla="val -7620000000"/>
            </a:avLst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04" name="연결선: 꺾임 103">
            <a:extLst>
              <a:ext uri="{FF2B5EF4-FFF2-40B4-BE49-F238E27FC236}">
                <a16:creationId xmlns:a16="http://schemas.microsoft.com/office/drawing/2014/main" id="{C20B9F45-5E81-1FDC-12BE-292D0D38242B}"/>
              </a:ext>
            </a:extLst>
          </p:cNvPr>
          <p:cNvCxnSpPr>
            <a:cxnSpLocks/>
            <a:stCxn id="19" idx="3"/>
            <a:endCxn id="28" idx="3"/>
          </p:cNvCxnSpPr>
          <p:nvPr/>
        </p:nvCxnSpPr>
        <p:spPr bwMode="auto">
          <a:xfrm flipH="1">
            <a:off x="9294509" y="2192331"/>
            <a:ext cx="2" cy="3706126"/>
          </a:xfrm>
          <a:prstGeom prst="bentConnector3">
            <a:avLst>
              <a:gd name="adj1" fmla="val -11430000000"/>
            </a:avLst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B490328A-8BFD-91FD-8DBB-80D8299903ED}"/>
              </a:ext>
            </a:extLst>
          </p:cNvPr>
          <p:cNvSpPr txBox="1"/>
          <p:nvPr/>
        </p:nvSpPr>
        <p:spPr>
          <a:xfrm>
            <a:off x="5343230" y="4868969"/>
            <a:ext cx="150554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결재반려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회수 상태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재검토진행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99A4E39-B2E5-CF9F-0CF1-9453D916B35B}"/>
              </a:ext>
            </a:extLst>
          </p:cNvPr>
          <p:cNvSpPr txBox="1"/>
          <p:nvPr/>
        </p:nvSpPr>
        <p:spPr>
          <a:xfrm>
            <a:off x="6975271" y="1916067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기안 상신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D7803C82-A58B-B480-F492-FC27C059AB40}"/>
              </a:ext>
            </a:extLst>
          </p:cNvPr>
          <p:cNvSpPr txBox="1"/>
          <p:nvPr/>
        </p:nvSpPr>
        <p:spPr>
          <a:xfrm>
            <a:off x="8847238" y="5188446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결재 승인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EE54F218-0904-AC52-060F-EF95F492E882}"/>
              </a:ext>
            </a:extLst>
          </p:cNvPr>
          <p:cNvSpPr txBox="1"/>
          <p:nvPr/>
        </p:nvSpPr>
        <p:spPr>
          <a:xfrm>
            <a:off x="9017274" y="3945920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회수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70BDE75B-1CF9-0E94-8B7A-252F32E98686}"/>
              </a:ext>
            </a:extLst>
          </p:cNvPr>
          <p:cNvSpPr txBox="1"/>
          <p:nvPr/>
        </p:nvSpPr>
        <p:spPr>
          <a:xfrm>
            <a:off x="9019579" y="2635812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반려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B9429A8F-02E4-E94A-C988-D10D6E42B6E3}"/>
              </a:ext>
            </a:extLst>
          </p:cNvPr>
          <p:cNvCxnSpPr>
            <a:cxnSpLocks/>
          </p:cNvCxnSpPr>
          <p:nvPr/>
        </p:nvCxnSpPr>
        <p:spPr bwMode="auto">
          <a:xfrm>
            <a:off x="6476535" y="1397104"/>
            <a:ext cx="0" cy="5127909"/>
          </a:xfrm>
          <a:prstGeom prst="line">
            <a:avLst/>
          </a:prstGeom>
          <a:solidFill>
            <a:schemeClr val="accent1"/>
          </a:solidFill>
          <a:ln w="25400" cap="flat" cmpd="sng" algn="ctr">
            <a:solidFill>
              <a:schemeClr val="bg1">
                <a:lumMod val="50000"/>
              </a:schemeClr>
            </a:solidFill>
            <a:prstDash val="sysDot"/>
            <a:round/>
            <a:headEnd type="none" w="med" len="med"/>
            <a:tailEnd type="none"/>
          </a:ln>
          <a:effectLst/>
        </p:spPr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59F19C11-C80C-903E-E76B-81497ECA014F}"/>
              </a:ext>
            </a:extLst>
          </p:cNvPr>
          <p:cNvSpPr txBox="1"/>
          <p:nvPr/>
        </p:nvSpPr>
        <p:spPr>
          <a:xfrm>
            <a:off x="5462426" y="1433014"/>
            <a:ext cx="1008609" cy="27699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 상태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69A4CE5F-A326-5A25-7C74-A9E59117E419}"/>
              </a:ext>
            </a:extLst>
          </p:cNvPr>
          <p:cNvSpPr txBox="1"/>
          <p:nvPr/>
        </p:nvSpPr>
        <p:spPr>
          <a:xfrm>
            <a:off x="6485327" y="1436082"/>
            <a:ext cx="2810385" cy="27699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홍보물에 포함된 안전성검토 결재상태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DBF66FCC-E66A-29DF-3409-5E3FC10DD09E}"/>
              </a:ext>
            </a:extLst>
          </p:cNvPr>
          <p:cNvSpPr txBox="1"/>
          <p:nvPr/>
        </p:nvSpPr>
        <p:spPr>
          <a:xfrm>
            <a:off x="1515167" y="2323091"/>
            <a:ext cx="54373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검토요청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12F7E81-5CBF-8E10-2C65-F4F3C195B852}"/>
              </a:ext>
            </a:extLst>
          </p:cNvPr>
          <p:cNvSpPr txBox="1"/>
          <p:nvPr/>
        </p:nvSpPr>
        <p:spPr>
          <a:xfrm>
            <a:off x="3459259" y="2228229"/>
            <a:ext cx="80826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검토반려상태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0" name="연결선: 꺾임 149">
            <a:extLst>
              <a:ext uri="{FF2B5EF4-FFF2-40B4-BE49-F238E27FC236}">
                <a16:creationId xmlns:a16="http://schemas.microsoft.com/office/drawing/2014/main" id="{FC8F87EA-5BFA-5D51-4C9A-E083B6727DA8}"/>
              </a:ext>
            </a:extLst>
          </p:cNvPr>
          <p:cNvCxnSpPr>
            <a:cxnSpLocks/>
            <a:stCxn id="25" idx="1"/>
          </p:cNvCxnSpPr>
          <p:nvPr/>
        </p:nvCxnSpPr>
        <p:spPr bwMode="auto">
          <a:xfrm rot="10800000" flipV="1">
            <a:off x="5373729" y="4568245"/>
            <a:ext cx="2282676" cy="246099"/>
          </a:xfrm>
          <a:prstGeom prst="bentConnector3">
            <a:avLst>
              <a:gd name="adj1" fmla="val 68803"/>
            </a:avLst>
          </a:prstGeom>
          <a:solidFill>
            <a:schemeClr val="accent1"/>
          </a:solidFill>
          <a:ln w="12700" cap="flat" cmpd="sng" algn="ctr">
            <a:solidFill>
              <a:srgbClr val="0000CC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65" name="TextBox 164">
            <a:extLst>
              <a:ext uri="{FF2B5EF4-FFF2-40B4-BE49-F238E27FC236}">
                <a16:creationId xmlns:a16="http://schemas.microsoft.com/office/drawing/2014/main" id="{427F5346-C6E4-16EF-2F99-AB35F5BF6985}"/>
              </a:ext>
            </a:extLst>
          </p:cNvPr>
          <p:cNvSpPr txBox="1"/>
          <p:nvPr/>
        </p:nvSpPr>
        <p:spPr>
          <a:xfrm>
            <a:off x="9906266" y="1826024"/>
            <a:ext cx="2018249" cy="27853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홍보물에 포함된 안전성검토는 </a:t>
            </a:r>
            <a:r>
              <a:rPr lang="en-US" altLang="ko-KR" sz="7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dirty="0" err="1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작성중</a:t>
            </a:r>
            <a:r>
              <a:rPr lang="en-US" altLang="ko-KR" sz="7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반려 제외 상태 문서 포함 가능</a:t>
            </a:r>
            <a:endParaRPr lang="en-US" altLang="ko-KR" sz="7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홍보물에 포함된 안전성검토 결재 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상신 반려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회수 시 </a:t>
            </a:r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상태값이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“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재검토진행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”     </a:t>
            </a: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 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으로 변경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상신 반려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회수된 안전성검토를 포함하는 모든 홍보물은  상태를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“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재검토진행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”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으로 변경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진행상태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 </a:t>
            </a:r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작성중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검토요청</a:t>
            </a:r>
            <a:endParaRPr lang="en-US" altLang="ko-KR" sz="7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30 </a:t>
            </a:r>
            <a:r>
              <a:rPr lang="ko-KR" altLang="en-US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검토반려</a:t>
            </a:r>
            <a:endParaRPr lang="en-US" altLang="ko-KR" sz="7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검토진행</a:t>
            </a:r>
            <a:endParaRPr lang="en-US" altLang="ko-KR" sz="7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50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재검토진행 </a:t>
            </a:r>
            <a:endParaRPr lang="en-US" altLang="ko-KR" sz="7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60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검토완료</a:t>
            </a:r>
            <a:endParaRPr lang="en-US" altLang="ko-KR" sz="7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2" name="연결선: 꺾임 91">
            <a:extLst>
              <a:ext uri="{FF2B5EF4-FFF2-40B4-BE49-F238E27FC236}">
                <a16:creationId xmlns:a16="http://schemas.microsoft.com/office/drawing/2014/main" id="{BA88D71C-05AB-D7AA-1F66-845D6B7BD3E4}"/>
              </a:ext>
            </a:extLst>
          </p:cNvPr>
          <p:cNvCxnSpPr>
            <a:cxnSpLocks/>
            <a:stCxn id="22" idx="1"/>
            <a:endCxn id="40" idx="3"/>
          </p:cNvCxnSpPr>
          <p:nvPr/>
        </p:nvCxnSpPr>
        <p:spPr bwMode="auto">
          <a:xfrm rot="10800000" flipV="1">
            <a:off x="5364541" y="3268632"/>
            <a:ext cx="2291865" cy="1554716"/>
          </a:xfrm>
          <a:prstGeom prst="bentConnector3">
            <a:avLst>
              <a:gd name="adj1" fmla="val 69135"/>
            </a:avLst>
          </a:prstGeom>
          <a:solidFill>
            <a:schemeClr val="accent1"/>
          </a:solidFill>
          <a:ln w="12700" cap="flat" cmpd="sng" algn="ctr">
            <a:solidFill>
              <a:srgbClr val="0000CC"/>
            </a:solidFill>
            <a:prstDash val="solid"/>
            <a:round/>
            <a:headEnd type="none" w="med" len="med"/>
            <a:tailEnd type="triangle"/>
          </a:ln>
          <a:effectLst/>
        </p:spPr>
      </p:cxnSp>
      <p:grpSp>
        <p:nvGrpSpPr>
          <p:cNvPr id="21" name="Group 116">
            <a:extLst>
              <a:ext uri="{FF2B5EF4-FFF2-40B4-BE49-F238E27FC236}">
                <a16:creationId xmlns:a16="http://schemas.microsoft.com/office/drawing/2014/main" id="{F0A6F75F-4218-72ED-0F43-F702C4A08945}"/>
              </a:ext>
            </a:extLst>
          </p:cNvPr>
          <p:cNvGrpSpPr>
            <a:grpSpLocks/>
          </p:cNvGrpSpPr>
          <p:nvPr/>
        </p:nvGrpSpPr>
        <p:grpSpPr bwMode="auto">
          <a:xfrm>
            <a:off x="7656405" y="2839757"/>
            <a:ext cx="1647295" cy="688533"/>
            <a:chOff x="818" y="1556"/>
            <a:chExt cx="521" cy="354"/>
          </a:xfrm>
        </p:grpSpPr>
        <p:sp>
          <p:nvSpPr>
            <p:cNvPr id="22" name="Rectangle 6">
              <a:extLst>
                <a:ext uri="{FF2B5EF4-FFF2-40B4-BE49-F238E27FC236}">
                  <a16:creationId xmlns:a16="http://schemas.microsoft.com/office/drawing/2014/main" id="{377A580B-3FE1-0C2E-771D-E1FCA44E4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결재자가 반려</a:t>
              </a:r>
              <a:endParaRPr lang="en-US" altLang="ko-KR" sz="800" kern="0" dirty="0">
                <a:solidFill>
                  <a:srgbClr val="000000"/>
                </a:solidFill>
              </a:endParaRPr>
            </a:p>
          </p:txBody>
        </p:sp>
        <p:sp>
          <p:nvSpPr>
            <p:cNvPr id="23" name="Rectangle 7">
              <a:extLst>
                <a:ext uri="{FF2B5EF4-FFF2-40B4-BE49-F238E27FC236}">
                  <a16:creationId xmlns:a16="http://schemas.microsoft.com/office/drawing/2014/main" id="{4423678A-CE86-DEF8-B027-E6FA2B1DC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 err="1">
                  <a:solidFill>
                    <a:srgbClr val="000000"/>
                  </a:solidFill>
                </a:rPr>
                <a:t>결재반려</a:t>
              </a:r>
              <a:endParaRPr lang="ko-KR" altLang="en-US" sz="800" kern="0" dirty="0">
                <a:solidFill>
                  <a:srgbClr val="000000"/>
                </a:solidFill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9D7B4BBC-7720-7BC8-0DFE-D7A42B74DD2A}"/>
              </a:ext>
            </a:extLst>
          </p:cNvPr>
          <p:cNvSpPr txBox="1"/>
          <p:nvPr/>
        </p:nvSpPr>
        <p:spPr>
          <a:xfrm>
            <a:off x="2735720" y="1128457"/>
            <a:ext cx="1637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A0BDE92-A112-93F9-2B96-17CE1C58AD59}"/>
              </a:ext>
            </a:extLst>
          </p:cNvPr>
          <p:cNvSpPr txBox="1"/>
          <p:nvPr/>
        </p:nvSpPr>
        <p:spPr>
          <a:xfrm>
            <a:off x="2822910" y="6101064"/>
            <a:ext cx="3762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홍보물에 포함된 안전성검토 결재 상신 반려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회수 시 </a:t>
            </a:r>
            <a:r>
              <a:rPr lang="ko-KR" altLang="en-US" sz="700" b="1" dirty="0" err="1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상태값이</a:t>
            </a:r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“</a:t>
            </a:r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재검토진행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”</a:t>
            </a:r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으로 변경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상신 반려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회수된 안전성검토를 포함하는 모든 홍보물은  상태를 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“</a:t>
            </a:r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재검토진행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”</a:t>
            </a:r>
            <a:r>
              <a:rPr lang="ko-KR" altLang="en-US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으로 변경</a:t>
            </a:r>
            <a:r>
              <a:rPr lang="en-US" altLang="ko-KR" sz="700" b="1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39" name="Group 116">
            <a:extLst>
              <a:ext uri="{FF2B5EF4-FFF2-40B4-BE49-F238E27FC236}">
                <a16:creationId xmlns:a16="http://schemas.microsoft.com/office/drawing/2014/main" id="{1188538E-9B17-026A-8111-8F54E4678435}"/>
              </a:ext>
            </a:extLst>
          </p:cNvPr>
          <p:cNvGrpSpPr>
            <a:grpSpLocks/>
          </p:cNvGrpSpPr>
          <p:nvPr/>
        </p:nvGrpSpPr>
        <p:grpSpPr bwMode="auto">
          <a:xfrm>
            <a:off x="3665340" y="4394473"/>
            <a:ext cx="1699200" cy="688533"/>
            <a:chOff x="818" y="1556"/>
            <a:chExt cx="521" cy="354"/>
          </a:xfrm>
        </p:grpSpPr>
        <p:sp>
          <p:nvSpPr>
            <p:cNvPr id="40" name="Rectangle 6">
              <a:extLst>
                <a:ext uri="{FF2B5EF4-FFF2-40B4-BE49-F238E27FC236}">
                  <a16:creationId xmlns:a16="http://schemas.microsoft.com/office/drawing/2014/main" id="{84D3340A-2BD7-F68F-FF30-B677AF7E9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43"/>
              <a:ext cx="521" cy="26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 err="1">
                  <a:solidFill>
                    <a:srgbClr val="000000"/>
                  </a:solidFill>
                </a:rPr>
                <a:t>검토중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 한 건이라도 의견 등록</a:t>
              </a:r>
              <a:endParaRPr lang="en-US" altLang="ko-KR" sz="800" kern="0" dirty="0">
                <a:solidFill>
                  <a:srgbClr val="000000"/>
                </a:solidFill>
              </a:endParaRPr>
            </a:p>
            <a:p>
              <a:pPr algn="l" eaLnBrk="0" hangingPunct="0">
                <a:spcBef>
                  <a:spcPct val="0"/>
                </a:spcBef>
                <a:defRPr/>
              </a:pPr>
              <a:r>
                <a:rPr lang="en-US" altLang="ko-KR" sz="800" kern="0" dirty="0">
                  <a:solidFill>
                    <a:srgbClr val="000000"/>
                  </a:solidFill>
                </a:rPr>
                <a:t>- </a:t>
              </a:r>
              <a:r>
                <a:rPr lang="ko-KR" altLang="en-US" sz="800" kern="0" dirty="0">
                  <a:solidFill>
                    <a:srgbClr val="000000"/>
                  </a:solidFill>
                </a:rPr>
                <a:t>검토요청 권한 내용 동일</a:t>
              </a:r>
              <a:endParaRPr lang="en-US" altLang="ko-KR" sz="800" kern="0" dirty="0">
                <a:solidFill>
                  <a:srgbClr val="000000"/>
                </a:solidFill>
              </a:endParaRPr>
            </a:p>
          </p:txBody>
        </p:sp>
        <p:sp>
          <p:nvSpPr>
            <p:cNvPr id="41" name="Rectangle 7">
              <a:extLst>
                <a:ext uri="{FF2B5EF4-FFF2-40B4-BE49-F238E27FC236}">
                  <a16:creationId xmlns:a16="http://schemas.microsoft.com/office/drawing/2014/main" id="{D8148BF9-3C47-E98A-B140-6F7A96016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556"/>
              <a:ext cx="521" cy="83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rgbClr val="000000"/>
              </a:solidFill>
              <a:prstDash val="solid"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ko-KR"/>
              </a:defPPr>
              <a:lvl1pPr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572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2pPr>
              <a:lvl3pPr marL="9144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3pPr>
              <a:lvl4pPr marL="13716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4pPr>
              <a:lvl5pPr marL="1828800" algn="ctr" rtl="0" fontAlgn="base">
                <a:spcBef>
                  <a:spcPct val="50000"/>
                </a:spcBef>
                <a:spcAft>
                  <a:spcPct val="0"/>
                </a:spcAft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sz="900" kern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9pPr>
            </a:lstStyle>
            <a:p>
              <a:pPr eaLnBrk="0" hangingPunct="0">
                <a:spcBef>
                  <a:spcPct val="0"/>
                </a:spcBef>
                <a:defRPr/>
              </a:pPr>
              <a:r>
                <a:rPr lang="ko-KR" altLang="en-US" sz="800" kern="0" dirty="0">
                  <a:solidFill>
                    <a:srgbClr val="000000"/>
                  </a:solidFill>
                </a:rPr>
                <a:t>재검토진행 </a:t>
              </a:r>
            </a:p>
          </p:txBody>
        </p:sp>
      </p:grpSp>
      <p:cxnSp>
        <p:nvCxnSpPr>
          <p:cNvPr id="49" name="연결선: 꺾임 48">
            <a:extLst>
              <a:ext uri="{FF2B5EF4-FFF2-40B4-BE49-F238E27FC236}">
                <a16:creationId xmlns:a16="http://schemas.microsoft.com/office/drawing/2014/main" id="{31DA4576-D6C5-D920-F368-461E1C5F72B7}"/>
              </a:ext>
            </a:extLst>
          </p:cNvPr>
          <p:cNvCxnSpPr>
            <a:cxnSpLocks/>
            <a:stCxn id="40" idx="2"/>
          </p:cNvCxnSpPr>
          <p:nvPr/>
        </p:nvCxnSpPr>
        <p:spPr bwMode="auto">
          <a:xfrm rot="5400000">
            <a:off x="3574384" y="4347916"/>
            <a:ext cx="205466" cy="1675647"/>
          </a:xfrm>
          <a:prstGeom prst="bentConnector2">
            <a:avLst/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C5D526D4-D48C-98CA-D07A-B2933F87B536}"/>
              </a:ext>
            </a:extLst>
          </p:cNvPr>
          <p:cNvSpPr txBox="1"/>
          <p:nvPr/>
        </p:nvSpPr>
        <p:spPr>
          <a:xfrm>
            <a:off x="7583030" y="1141063"/>
            <a:ext cx="1637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결재상태</a:t>
            </a:r>
          </a:p>
        </p:txBody>
      </p:sp>
      <p:cxnSp>
        <p:nvCxnSpPr>
          <p:cNvPr id="15" name="연결선: 꺾임 14">
            <a:extLst>
              <a:ext uri="{FF2B5EF4-FFF2-40B4-BE49-F238E27FC236}">
                <a16:creationId xmlns:a16="http://schemas.microsoft.com/office/drawing/2014/main" id="{7620CEEA-C046-BB28-7291-A96F990B7BF8}"/>
              </a:ext>
            </a:extLst>
          </p:cNvPr>
          <p:cNvCxnSpPr>
            <a:cxnSpLocks/>
            <a:stCxn id="13" idx="1"/>
            <a:endCxn id="10" idx="1"/>
          </p:cNvCxnSpPr>
          <p:nvPr/>
        </p:nvCxnSpPr>
        <p:spPr bwMode="auto">
          <a:xfrm rot="10800000" flipH="1">
            <a:off x="1165734" y="4170951"/>
            <a:ext cx="43962" cy="1179494"/>
          </a:xfrm>
          <a:prstGeom prst="bentConnector3">
            <a:avLst>
              <a:gd name="adj1" fmla="val -519995"/>
            </a:avLst>
          </a:prstGeom>
          <a:solidFill>
            <a:schemeClr val="accent1"/>
          </a:solidFill>
          <a:ln w="1270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F054CD0A-ECD3-D5BC-3EB6-80E7A41B2575}"/>
              </a:ext>
            </a:extLst>
          </p:cNvPr>
          <p:cNvSpPr txBox="1"/>
          <p:nvPr/>
        </p:nvSpPr>
        <p:spPr>
          <a:xfrm>
            <a:off x="427824" y="4540014"/>
            <a:ext cx="866813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관리자상태 변경</a:t>
            </a:r>
            <a:endParaRPr lang="en-US" altLang="ko-KR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5705772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648FBC-B360-84B8-B53C-C178D9C57F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9CD2BA03-E68E-2D23-56B7-C5A84A384E68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C1503A2C-7201-BB01-D718-8DCB715598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33797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검색하여 홍보물에 안전성 검토건을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1D8C9EE0-B242-7DCB-4759-D2FD1687414B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7D83EFBB-58F9-42FC-B4D4-BAFE2683B9A6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721247D3-41E0-1EAB-C5A6-AD5C30DA46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04236"/>
              </p:ext>
            </p:extLst>
          </p:nvPr>
        </p:nvGraphicFramePr>
        <p:xfrm>
          <a:off x="9860045" y="1664954"/>
          <a:ext cx="2066563" cy="2557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자동 조회하지 않고 팝업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마스터와 안전성검토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SKU(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검토진행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제외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최신건을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JOIN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사용하여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검색조건에 맞는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데이터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를 조회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리스트로부터 부모창으로 전달할 대상을 리스트로 추가한다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멀티 추가가능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부모창에 안전성검토 정보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번호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제목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를 전송한다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팝업을 닫는다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201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조회화면에서는 다중선택이 가능하도록 함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통영 팝업 참조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785749"/>
                  </a:ext>
                </a:extLst>
              </a:tr>
            </a:tbl>
          </a:graphicData>
        </a:graphic>
      </p:graphicFrame>
      <p:sp>
        <p:nvSpPr>
          <p:cNvPr id="2" name="직사각형 23">
            <a:extLst>
              <a:ext uri="{FF2B5EF4-FFF2-40B4-BE49-F238E27FC236}">
                <a16:creationId xmlns:a16="http://schemas.microsoft.com/office/drawing/2014/main" id="{A4174500-95AA-B0F6-231F-82585AE65573}"/>
              </a:ext>
            </a:extLst>
          </p:cNvPr>
          <p:cNvSpPr/>
          <p:nvPr/>
        </p:nvSpPr>
        <p:spPr>
          <a:xfrm>
            <a:off x="924815" y="1622779"/>
            <a:ext cx="7278151" cy="416220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7214C51-E954-72C1-8535-FFEE1EF9B7B0}"/>
              </a:ext>
            </a:extLst>
          </p:cNvPr>
          <p:cNvSpPr/>
          <p:nvPr/>
        </p:nvSpPr>
        <p:spPr bwMode="auto">
          <a:xfrm>
            <a:off x="924814" y="1622780"/>
            <a:ext cx="7278151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홍보물 </a:t>
            </a:r>
            <a:r>
              <a:rPr lang="en-US" altLang="ko-KR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SKU </a:t>
            </a: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  <a:endParaRPr lang="en-US" altLang="ko-KR" sz="10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CCDE04-C91F-D906-5736-9CFAF6A4F8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6624935"/>
              </p:ext>
            </p:extLst>
          </p:nvPr>
        </p:nvGraphicFramePr>
        <p:xfrm>
          <a:off x="1033193" y="2876205"/>
          <a:ext cx="6831619" cy="1325880"/>
        </p:xfrm>
        <a:graphic>
          <a:graphicData uri="http://schemas.openxmlformats.org/drawingml/2006/table">
            <a:tbl>
              <a:tblPr/>
              <a:tblGrid>
                <a:gridCol w="311328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943449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  <a:gridCol w="1158798">
                  <a:extLst>
                    <a:ext uri="{9D8B030D-6E8A-4147-A177-3AD203B41FA5}">
                      <a16:colId xmlns:a16="http://schemas.microsoft.com/office/drawing/2014/main" val="2725159443"/>
                    </a:ext>
                  </a:extLst>
                </a:gridCol>
                <a:gridCol w="1719220">
                  <a:extLst>
                    <a:ext uri="{9D8B030D-6E8A-4147-A177-3AD203B41FA5}">
                      <a16:colId xmlns:a16="http://schemas.microsoft.com/office/drawing/2014/main" val="2744453724"/>
                    </a:ext>
                  </a:extLst>
                </a:gridCol>
                <a:gridCol w="899608">
                  <a:extLst>
                    <a:ext uri="{9D8B030D-6E8A-4147-A177-3AD203B41FA5}">
                      <a16:colId xmlns:a16="http://schemas.microsoft.com/office/drawing/2014/main" val="878276664"/>
                    </a:ext>
                  </a:extLst>
                </a:gridCol>
                <a:gridCol w="899608">
                  <a:extLst>
                    <a:ext uri="{9D8B030D-6E8A-4147-A177-3AD203B41FA5}">
                      <a16:colId xmlns:a16="http://schemas.microsoft.com/office/drawing/2014/main" val="3688466238"/>
                    </a:ext>
                  </a:extLst>
                </a:gridCol>
                <a:gridCol w="899608">
                  <a:extLst>
                    <a:ext uri="{9D8B030D-6E8A-4147-A177-3AD203B41FA5}">
                      <a16:colId xmlns:a16="http://schemas.microsoft.com/office/drawing/2014/main" val="3824200373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카테고리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품목유형구분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검토번호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9300000000124578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퍼플 </a:t>
                      </a:r>
                      <a:r>
                        <a:rPr lang="ko-KR" altLang="en-US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테슬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키 체인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MD / </a:t>
                      </a:r>
                      <a:r>
                        <a:rPr lang="en-US" altLang="ko-KR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Etc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Others / Others / others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9300000000124579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퍼플 </a:t>
                      </a:r>
                      <a:r>
                        <a:rPr lang="ko-KR" altLang="en-US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테슬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키 체인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MD / </a:t>
                      </a:r>
                      <a:r>
                        <a:rPr lang="en-US" altLang="ko-KR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Etc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Others / Others / others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842648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34921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3349919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D4481B7-9FFD-F08F-9756-79B85969AF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9730813"/>
              </p:ext>
            </p:extLst>
          </p:nvPr>
        </p:nvGraphicFramePr>
        <p:xfrm>
          <a:off x="1033193" y="2227000"/>
          <a:ext cx="5726374" cy="57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72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038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9685">
                  <a:extLst>
                    <a:ext uri="{9D8B030D-6E8A-4147-A177-3AD203B41FA5}">
                      <a16:colId xmlns:a16="http://schemas.microsoft.com/office/drawing/2014/main" val="1043811710"/>
                    </a:ext>
                  </a:extLst>
                </a:gridCol>
                <a:gridCol w="2265611">
                  <a:extLst>
                    <a:ext uri="{9D8B030D-6E8A-4147-A177-3AD203B41FA5}">
                      <a16:colId xmlns:a16="http://schemas.microsoft.com/office/drawing/2014/main" val="67938611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카테고리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57922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품목유형구분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336819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CA9617-1F4C-2465-B794-3E19F4A8F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5833" y="2546650"/>
            <a:ext cx="2032302" cy="208446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4F9D812-2447-0A42-933E-64136888A2D1}"/>
              </a:ext>
            </a:extLst>
          </p:cNvPr>
          <p:cNvGrpSpPr/>
          <p:nvPr/>
        </p:nvGrpSpPr>
        <p:grpSpPr>
          <a:xfrm>
            <a:off x="1695833" y="2250367"/>
            <a:ext cx="676181" cy="226238"/>
            <a:chOff x="6516249" y="1611020"/>
            <a:chExt cx="676181" cy="226238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ACF21CB-1D98-26FD-80D7-7AEA996C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15" name="Picture 103">
              <a:extLst>
                <a:ext uri="{FF2B5EF4-FFF2-40B4-BE49-F238E27FC236}">
                  <a16:creationId xmlns:a16="http://schemas.microsoft.com/office/drawing/2014/main" id="{48037E21-E412-2BE9-B95B-3C12CAF576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2554198-818C-3B78-9E84-B0EE41F3F04F}"/>
              </a:ext>
            </a:extLst>
          </p:cNvPr>
          <p:cNvGrpSpPr/>
          <p:nvPr/>
        </p:nvGrpSpPr>
        <p:grpSpPr>
          <a:xfrm>
            <a:off x="2438790" y="2246052"/>
            <a:ext cx="676181" cy="226238"/>
            <a:chOff x="6516249" y="1611020"/>
            <a:chExt cx="676181" cy="226238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E8807AE-2D3B-C648-55DA-A55DEA2C8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18" name="Picture 103">
              <a:extLst>
                <a:ext uri="{FF2B5EF4-FFF2-40B4-BE49-F238E27FC236}">
                  <a16:creationId xmlns:a16="http://schemas.microsoft.com/office/drawing/2014/main" id="{767CBC96-24AD-E168-D3DE-ABEBE29B5E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A964E83B-CB81-EBEC-F4EB-FE99FCCBA1D4}"/>
              </a:ext>
            </a:extLst>
          </p:cNvPr>
          <p:cNvGrpSpPr/>
          <p:nvPr/>
        </p:nvGrpSpPr>
        <p:grpSpPr>
          <a:xfrm>
            <a:off x="3181747" y="2250367"/>
            <a:ext cx="676181" cy="226238"/>
            <a:chOff x="6516249" y="1611020"/>
            <a:chExt cx="676181" cy="226238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3256335B-1CDB-C695-0971-CC6D19D76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21" name="Picture 103">
              <a:extLst>
                <a:ext uri="{FF2B5EF4-FFF2-40B4-BE49-F238E27FC236}">
                  <a16:creationId xmlns:a16="http://schemas.microsoft.com/office/drawing/2014/main" id="{58C60071-42FD-B3EA-4CF2-B06A425EE7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31BA09E6-2B41-86D7-90C3-150782533332}"/>
              </a:ext>
            </a:extLst>
          </p:cNvPr>
          <p:cNvGrpSpPr/>
          <p:nvPr/>
        </p:nvGrpSpPr>
        <p:grpSpPr>
          <a:xfrm>
            <a:off x="3918539" y="2250367"/>
            <a:ext cx="676181" cy="226238"/>
            <a:chOff x="6516249" y="1611020"/>
            <a:chExt cx="676181" cy="226238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CE6942B1-C8D1-7F65-6778-01ADF6147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24" name="Picture 103">
              <a:extLst>
                <a:ext uri="{FF2B5EF4-FFF2-40B4-BE49-F238E27FC236}">
                  <a16:creationId xmlns:a16="http://schemas.microsoft.com/office/drawing/2014/main" id="{2139105D-859C-512F-18C3-773CDAD2E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5A66FE56-5BBE-2B95-6537-26BDA093A100}"/>
              </a:ext>
            </a:extLst>
          </p:cNvPr>
          <p:cNvGrpSpPr/>
          <p:nvPr/>
        </p:nvGrpSpPr>
        <p:grpSpPr>
          <a:xfrm>
            <a:off x="4652056" y="2246052"/>
            <a:ext cx="676181" cy="226238"/>
            <a:chOff x="6516249" y="1611020"/>
            <a:chExt cx="676181" cy="226238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740BA223-BDFE-71D1-2E78-795C47BDC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27" name="Picture 103">
              <a:extLst>
                <a:ext uri="{FF2B5EF4-FFF2-40B4-BE49-F238E27FC236}">
                  <a16:creationId xmlns:a16="http://schemas.microsoft.com/office/drawing/2014/main" id="{A383F07C-867B-AB3A-CBEA-A551EF1A4D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pic>
        <p:nvPicPr>
          <p:cNvPr id="28" name="그림 27">
            <a:extLst>
              <a:ext uri="{FF2B5EF4-FFF2-40B4-BE49-F238E27FC236}">
                <a16:creationId xmlns:a16="http://schemas.microsoft.com/office/drawing/2014/main" id="{FA7F0335-A625-BA21-0341-1F2F2DE075E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9686" y="2571652"/>
            <a:ext cx="543161" cy="181054"/>
          </a:xfrm>
          <a:prstGeom prst="rect">
            <a:avLst/>
          </a:prstGeom>
        </p:spPr>
      </p:pic>
      <p:sp>
        <p:nvSpPr>
          <p:cNvPr id="4" name="십자형 3">
            <a:extLst>
              <a:ext uri="{FF2B5EF4-FFF2-40B4-BE49-F238E27FC236}">
                <a16:creationId xmlns:a16="http://schemas.microsoft.com/office/drawing/2014/main" id="{D422BD8A-558B-9DEE-D57C-ABB0D53E418F}"/>
              </a:ext>
            </a:extLst>
          </p:cNvPr>
          <p:cNvSpPr/>
          <p:nvPr/>
        </p:nvSpPr>
        <p:spPr>
          <a:xfrm rot="2700000" flipV="1">
            <a:off x="7990519" y="1695981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0" name="그룹 21">
            <a:extLst>
              <a:ext uri="{FF2B5EF4-FFF2-40B4-BE49-F238E27FC236}">
                <a16:creationId xmlns:a16="http://schemas.microsoft.com/office/drawing/2014/main" id="{FE750AB5-CD10-004F-8937-8075C70AFD76}"/>
              </a:ext>
            </a:extLst>
          </p:cNvPr>
          <p:cNvGrpSpPr>
            <a:grpSpLocks/>
          </p:cNvGrpSpPr>
          <p:nvPr/>
        </p:nvGrpSpPr>
        <p:grpSpPr bwMode="auto">
          <a:xfrm>
            <a:off x="6974690" y="2437431"/>
            <a:ext cx="252413" cy="165100"/>
            <a:chOff x="3125393" y="1499499"/>
            <a:chExt cx="252000" cy="165260"/>
          </a:xfrm>
        </p:grpSpPr>
        <p:sp>
          <p:nvSpPr>
            <p:cNvPr id="31" name="모서리가 둥근 사각형 설명선 321">
              <a:extLst>
                <a:ext uri="{FF2B5EF4-FFF2-40B4-BE49-F238E27FC236}">
                  <a16:creationId xmlns:a16="http://schemas.microsoft.com/office/drawing/2014/main" id="{683C7AB1-6D62-B92F-C7E5-6C8908864E6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TextBox 23">
              <a:extLst>
                <a:ext uri="{FF2B5EF4-FFF2-40B4-BE49-F238E27FC236}">
                  <a16:creationId xmlns:a16="http://schemas.microsoft.com/office/drawing/2014/main" id="{6B6FC627-990F-5171-9AED-319CBE8FE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642AC67-7277-E19D-5D0F-B5D0FA7EA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2058984"/>
              </p:ext>
            </p:extLst>
          </p:nvPr>
        </p:nvGraphicFramePr>
        <p:xfrm>
          <a:off x="1032877" y="4594678"/>
          <a:ext cx="6831620" cy="1104900"/>
        </p:xfrm>
        <a:graphic>
          <a:graphicData uri="http://schemas.openxmlformats.org/drawingml/2006/table">
            <a:tbl>
              <a:tblPr/>
              <a:tblGrid>
                <a:gridCol w="891614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  <a:gridCol w="1095131">
                  <a:extLst>
                    <a:ext uri="{9D8B030D-6E8A-4147-A177-3AD203B41FA5}">
                      <a16:colId xmlns:a16="http://schemas.microsoft.com/office/drawing/2014/main" val="2725159443"/>
                    </a:ext>
                  </a:extLst>
                </a:gridCol>
                <a:gridCol w="1880852">
                  <a:extLst>
                    <a:ext uri="{9D8B030D-6E8A-4147-A177-3AD203B41FA5}">
                      <a16:colId xmlns:a16="http://schemas.microsoft.com/office/drawing/2014/main" val="2744453724"/>
                    </a:ext>
                  </a:extLst>
                </a:gridCol>
                <a:gridCol w="825623">
                  <a:extLst>
                    <a:ext uri="{9D8B030D-6E8A-4147-A177-3AD203B41FA5}">
                      <a16:colId xmlns:a16="http://schemas.microsoft.com/office/drawing/2014/main" val="878276664"/>
                    </a:ext>
                  </a:extLst>
                </a:gridCol>
                <a:gridCol w="852256">
                  <a:extLst>
                    <a:ext uri="{9D8B030D-6E8A-4147-A177-3AD203B41FA5}">
                      <a16:colId xmlns:a16="http://schemas.microsoft.com/office/drawing/2014/main" val="3801488849"/>
                    </a:ext>
                  </a:extLst>
                </a:gridCol>
                <a:gridCol w="949911">
                  <a:extLst>
                    <a:ext uri="{9D8B030D-6E8A-4147-A177-3AD203B41FA5}">
                      <a16:colId xmlns:a16="http://schemas.microsoft.com/office/drawing/2014/main" val="3918636750"/>
                    </a:ext>
                  </a:extLst>
                </a:gridCol>
                <a:gridCol w="336233">
                  <a:extLst>
                    <a:ext uri="{9D8B030D-6E8A-4147-A177-3AD203B41FA5}">
                      <a16:colId xmlns:a16="http://schemas.microsoft.com/office/drawing/2014/main" val="1177128192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카테고리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품목유형구분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검토번호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9300000000124578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퍼플 </a:t>
                      </a:r>
                      <a:r>
                        <a:rPr lang="ko-KR" altLang="en-US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테슬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키 체인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MD / </a:t>
                      </a:r>
                      <a:r>
                        <a:rPr lang="en-US" altLang="ko-KR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Etc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Others / Others / others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9300000000124579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퍼플 </a:t>
                      </a:r>
                      <a:r>
                        <a:rPr lang="ko-KR" altLang="en-US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테슬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키 체인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MD / </a:t>
                      </a:r>
                      <a:r>
                        <a:rPr lang="en-US" altLang="ko-KR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Etc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Others / Others / others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334991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1056"/>
                  </a:ext>
                </a:extLst>
              </a:tr>
            </a:tbl>
          </a:graphicData>
        </a:graphic>
      </p:graphicFrame>
      <p:pic>
        <p:nvPicPr>
          <p:cNvPr id="7" name="Picture 103">
            <a:extLst>
              <a:ext uri="{FF2B5EF4-FFF2-40B4-BE49-F238E27FC236}">
                <a16:creationId xmlns:a16="http://schemas.microsoft.com/office/drawing/2014/main" id="{F26E62CF-CB69-8FF2-E910-98069E42B5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 t="15633" r="9297"/>
          <a:stretch>
            <a:fillRect/>
          </a:stretch>
        </p:blipFill>
        <p:spPr bwMode="auto">
          <a:xfrm>
            <a:off x="4434657" y="4314061"/>
            <a:ext cx="265877" cy="1666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F9B2184B-1EBC-B83F-CACC-6CED51659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043" y="4244437"/>
            <a:ext cx="1752268" cy="226238"/>
          </a:xfrm>
          <a:prstGeom prst="rect">
            <a:avLst/>
          </a:prstGeom>
          <a:solidFill>
            <a:schemeClr val="bg1"/>
          </a:solidFill>
          <a:ln w="3175" algn="ctr">
            <a:noFill/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※ SKU</a:t>
            </a:r>
            <a:r>
              <a:rPr lang="ko-KR" altLang="en-US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를 선택하신 후 화살표를 눌러주세요</a:t>
            </a:r>
            <a:endParaRPr kumimoji="1" lang="ko-KR" altLang="en-US" sz="700" spc="-5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38" name="그룹 21">
            <a:extLst>
              <a:ext uri="{FF2B5EF4-FFF2-40B4-BE49-F238E27FC236}">
                <a16:creationId xmlns:a16="http://schemas.microsoft.com/office/drawing/2014/main" id="{E5F248AE-6B7C-7E6C-184A-B73D1F69718D}"/>
              </a:ext>
            </a:extLst>
          </p:cNvPr>
          <p:cNvGrpSpPr>
            <a:grpSpLocks/>
          </p:cNvGrpSpPr>
          <p:nvPr/>
        </p:nvGrpSpPr>
        <p:grpSpPr bwMode="auto">
          <a:xfrm>
            <a:off x="1091816" y="1743888"/>
            <a:ext cx="252413" cy="165100"/>
            <a:chOff x="3125393" y="1499499"/>
            <a:chExt cx="252000" cy="165260"/>
          </a:xfrm>
        </p:grpSpPr>
        <p:sp>
          <p:nvSpPr>
            <p:cNvPr id="39" name="모서리가 둥근 사각형 설명선 321">
              <a:extLst>
                <a:ext uri="{FF2B5EF4-FFF2-40B4-BE49-F238E27FC236}">
                  <a16:creationId xmlns:a16="http://schemas.microsoft.com/office/drawing/2014/main" id="{4EFC7292-0A96-D5B4-678D-77E022065F0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TextBox 23">
              <a:extLst>
                <a:ext uri="{FF2B5EF4-FFF2-40B4-BE49-F238E27FC236}">
                  <a16:creationId xmlns:a16="http://schemas.microsoft.com/office/drawing/2014/main" id="{D2018063-1C83-51FA-F63E-6654B91DDF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sp>
        <p:nvSpPr>
          <p:cNvPr id="43" name="십자형 42">
            <a:extLst>
              <a:ext uri="{FF2B5EF4-FFF2-40B4-BE49-F238E27FC236}">
                <a16:creationId xmlns:a16="http://schemas.microsoft.com/office/drawing/2014/main" id="{3FF0FA39-7722-C9D4-BA43-298991BF9F1E}"/>
              </a:ext>
            </a:extLst>
          </p:cNvPr>
          <p:cNvSpPr/>
          <p:nvPr/>
        </p:nvSpPr>
        <p:spPr>
          <a:xfrm rot="2700000" flipV="1">
            <a:off x="7631864" y="4856692"/>
            <a:ext cx="135427" cy="135427"/>
          </a:xfrm>
          <a:prstGeom prst="plus">
            <a:avLst>
              <a:gd name="adj" fmla="val 46500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C819E03-DA92-FC31-66ED-1D3924BE8B89}"/>
              </a:ext>
            </a:extLst>
          </p:cNvPr>
          <p:cNvGrpSpPr/>
          <p:nvPr/>
        </p:nvGrpSpPr>
        <p:grpSpPr>
          <a:xfrm>
            <a:off x="4574328" y="2542361"/>
            <a:ext cx="858066" cy="226238"/>
            <a:chOff x="6516249" y="1611020"/>
            <a:chExt cx="676181" cy="226238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935056B9-1A9B-3C26-D9B3-50B23CEB2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37" name="Picture 103">
              <a:extLst>
                <a:ext uri="{FF2B5EF4-FFF2-40B4-BE49-F238E27FC236}">
                  <a16:creationId xmlns:a16="http://schemas.microsoft.com/office/drawing/2014/main" id="{E757C661-F7DA-AEB4-5A0B-BFD1F0C5F0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grpSp>
        <p:nvGrpSpPr>
          <p:cNvPr id="29" name="그룹 21">
            <a:extLst>
              <a:ext uri="{FF2B5EF4-FFF2-40B4-BE49-F238E27FC236}">
                <a16:creationId xmlns:a16="http://schemas.microsoft.com/office/drawing/2014/main" id="{A81ECE7D-8B40-08FA-365A-D42035038D18}"/>
              </a:ext>
            </a:extLst>
          </p:cNvPr>
          <p:cNvGrpSpPr>
            <a:grpSpLocks/>
          </p:cNvGrpSpPr>
          <p:nvPr/>
        </p:nvGrpSpPr>
        <p:grpSpPr bwMode="auto">
          <a:xfrm>
            <a:off x="4448121" y="4098868"/>
            <a:ext cx="252413" cy="165100"/>
            <a:chOff x="3125393" y="1499499"/>
            <a:chExt cx="252000" cy="165260"/>
          </a:xfrm>
        </p:grpSpPr>
        <p:sp>
          <p:nvSpPr>
            <p:cNvPr id="33" name="모서리가 둥근 사각형 설명선 321">
              <a:extLst>
                <a:ext uri="{FF2B5EF4-FFF2-40B4-BE49-F238E27FC236}">
                  <a16:creationId xmlns:a16="http://schemas.microsoft.com/office/drawing/2014/main" id="{F19F5102-0B7C-7748-0942-D11AF7C702C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" name="TextBox 23">
              <a:extLst>
                <a:ext uri="{FF2B5EF4-FFF2-40B4-BE49-F238E27FC236}">
                  <a16:creationId xmlns:a16="http://schemas.microsoft.com/office/drawing/2014/main" id="{5BB28C56-D597-4C75-AF80-C1945F6EA5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sp>
        <p:nvSpPr>
          <p:cNvPr id="35" name="모서리가 둥근 직사각형 55">
            <a:extLst>
              <a:ext uri="{FF2B5EF4-FFF2-40B4-BE49-F238E27FC236}">
                <a16:creationId xmlns:a16="http://schemas.microsoft.com/office/drawing/2014/main" id="{018D6BE6-86A5-21B1-D10E-A014AD078441}"/>
              </a:ext>
            </a:extLst>
          </p:cNvPr>
          <p:cNvSpPr/>
          <p:nvPr/>
        </p:nvSpPr>
        <p:spPr>
          <a:xfrm>
            <a:off x="1594326" y="1989232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sp>
        <p:nvSpPr>
          <p:cNvPr id="41" name="모서리가 둥근 직사각형 57">
            <a:extLst>
              <a:ext uri="{FF2B5EF4-FFF2-40B4-BE49-F238E27FC236}">
                <a16:creationId xmlns:a16="http://schemas.microsoft.com/office/drawing/2014/main" id="{A2836C93-E89A-4B90-4F5A-741CC701B3D8}"/>
              </a:ext>
            </a:extLst>
          </p:cNvPr>
          <p:cNvSpPr/>
          <p:nvPr/>
        </p:nvSpPr>
        <p:spPr>
          <a:xfrm>
            <a:off x="1032263" y="1989232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선택</a:t>
            </a:r>
          </a:p>
        </p:txBody>
      </p:sp>
      <p:grpSp>
        <p:nvGrpSpPr>
          <p:cNvPr id="42" name="그룹 21">
            <a:extLst>
              <a:ext uri="{FF2B5EF4-FFF2-40B4-BE49-F238E27FC236}">
                <a16:creationId xmlns:a16="http://schemas.microsoft.com/office/drawing/2014/main" id="{C13DA496-FAC0-051C-B71D-63EFF88F2372}"/>
              </a:ext>
            </a:extLst>
          </p:cNvPr>
          <p:cNvGrpSpPr>
            <a:grpSpLocks/>
          </p:cNvGrpSpPr>
          <p:nvPr/>
        </p:nvGrpSpPr>
        <p:grpSpPr bwMode="auto">
          <a:xfrm>
            <a:off x="1569626" y="1750741"/>
            <a:ext cx="252413" cy="165100"/>
            <a:chOff x="3125393" y="1499499"/>
            <a:chExt cx="252000" cy="165260"/>
          </a:xfrm>
        </p:grpSpPr>
        <p:sp>
          <p:nvSpPr>
            <p:cNvPr id="44" name="모서리가 둥근 사각형 설명선 321">
              <a:extLst>
                <a:ext uri="{FF2B5EF4-FFF2-40B4-BE49-F238E27FC236}">
                  <a16:creationId xmlns:a16="http://schemas.microsoft.com/office/drawing/2014/main" id="{11985CF1-C972-2959-5ADC-00ACA232CDF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TextBox 23">
              <a:extLst>
                <a:ext uri="{FF2B5EF4-FFF2-40B4-BE49-F238E27FC236}">
                  <a16:creationId xmlns:a16="http://schemas.microsoft.com/office/drawing/2014/main" id="{178D7A5B-2547-4DC9-69CF-C8FAD484A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sp>
        <p:nvSpPr>
          <p:cNvPr id="46" name="십자형 45">
            <a:extLst>
              <a:ext uri="{FF2B5EF4-FFF2-40B4-BE49-F238E27FC236}">
                <a16:creationId xmlns:a16="http://schemas.microsoft.com/office/drawing/2014/main" id="{ACBD0393-6917-733E-DA8A-F9AEA3F70CBF}"/>
              </a:ext>
            </a:extLst>
          </p:cNvPr>
          <p:cNvSpPr/>
          <p:nvPr/>
        </p:nvSpPr>
        <p:spPr>
          <a:xfrm rot="2700000" flipV="1">
            <a:off x="7631865" y="5078436"/>
            <a:ext cx="135427" cy="135427"/>
          </a:xfrm>
          <a:prstGeom prst="plus">
            <a:avLst>
              <a:gd name="adj" fmla="val 46500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94052041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2132461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SCKTS.CSPMT050T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SKU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제품 조회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SCKTS.CSPMT051T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제품마스터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SCKTS.CSPMT052T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제품마스터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677384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4412637"/>
              </p:ext>
            </p:extLst>
          </p:nvPr>
        </p:nvGraphicFramePr>
        <p:xfrm>
          <a:off x="247260" y="4941552"/>
          <a:ext cx="11710849" cy="115380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01E20AFF-1881-2494-C4E9-3EFABC24FB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071789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검색하여 홍보물에 안전성 검토건을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181623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9139085"/>
              </p:ext>
            </p:extLst>
          </p:nvPr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품목유형구분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통합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CSP012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품목유형구분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1: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2: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3: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원재료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4: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부재료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5: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저장품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6: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인테리어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06896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333128"/>
          <a:ext cx="11698678" cy="27691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265E4BE5-DF65-14A6-78DC-8B999C89BB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071789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검색하여 홍보물에 안전성 검토건을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43594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2162072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품목 조회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조건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 또는 명으로 조회 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LIKE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검색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SKU_NO /*SKU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*/ , KOR_NAME /*SKU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*/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조회결과 데이터가 있는 경우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조회화면에서는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다중선택이 가능하다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등록화면에서는 다중선택만 가능하다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부모창에 안전성검토 정보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번호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제목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를 전송한다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9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CSPMT050T /*SKU MASTER*/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CSPMT051T /*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제품상품마스터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*/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CSPMT052T /*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제품상품마스터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*/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SERPWEB.SFTY_XMNT_INFO/*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*/ &gt;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마스터와 안전성검토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SKU(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검토진행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제외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최신 건을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JOIN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사용하여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</a:t>
                      </a:r>
                      <a:endParaRPr kumimoji="0" lang="en-US" altLang="ko-KR" sz="9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58A81639-D44F-0D6A-00EC-52480D7320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071789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검색하여 홍보물에 안전성 검토건을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985468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8D2F38-03E8-B0DF-A7F1-D8AEF3A923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70420EFA-B9BF-1BFB-86B9-BF08B1F99A88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EE5C5967-46BA-2AA4-6288-760E094955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646832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프로모션 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프로모션에 포함된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검색을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하여 홍보물에 안전성검토를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A93C1A0B-6491-666E-7935-D4815BB25508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1159AEB-6047-0FE7-546A-7364D3785921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DC26A41E-F989-92D1-8075-9D0A97DF00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2917130"/>
              </p:ext>
            </p:extLst>
          </p:nvPr>
        </p:nvGraphicFramePr>
        <p:xfrm>
          <a:off x="9860045" y="1664954"/>
          <a:ext cx="2066563" cy="27804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자동 조회하지 않고 팝업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전달 받는 데이터는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번호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Like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 처리함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검색조건에 맞는 프로모션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최신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데이터 조회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리스트로부터 부모창으로 전달할 대상을 리스트로 추가한다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멀티 추가가능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부모창에 안전성검토 정보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번호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제목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를 전송한다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팝업을 닫는다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26693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검토진행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상태가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검토반려는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선택 비활성화한다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5219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등록화면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조회화면에서는 다중선택이 가능하도록 함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7909317"/>
                  </a:ext>
                </a:extLst>
              </a:tr>
            </a:tbl>
          </a:graphicData>
        </a:graphic>
      </p:graphicFrame>
      <p:sp>
        <p:nvSpPr>
          <p:cNvPr id="2" name="직사각형 23">
            <a:extLst>
              <a:ext uri="{FF2B5EF4-FFF2-40B4-BE49-F238E27FC236}">
                <a16:creationId xmlns:a16="http://schemas.microsoft.com/office/drawing/2014/main" id="{52AD36E3-67F8-69FE-92EE-B56569F68E21}"/>
              </a:ext>
            </a:extLst>
          </p:cNvPr>
          <p:cNvSpPr/>
          <p:nvPr/>
        </p:nvSpPr>
        <p:spPr>
          <a:xfrm>
            <a:off x="924816" y="1622779"/>
            <a:ext cx="5859162" cy="42350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7995651-D4B9-E481-4491-50B83E7604D5}"/>
              </a:ext>
            </a:extLst>
          </p:cNvPr>
          <p:cNvSpPr/>
          <p:nvPr/>
        </p:nvSpPr>
        <p:spPr bwMode="auto">
          <a:xfrm>
            <a:off x="924814" y="1622780"/>
            <a:ext cx="5859163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ko-KR" altLang="en-US" sz="10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맑은 고딕" pitchFamily="50" charset="-127"/>
                <a:ea typeface="맑은 고딕" pitchFamily="50" charset="-127"/>
              </a:rPr>
              <a:t>홍보물 프로모션 </a:t>
            </a:r>
            <a:r>
              <a:rPr kumimoji="1" lang="en-US" altLang="ko-KR" sz="10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맑은 고딕" pitchFamily="50" charset="-127"/>
                <a:ea typeface="맑은 고딕" pitchFamily="50" charset="-127"/>
              </a:rPr>
              <a:t>SKU</a:t>
            </a:r>
            <a:r>
              <a:rPr kumimoji="1" lang="ko-KR" altLang="en-US" sz="10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  <a:endParaRPr lang="en-US" altLang="ko-KR" sz="10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BE5BB87-1AFE-8562-F37C-4353759E59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9101730"/>
              </p:ext>
            </p:extLst>
          </p:nvPr>
        </p:nvGraphicFramePr>
        <p:xfrm>
          <a:off x="1033192" y="2988855"/>
          <a:ext cx="5588518" cy="1325880"/>
        </p:xfrm>
        <a:graphic>
          <a:graphicData uri="http://schemas.openxmlformats.org/drawingml/2006/table">
            <a:tbl>
              <a:tblPr/>
              <a:tblGrid>
                <a:gridCol w="302219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915847">
                  <a:extLst>
                    <a:ext uri="{9D8B030D-6E8A-4147-A177-3AD203B41FA5}">
                      <a16:colId xmlns:a16="http://schemas.microsoft.com/office/drawing/2014/main" val="717810661"/>
                    </a:ext>
                  </a:extLst>
                </a:gridCol>
                <a:gridCol w="915847">
                  <a:extLst>
                    <a:ext uri="{9D8B030D-6E8A-4147-A177-3AD203B41FA5}">
                      <a16:colId xmlns:a16="http://schemas.microsoft.com/office/drawing/2014/main" val="1174507083"/>
                    </a:ext>
                  </a:extLst>
                </a:gridCol>
                <a:gridCol w="915847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  <a:gridCol w="1124896">
                  <a:extLst>
                    <a:ext uri="{9D8B030D-6E8A-4147-A177-3AD203B41FA5}">
                      <a16:colId xmlns:a16="http://schemas.microsoft.com/office/drawing/2014/main" val="2725159443"/>
                    </a:ext>
                  </a:extLst>
                </a:gridCol>
                <a:gridCol w="706931">
                  <a:extLst>
                    <a:ext uri="{9D8B030D-6E8A-4147-A177-3AD203B41FA5}">
                      <a16:colId xmlns:a16="http://schemas.microsoft.com/office/drawing/2014/main" val="834198875"/>
                    </a:ext>
                  </a:extLst>
                </a:gridCol>
                <a:gridCol w="706931">
                  <a:extLst>
                    <a:ext uri="{9D8B030D-6E8A-4147-A177-3AD203B41FA5}">
                      <a16:colId xmlns:a16="http://schemas.microsoft.com/office/drawing/2014/main" val="186223414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프로모션코드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검토번호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▣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202310032323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Cherry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20231003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Cherry blossom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202310032324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Cherry2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20231003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Cherry blossom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842648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34921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3349919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CF464B6-41ED-0B87-5ED6-88CB091DB1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9327697"/>
              </p:ext>
            </p:extLst>
          </p:nvPr>
        </p:nvGraphicFramePr>
        <p:xfrm>
          <a:off x="1033193" y="2283580"/>
          <a:ext cx="2087512" cy="2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1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3069979"/>
                  </a:ext>
                </a:extLst>
              </a:tr>
            </a:tbl>
          </a:graphicData>
        </a:graphic>
      </p:graphicFrame>
      <p:pic>
        <p:nvPicPr>
          <p:cNvPr id="28" name="그림 27">
            <a:extLst>
              <a:ext uri="{FF2B5EF4-FFF2-40B4-BE49-F238E27FC236}">
                <a16:creationId xmlns:a16="http://schemas.microsoft.com/office/drawing/2014/main" id="{DD4D76B3-F5D0-426E-1CC8-36BB5F2BC4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73325" y="2293618"/>
            <a:ext cx="543161" cy="181054"/>
          </a:xfrm>
          <a:prstGeom prst="rect">
            <a:avLst/>
          </a:prstGeom>
        </p:spPr>
      </p:pic>
      <p:sp>
        <p:nvSpPr>
          <p:cNvPr id="4" name="십자형 3">
            <a:extLst>
              <a:ext uri="{FF2B5EF4-FFF2-40B4-BE49-F238E27FC236}">
                <a16:creationId xmlns:a16="http://schemas.microsoft.com/office/drawing/2014/main" id="{F93DA0EA-3BAE-0856-E78D-B0EB170B272A}"/>
              </a:ext>
            </a:extLst>
          </p:cNvPr>
          <p:cNvSpPr/>
          <p:nvPr/>
        </p:nvSpPr>
        <p:spPr>
          <a:xfrm rot="2700000" flipV="1">
            <a:off x="6507944" y="1695981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0" name="그룹 21">
            <a:extLst>
              <a:ext uri="{FF2B5EF4-FFF2-40B4-BE49-F238E27FC236}">
                <a16:creationId xmlns:a16="http://schemas.microsoft.com/office/drawing/2014/main" id="{37550266-3F57-3485-306F-9C8FEAFAF0C1}"/>
              </a:ext>
            </a:extLst>
          </p:cNvPr>
          <p:cNvGrpSpPr>
            <a:grpSpLocks/>
          </p:cNvGrpSpPr>
          <p:nvPr/>
        </p:nvGrpSpPr>
        <p:grpSpPr bwMode="auto">
          <a:xfrm>
            <a:off x="5847118" y="2075592"/>
            <a:ext cx="252413" cy="165100"/>
            <a:chOff x="3125393" y="1499499"/>
            <a:chExt cx="252000" cy="165260"/>
          </a:xfrm>
        </p:grpSpPr>
        <p:sp>
          <p:nvSpPr>
            <p:cNvPr id="31" name="모서리가 둥근 사각형 설명선 321">
              <a:extLst>
                <a:ext uri="{FF2B5EF4-FFF2-40B4-BE49-F238E27FC236}">
                  <a16:creationId xmlns:a16="http://schemas.microsoft.com/office/drawing/2014/main" id="{2776198C-3E11-6D25-71CA-727C4AF147A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TextBox 23">
              <a:extLst>
                <a:ext uri="{FF2B5EF4-FFF2-40B4-BE49-F238E27FC236}">
                  <a16:creationId xmlns:a16="http://schemas.microsoft.com/office/drawing/2014/main" id="{44217580-7E11-C567-B7DE-E832391C6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2DA319-E969-C1F3-5CB6-85EFBA18CE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7290697"/>
              </p:ext>
            </p:extLst>
          </p:nvPr>
        </p:nvGraphicFramePr>
        <p:xfrm>
          <a:off x="1032877" y="4707328"/>
          <a:ext cx="5483609" cy="1104900"/>
        </p:xfrm>
        <a:graphic>
          <a:graphicData uri="http://schemas.openxmlformats.org/drawingml/2006/table">
            <a:tbl>
              <a:tblPr/>
              <a:tblGrid>
                <a:gridCol w="814811">
                  <a:extLst>
                    <a:ext uri="{9D8B030D-6E8A-4147-A177-3AD203B41FA5}">
                      <a16:colId xmlns:a16="http://schemas.microsoft.com/office/drawing/2014/main" val="201938122"/>
                    </a:ext>
                  </a:extLst>
                </a:gridCol>
                <a:gridCol w="814811">
                  <a:extLst>
                    <a:ext uri="{9D8B030D-6E8A-4147-A177-3AD203B41FA5}">
                      <a16:colId xmlns:a16="http://schemas.microsoft.com/office/drawing/2014/main" val="3554524775"/>
                    </a:ext>
                  </a:extLst>
                </a:gridCol>
                <a:gridCol w="814811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  <a:gridCol w="1000798">
                  <a:extLst>
                    <a:ext uri="{9D8B030D-6E8A-4147-A177-3AD203B41FA5}">
                      <a16:colId xmlns:a16="http://schemas.microsoft.com/office/drawing/2014/main" val="2725159443"/>
                    </a:ext>
                  </a:extLst>
                </a:gridCol>
                <a:gridCol w="801712">
                  <a:extLst>
                    <a:ext uri="{9D8B030D-6E8A-4147-A177-3AD203B41FA5}">
                      <a16:colId xmlns:a16="http://schemas.microsoft.com/office/drawing/2014/main" val="1382078126"/>
                    </a:ext>
                  </a:extLst>
                </a:gridCol>
                <a:gridCol w="862514">
                  <a:extLst>
                    <a:ext uri="{9D8B030D-6E8A-4147-A177-3AD203B41FA5}">
                      <a16:colId xmlns:a16="http://schemas.microsoft.com/office/drawing/2014/main" val="3710159400"/>
                    </a:ext>
                  </a:extLst>
                </a:gridCol>
                <a:gridCol w="374152">
                  <a:extLst>
                    <a:ext uri="{9D8B030D-6E8A-4147-A177-3AD203B41FA5}">
                      <a16:colId xmlns:a16="http://schemas.microsoft.com/office/drawing/2014/main" val="1177128192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프로모션코드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검토번호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202310032323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Cherry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20231003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Cherry blossom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334991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1056"/>
                  </a:ext>
                </a:extLst>
              </a:tr>
            </a:tbl>
          </a:graphicData>
        </a:graphic>
      </p:graphicFrame>
      <p:pic>
        <p:nvPicPr>
          <p:cNvPr id="7" name="Picture 103">
            <a:extLst>
              <a:ext uri="{FF2B5EF4-FFF2-40B4-BE49-F238E27FC236}">
                <a16:creationId xmlns:a16="http://schemas.microsoft.com/office/drawing/2014/main" id="{7B69E9A3-C1A6-66D6-6652-25ABA7D0F3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 t="15633" r="9297"/>
          <a:stretch>
            <a:fillRect/>
          </a:stretch>
        </p:blipFill>
        <p:spPr bwMode="auto">
          <a:xfrm>
            <a:off x="3586113" y="4447378"/>
            <a:ext cx="265877" cy="1666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C7666F16-2905-C28C-2EEC-18B5169FC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2877" y="4391434"/>
            <a:ext cx="1752268" cy="226238"/>
          </a:xfrm>
          <a:prstGeom prst="rect">
            <a:avLst/>
          </a:prstGeom>
          <a:solidFill>
            <a:schemeClr val="bg1"/>
          </a:solidFill>
          <a:ln w="3175" algn="ctr">
            <a:noFill/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※ </a:t>
            </a:r>
            <a:r>
              <a:rPr lang="ko-KR" altLang="en-US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프로젝트를 선택하신 후 화살표를 눌러주세요</a:t>
            </a:r>
            <a:endParaRPr kumimoji="1" lang="ko-KR" altLang="en-US" sz="700" spc="-5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38" name="그룹 21">
            <a:extLst>
              <a:ext uri="{FF2B5EF4-FFF2-40B4-BE49-F238E27FC236}">
                <a16:creationId xmlns:a16="http://schemas.microsoft.com/office/drawing/2014/main" id="{9AC8E627-30AC-F010-0761-1020DF73C3C2}"/>
              </a:ext>
            </a:extLst>
          </p:cNvPr>
          <p:cNvGrpSpPr>
            <a:grpSpLocks/>
          </p:cNvGrpSpPr>
          <p:nvPr/>
        </p:nvGrpSpPr>
        <p:grpSpPr bwMode="auto">
          <a:xfrm>
            <a:off x="1002385" y="1833908"/>
            <a:ext cx="252413" cy="165100"/>
            <a:chOff x="3125393" y="1499499"/>
            <a:chExt cx="252000" cy="165260"/>
          </a:xfrm>
        </p:grpSpPr>
        <p:sp>
          <p:nvSpPr>
            <p:cNvPr id="39" name="모서리가 둥근 사각형 설명선 321">
              <a:extLst>
                <a:ext uri="{FF2B5EF4-FFF2-40B4-BE49-F238E27FC236}">
                  <a16:creationId xmlns:a16="http://schemas.microsoft.com/office/drawing/2014/main" id="{59CCDBC8-239B-61B4-AF35-01F780547F9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TextBox 23">
              <a:extLst>
                <a:ext uri="{FF2B5EF4-FFF2-40B4-BE49-F238E27FC236}">
                  <a16:creationId xmlns:a16="http://schemas.microsoft.com/office/drawing/2014/main" id="{BEE3C92E-16CB-4194-20E1-B1754B4281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sp>
        <p:nvSpPr>
          <p:cNvPr id="43" name="십자형 42">
            <a:extLst>
              <a:ext uri="{FF2B5EF4-FFF2-40B4-BE49-F238E27FC236}">
                <a16:creationId xmlns:a16="http://schemas.microsoft.com/office/drawing/2014/main" id="{BD9EB1EF-3DF7-17CB-2F67-4ECE19E99B02}"/>
              </a:ext>
            </a:extLst>
          </p:cNvPr>
          <p:cNvSpPr/>
          <p:nvPr/>
        </p:nvSpPr>
        <p:spPr>
          <a:xfrm rot="2700000" flipV="1">
            <a:off x="6239108" y="4988458"/>
            <a:ext cx="135427" cy="135427"/>
          </a:xfrm>
          <a:prstGeom prst="plus">
            <a:avLst>
              <a:gd name="adj" fmla="val 46500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169C53B-5E73-2812-46CC-8AC77914E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8123" y="2325233"/>
            <a:ext cx="1402164" cy="208446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>
              <a:defRPr/>
            </a:pPr>
            <a:r>
              <a:rPr lang="en-US" altLang="ko-KR" sz="700" b="0" i="0" u="none" strike="noStrike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Cherry blossom</a:t>
            </a:r>
            <a:endParaRPr lang="ko-KR" altLang="en-US" sz="700" b="0" i="0" u="none" strike="noStrike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" name="그룹 21">
            <a:extLst>
              <a:ext uri="{FF2B5EF4-FFF2-40B4-BE49-F238E27FC236}">
                <a16:creationId xmlns:a16="http://schemas.microsoft.com/office/drawing/2014/main" id="{EEAB45BD-D574-66B4-AAC9-671F979166BA}"/>
              </a:ext>
            </a:extLst>
          </p:cNvPr>
          <p:cNvGrpSpPr>
            <a:grpSpLocks/>
          </p:cNvGrpSpPr>
          <p:nvPr/>
        </p:nvGrpSpPr>
        <p:grpSpPr bwMode="auto">
          <a:xfrm>
            <a:off x="3568538" y="4214476"/>
            <a:ext cx="252413" cy="165100"/>
            <a:chOff x="3125393" y="1499499"/>
            <a:chExt cx="252000" cy="165260"/>
          </a:xfrm>
        </p:grpSpPr>
        <p:sp>
          <p:nvSpPr>
            <p:cNvPr id="15" name="모서리가 둥근 사각형 설명선 321">
              <a:extLst>
                <a:ext uri="{FF2B5EF4-FFF2-40B4-BE49-F238E27FC236}">
                  <a16:creationId xmlns:a16="http://schemas.microsoft.com/office/drawing/2014/main" id="{669A47D5-2B39-2F4D-2F43-31CDCBBD30A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TextBox 23">
              <a:extLst>
                <a:ext uri="{FF2B5EF4-FFF2-40B4-BE49-F238E27FC236}">
                  <a16:creationId xmlns:a16="http://schemas.microsoft.com/office/drawing/2014/main" id="{B16AC1C6-A2B6-64D4-065E-F0579BED9A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sp>
        <p:nvSpPr>
          <p:cNvPr id="17" name="모서리가 둥근 직사각형 55">
            <a:extLst>
              <a:ext uri="{FF2B5EF4-FFF2-40B4-BE49-F238E27FC236}">
                <a16:creationId xmlns:a16="http://schemas.microsoft.com/office/drawing/2014/main" id="{37D56AB4-D885-2D59-18F5-C4FA7417AF65}"/>
              </a:ext>
            </a:extLst>
          </p:cNvPr>
          <p:cNvSpPr/>
          <p:nvPr/>
        </p:nvSpPr>
        <p:spPr>
          <a:xfrm>
            <a:off x="1594940" y="2031257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sp>
        <p:nvSpPr>
          <p:cNvPr id="18" name="모서리가 둥근 직사각형 57">
            <a:extLst>
              <a:ext uri="{FF2B5EF4-FFF2-40B4-BE49-F238E27FC236}">
                <a16:creationId xmlns:a16="http://schemas.microsoft.com/office/drawing/2014/main" id="{7C226AD8-6781-BF79-DADA-5695DB16D94D}"/>
              </a:ext>
            </a:extLst>
          </p:cNvPr>
          <p:cNvSpPr/>
          <p:nvPr/>
        </p:nvSpPr>
        <p:spPr>
          <a:xfrm>
            <a:off x="1032877" y="2031257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선택</a:t>
            </a:r>
          </a:p>
        </p:txBody>
      </p:sp>
      <p:grpSp>
        <p:nvGrpSpPr>
          <p:cNvPr id="27" name="그룹 21">
            <a:extLst>
              <a:ext uri="{FF2B5EF4-FFF2-40B4-BE49-F238E27FC236}">
                <a16:creationId xmlns:a16="http://schemas.microsoft.com/office/drawing/2014/main" id="{1DF9B22E-28A9-FFA3-A0A1-BB256C794A7B}"/>
              </a:ext>
            </a:extLst>
          </p:cNvPr>
          <p:cNvGrpSpPr>
            <a:grpSpLocks/>
          </p:cNvGrpSpPr>
          <p:nvPr/>
        </p:nvGrpSpPr>
        <p:grpSpPr bwMode="auto">
          <a:xfrm>
            <a:off x="1541917" y="1848546"/>
            <a:ext cx="252413" cy="165100"/>
            <a:chOff x="3125393" y="1499499"/>
            <a:chExt cx="252000" cy="165260"/>
          </a:xfrm>
        </p:grpSpPr>
        <p:sp>
          <p:nvSpPr>
            <p:cNvPr id="29" name="모서리가 둥근 사각형 설명선 321">
              <a:extLst>
                <a:ext uri="{FF2B5EF4-FFF2-40B4-BE49-F238E27FC236}">
                  <a16:creationId xmlns:a16="http://schemas.microsoft.com/office/drawing/2014/main" id="{0DC82610-6BFA-8B6A-B7D2-9B1CDF2F486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23">
              <a:extLst>
                <a:ext uri="{FF2B5EF4-FFF2-40B4-BE49-F238E27FC236}">
                  <a16:creationId xmlns:a16="http://schemas.microsoft.com/office/drawing/2014/main" id="{B867CAFB-A16C-3C16-12D6-191803C47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grpSp>
        <p:nvGrpSpPr>
          <p:cNvPr id="20" name="그룹 21">
            <a:extLst>
              <a:ext uri="{FF2B5EF4-FFF2-40B4-BE49-F238E27FC236}">
                <a16:creationId xmlns:a16="http://schemas.microsoft.com/office/drawing/2014/main" id="{97040BF6-2D6F-C28B-21C3-116288EBEFD0}"/>
              </a:ext>
            </a:extLst>
          </p:cNvPr>
          <p:cNvGrpSpPr>
            <a:grpSpLocks/>
          </p:cNvGrpSpPr>
          <p:nvPr/>
        </p:nvGrpSpPr>
        <p:grpSpPr bwMode="auto">
          <a:xfrm>
            <a:off x="838181" y="3346450"/>
            <a:ext cx="252413" cy="165100"/>
            <a:chOff x="3125393" y="1499499"/>
            <a:chExt cx="252000" cy="165260"/>
          </a:xfrm>
        </p:grpSpPr>
        <p:sp>
          <p:nvSpPr>
            <p:cNvPr id="21" name="모서리가 둥근 사각형 설명선 321">
              <a:extLst>
                <a:ext uri="{FF2B5EF4-FFF2-40B4-BE49-F238E27FC236}">
                  <a16:creationId xmlns:a16="http://schemas.microsoft.com/office/drawing/2014/main" id="{FF061E98-0313-C45D-92AF-E4A7BA9DB00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3">
              <a:extLst>
                <a:ext uri="{FF2B5EF4-FFF2-40B4-BE49-F238E27FC236}">
                  <a16:creationId xmlns:a16="http://schemas.microsoft.com/office/drawing/2014/main" id="{7FE91EA9-2337-25CD-B9D2-D7888DBE2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1305264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4427440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SCKSA.SMK_PRMT_PROD_SKU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SMK_PRMT_PROD_SKU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PR_MCIS_PRMT_INTERFACE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참조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SCKTS.CSPMT050T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SKUMASTER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SCKSA.SMK_PRMT_MST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프로모션 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822241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4953257"/>
              </p:ext>
            </p:extLst>
          </p:nvPr>
        </p:nvGraphicFramePr>
        <p:xfrm>
          <a:off x="247260" y="5086409"/>
          <a:ext cx="11710849" cy="13845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8" name="Group 234">
            <a:extLst>
              <a:ext uri="{FF2B5EF4-FFF2-40B4-BE49-F238E27FC236}">
                <a16:creationId xmlns:a16="http://schemas.microsoft.com/office/drawing/2014/main" id="{FD9E8CF7-6BBC-8B8C-34C6-D9D4C5908B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71352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프로모션 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프로모션에 포함된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검색을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하여 홍보물에 안전성검토를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084511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9329019"/>
              </p:ext>
            </p:extLst>
          </p:nvPr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068960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333128"/>
          <a:ext cx="11698678" cy="3138288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9168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AEFBB889-0227-DF48-9004-3F8405BFA2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71352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프로모션 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프로모션에 포함된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검색을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하여 홍보물에 안전성검토를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502817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1141460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 조회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조건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 또는 명으로 조회 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LIKE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검색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조회결과  데이터가 있는 경우 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–&gt; 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조회 데이터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SKU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SKU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번호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프로모션명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프로모션코드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안전성검토번호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-&gt;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부모창으로 모두 전달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SERPWEB.SFTY_XMNT_INFO/*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*/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에서 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의 검토진행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상태가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검토반려는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조회되지 않는다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즉 홍보물 검토에 안정성검도의 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검토반려는</a:t>
                      </a:r>
                      <a:r>
                        <a:rPr kumimoji="0" lang="ko-KR" altLang="en-US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포함되지 않는다</a:t>
                      </a:r>
                      <a:endParaRPr kumimoji="0" lang="en-US" altLang="ko-KR" sz="9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10/20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만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 검색 팝업은 안전성검토 프로모션을 조회하여 부모창에 데이터 전달 역할을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화면의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팝업으로 활용함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B3B14484-1BFB-D717-D4A4-0073672463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71352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SFTY000120_P02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프로모션 검색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프로모션에 포함된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검색을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하여 홍보물에 안전성검토를 포함 시킨다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285505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직사각형 23">
            <a:extLst>
              <a:ext uri="{FF2B5EF4-FFF2-40B4-BE49-F238E27FC236}">
                <a16:creationId xmlns:a16="http://schemas.microsoft.com/office/drawing/2014/main" id="{CDC9A397-EFC3-3D8C-FD27-7DC5BD7060CA}"/>
              </a:ext>
            </a:extLst>
          </p:cNvPr>
          <p:cNvSpPr/>
          <p:nvPr/>
        </p:nvSpPr>
        <p:spPr>
          <a:xfrm>
            <a:off x="876032" y="2045055"/>
            <a:ext cx="8503358" cy="315834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8847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홍보물검토 기본정보 수정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기본정보에 대한 내역을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/>
        </p:nvGraphicFramePr>
        <p:xfrm>
          <a:off x="9858031" y="1664954"/>
          <a:ext cx="2076967" cy="2525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64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0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 검토의 기본정보를 출력한다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변경되어진 내역 저장한다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검토자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검토부서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에게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EP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메일 전송한다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팝업을 닫는다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2705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사용자 검색 팝업을 오픈하며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선택된 대상자를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리스트에 추가한다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242523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리스트 항목에서 선택되어진 건을 삭제한다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94061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저장버튼 클릭 시 저장여부 문의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식품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비식품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항목이 달라질 수 있으므로 분리해서 사용 제안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91119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8F95AF54-D54E-C38F-E492-E563ECB0FC9B}"/>
              </a:ext>
            </a:extLst>
          </p:cNvPr>
          <p:cNvSpPr/>
          <p:nvPr/>
        </p:nvSpPr>
        <p:spPr bwMode="auto">
          <a:xfrm>
            <a:off x="876030" y="2045056"/>
            <a:ext cx="8503358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홍보물 검토 기본정보 수정</a:t>
            </a:r>
            <a:endParaRPr lang="en-US" altLang="ko-KR" sz="10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십자형 6">
            <a:extLst>
              <a:ext uri="{FF2B5EF4-FFF2-40B4-BE49-F238E27FC236}">
                <a16:creationId xmlns:a16="http://schemas.microsoft.com/office/drawing/2014/main" id="{56612525-7CF4-9C74-A36B-0B8DA2C323D9}"/>
              </a:ext>
            </a:extLst>
          </p:cNvPr>
          <p:cNvSpPr/>
          <p:nvPr/>
        </p:nvSpPr>
        <p:spPr>
          <a:xfrm rot="2700000" flipV="1">
            <a:off x="9194540" y="2121676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6DE1E1E-DE11-7BA5-CB2B-C5F8F21B40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950561"/>
              </p:ext>
            </p:extLst>
          </p:nvPr>
        </p:nvGraphicFramePr>
        <p:xfrm>
          <a:off x="940977" y="2971481"/>
          <a:ext cx="8349812" cy="21074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98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62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9256">
                  <a:extLst>
                    <a:ext uri="{9D8B030D-6E8A-4147-A177-3AD203B41FA5}">
                      <a16:colId xmlns:a16="http://schemas.microsoft.com/office/drawing/2014/main" val="2950010417"/>
                    </a:ext>
                  </a:extLst>
                </a:gridCol>
                <a:gridCol w="1692998">
                  <a:extLst>
                    <a:ext uri="{9D8B030D-6E8A-4147-A177-3AD203B41FA5}">
                      <a16:colId xmlns:a16="http://schemas.microsoft.com/office/drawing/2014/main" val="510988621"/>
                    </a:ext>
                  </a:extLst>
                </a:gridCol>
                <a:gridCol w="1113576">
                  <a:extLst>
                    <a:ext uri="{9D8B030D-6E8A-4147-A177-3AD203B41FA5}">
                      <a16:colId xmlns:a16="http://schemas.microsoft.com/office/drawing/2014/main" val="1062137084"/>
                    </a:ext>
                  </a:extLst>
                </a:gridCol>
                <a:gridCol w="1857894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  <a:endParaRPr kumimoji="1" lang="ko-KR" altLang="en-US" sz="700" b="1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홍보물유형</a:t>
                      </a:r>
                      <a:endParaRPr kumimoji="1" lang="ko-KR" altLang="en-US" sz="700" b="1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</a:t>
                      </a:r>
                      <a:endParaRPr kumimoji="1" lang="ko-KR" altLang="en-US" sz="700" b="1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01589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1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</a:t>
                      </a:r>
                      <a:endParaRPr kumimoji="1" lang="ko-KR" altLang="en-US" sz="700" b="1" kern="1200" spc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프로모션명</a:t>
                      </a:r>
                      <a:endParaRPr kumimoji="1" lang="ko-KR" altLang="en-US" sz="700" b="1" kern="1200" spc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1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긴급처리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endPara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endParaRPr kumimoji="1" lang="ko-KR" altLang="en-US" sz="700" b="1" kern="1200" spc="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1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1" kern="1200" spc="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  <a:endPara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1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1" kern="1200" spc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endParaRPr kumimoji="1" lang="ko-KR" altLang="en-US" sz="700" b="1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99698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기타 전달</a:t>
                      </a:r>
                      <a:r>
                        <a:rPr kumimoji="1" lang="en-US" altLang="ko-KR" sz="700" b="1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1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요청사항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bg1">
                            <a:lumMod val="8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69164558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6A7D9F1A-9147-612E-CFAA-FE0E2961ED07}"/>
              </a:ext>
            </a:extLst>
          </p:cNvPr>
          <p:cNvGrpSpPr/>
          <p:nvPr/>
        </p:nvGrpSpPr>
        <p:grpSpPr>
          <a:xfrm>
            <a:off x="2118969" y="2992074"/>
            <a:ext cx="1052721" cy="226238"/>
            <a:chOff x="4829752" y="1615849"/>
            <a:chExt cx="1052721" cy="22623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C3A9523A-F58C-5D7A-C5FD-23887F81B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752" y="1615849"/>
              <a:ext cx="105272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코어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프로모션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특화</a:t>
              </a:r>
              <a:r>
                <a:rPr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8" name="Picture 103">
              <a:extLst>
                <a:ext uri="{FF2B5EF4-FFF2-40B4-BE49-F238E27FC236}">
                  <a16:creationId xmlns:a16="http://schemas.microsoft.com/office/drawing/2014/main" id="{0A4A8A9E-07C9-5466-E646-076E25F18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5687853" y="1679877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DF9FA503-50F8-E972-CE0A-D00CC306C990}"/>
              </a:ext>
            </a:extLst>
          </p:cNvPr>
          <p:cNvSpPr txBox="1"/>
          <p:nvPr/>
        </p:nvSpPr>
        <p:spPr>
          <a:xfrm>
            <a:off x="864996" y="2703345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기본정보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690150-720A-F31C-D6EE-D3AA3439B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852" y="243693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550205B4-0CB2-82FB-A508-9FB7840D9B36}"/>
              </a:ext>
            </a:extLst>
          </p:cNvPr>
          <p:cNvGrpSpPr/>
          <p:nvPr/>
        </p:nvGrpSpPr>
        <p:grpSpPr>
          <a:xfrm>
            <a:off x="4825013" y="3021518"/>
            <a:ext cx="1052721" cy="226238"/>
            <a:chOff x="4829752" y="1615849"/>
            <a:chExt cx="1052721" cy="226238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1D085CEC-D48C-D8AA-E73A-BB3498FCD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752" y="1615849"/>
              <a:ext cx="105272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lvl="0" defTabSz="914465" fontAlgn="auto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매장 게시물</a:t>
              </a:r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매장 메뉴</a:t>
              </a:r>
              <a:endParaRPr kumimoji="0" lang="en-US" altLang="ko-KR" sz="6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41" name="Picture 103">
              <a:extLst>
                <a:ext uri="{FF2B5EF4-FFF2-40B4-BE49-F238E27FC236}">
                  <a16:creationId xmlns:a16="http://schemas.microsoft.com/office/drawing/2014/main" id="{B86795D8-FFBE-69DB-1BF9-B41223A56D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 t="15633" r="9297"/>
            <a:stretch>
              <a:fillRect/>
            </a:stretch>
          </p:blipFill>
          <p:spPr bwMode="auto">
            <a:xfrm>
              <a:off x="5687853" y="1679877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9E1E836-73AB-2E49-37A8-5F449F729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5457" y="4834487"/>
            <a:ext cx="6738672" cy="226238"/>
          </a:xfrm>
          <a:prstGeom prst="rect">
            <a:avLst/>
          </a:prstGeom>
          <a:noFill/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31F29ED2-813E-4DB1-40C2-BAB50B050CFA}"/>
              </a:ext>
            </a:extLst>
          </p:cNvPr>
          <p:cNvGrpSpPr/>
          <p:nvPr/>
        </p:nvGrpSpPr>
        <p:grpSpPr>
          <a:xfrm>
            <a:off x="7508373" y="3011966"/>
            <a:ext cx="1608215" cy="216000"/>
            <a:chOff x="-3636994" y="2085036"/>
            <a:chExt cx="1688476" cy="216000"/>
          </a:xfrm>
        </p:grpSpPr>
        <p:grpSp>
          <p:nvGrpSpPr>
            <p:cNvPr id="57" name="그룹 75">
              <a:extLst>
                <a:ext uri="{FF2B5EF4-FFF2-40B4-BE49-F238E27FC236}">
                  <a16:creationId xmlns:a16="http://schemas.microsoft.com/office/drawing/2014/main" id="{0A052B5A-C3E5-21CC-74B5-53F912D31AD4}"/>
                </a:ext>
              </a:extLst>
            </p:cNvPr>
            <p:cNvGrpSpPr/>
            <p:nvPr/>
          </p:nvGrpSpPr>
          <p:grpSpPr>
            <a:xfrm>
              <a:off x="-3636994" y="2085036"/>
              <a:ext cx="792000" cy="216000"/>
              <a:chOff x="3834532" y="2772519"/>
              <a:chExt cx="792000" cy="216000"/>
            </a:xfrm>
          </p:grpSpPr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8D04FF35-6DC4-B66D-A1EC-E15BF8C84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2023-12-16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63" name="Picture 8">
                <a:extLst>
                  <a:ext uri="{FF2B5EF4-FFF2-40B4-BE49-F238E27FC236}">
                    <a16:creationId xmlns:a16="http://schemas.microsoft.com/office/drawing/2014/main" id="{6331346B-32AF-DA8B-8DD5-677F660DE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" name="그룹 75">
              <a:extLst>
                <a:ext uri="{FF2B5EF4-FFF2-40B4-BE49-F238E27FC236}">
                  <a16:creationId xmlns:a16="http://schemas.microsoft.com/office/drawing/2014/main" id="{3011756B-CE30-0E1C-CB2C-A4FD003A4F41}"/>
                </a:ext>
              </a:extLst>
            </p:cNvPr>
            <p:cNvGrpSpPr/>
            <p:nvPr/>
          </p:nvGrpSpPr>
          <p:grpSpPr>
            <a:xfrm>
              <a:off x="-2740518" y="2085036"/>
              <a:ext cx="792000" cy="216000"/>
              <a:chOff x="3834532" y="2772519"/>
              <a:chExt cx="792000" cy="216000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32537AC6-C218-4EC9-FA6F-F1613D7C6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2024-01-15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61" name="Picture 8">
                <a:extLst>
                  <a:ext uri="{FF2B5EF4-FFF2-40B4-BE49-F238E27FC236}">
                    <a16:creationId xmlns:a16="http://schemas.microsoft.com/office/drawing/2014/main" id="{30AC8964-938E-436A-9F36-793D9F666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CC5ED66D-002E-DA0C-98BD-E64E8CCEE2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24015" y="2139175"/>
              <a:ext cx="62518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~</a:t>
              </a:r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grpSp>
        <p:nvGrpSpPr>
          <p:cNvPr id="64" name="그룹 21">
            <a:extLst>
              <a:ext uri="{FF2B5EF4-FFF2-40B4-BE49-F238E27FC236}">
                <a16:creationId xmlns:a16="http://schemas.microsoft.com/office/drawing/2014/main" id="{D2F58C53-3848-C5F6-37A5-CF757CDBD6A7}"/>
              </a:ext>
            </a:extLst>
          </p:cNvPr>
          <p:cNvGrpSpPr>
            <a:grpSpLocks/>
          </p:cNvGrpSpPr>
          <p:nvPr/>
        </p:nvGrpSpPr>
        <p:grpSpPr bwMode="auto">
          <a:xfrm>
            <a:off x="807746" y="2283453"/>
            <a:ext cx="252413" cy="165100"/>
            <a:chOff x="3125393" y="1499499"/>
            <a:chExt cx="252000" cy="165260"/>
          </a:xfrm>
        </p:grpSpPr>
        <p:sp>
          <p:nvSpPr>
            <p:cNvPr id="65" name="모서리가 둥근 사각형 설명선 321">
              <a:extLst>
                <a:ext uri="{FF2B5EF4-FFF2-40B4-BE49-F238E27FC236}">
                  <a16:creationId xmlns:a16="http://schemas.microsoft.com/office/drawing/2014/main" id="{ED09372B-7E40-2886-3A22-3EDB5CB6E58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23">
              <a:extLst>
                <a:ext uri="{FF2B5EF4-FFF2-40B4-BE49-F238E27FC236}">
                  <a16:creationId xmlns:a16="http://schemas.microsoft.com/office/drawing/2014/main" id="{BCFAC960-7B2A-6229-81CF-C6483314A7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sp>
        <p:nvSpPr>
          <p:cNvPr id="10" name="양쪽 모서리가 둥근 사각형 56">
            <a:extLst>
              <a:ext uri="{FF2B5EF4-FFF2-40B4-BE49-F238E27FC236}">
                <a16:creationId xmlns:a16="http://schemas.microsoft.com/office/drawing/2014/main" id="{C61FE04A-C51D-5739-367C-49D3418F2F7A}"/>
              </a:ext>
            </a:extLst>
          </p:cNvPr>
          <p:cNvSpPr/>
          <p:nvPr/>
        </p:nvSpPr>
        <p:spPr>
          <a:xfrm>
            <a:off x="940977" y="5687394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변경내역 저장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13" name="그룹 21">
            <a:extLst>
              <a:ext uri="{FF2B5EF4-FFF2-40B4-BE49-F238E27FC236}">
                <a16:creationId xmlns:a16="http://schemas.microsoft.com/office/drawing/2014/main" id="{9C37962F-75CE-F61F-CDCC-F1AC9645E07A}"/>
              </a:ext>
            </a:extLst>
          </p:cNvPr>
          <p:cNvGrpSpPr>
            <a:grpSpLocks/>
          </p:cNvGrpSpPr>
          <p:nvPr/>
        </p:nvGrpSpPr>
        <p:grpSpPr bwMode="auto">
          <a:xfrm>
            <a:off x="906291" y="5482693"/>
            <a:ext cx="252413" cy="165100"/>
            <a:chOff x="3125393" y="1499499"/>
            <a:chExt cx="252000" cy="165260"/>
          </a:xfrm>
        </p:grpSpPr>
        <p:sp>
          <p:nvSpPr>
            <p:cNvPr id="14" name="모서리가 둥근 사각형 설명선 321">
              <a:extLst>
                <a:ext uri="{FF2B5EF4-FFF2-40B4-BE49-F238E27FC236}">
                  <a16:creationId xmlns:a16="http://schemas.microsoft.com/office/drawing/2014/main" id="{12339BCC-9972-F095-503A-FAF8F0448A5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TextBox 23">
              <a:extLst>
                <a:ext uri="{FF2B5EF4-FFF2-40B4-BE49-F238E27FC236}">
                  <a16:creationId xmlns:a16="http://schemas.microsoft.com/office/drawing/2014/main" id="{750F2D22-1179-EAD0-09F8-89CE1F4F36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EAD95C7-179C-E98B-4B4F-77BAEB0EC39D}"/>
              </a:ext>
            </a:extLst>
          </p:cNvPr>
          <p:cNvSpPr/>
          <p:nvPr/>
        </p:nvSpPr>
        <p:spPr>
          <a:xfrm>
            <a:off x="948497" y="6236416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6ADDAD10-1D3C-2813-80DA-CCE0F105B516}"/>
              </a:ext>
            </a:extLst>
          </p:cNvPr>
          <p:cNvSpPr/>
          <p:nvPr/>
        </p:nvSpPr>
        <p:spPr>
          <a:xfrm>
            <a:off x="1488497" y="6236416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427BB62-991F-C606-98EE-4AA4ECCB7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8060" y="3293194"/>
            <a:ext cx="1363990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프로모션명</a:t>
            </a: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B3DA15C0-CC20-3CA8-9FC4-5A92792DC60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15457" y="3583479"/>
            <a:ext cx="1217454" cy="216000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D2DD12BB-8ECC-A517-B858-FB8D1093265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7360" y="3619792"/>
            <a:ext cx="1276112" cy="226407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0F9061B4-3F5D-5DF4-2AB2-F279E21FD8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73087" y="3591988"/>
            <a:ext cx="1322913" cy="234710"/>
          </a:xfrm>
          <a:prstGeom prst="rect">
            <a:avLst/>
          </a:prstGeom>
        </p:spPr>
      </p:pic>
      <p:sp>
        <p:nvSpPr>
          <p:cNvPr id="12" name="직사각형 11">
            <a:extLst>
              <a:ext uri="{FF2B5EF4-FFF2-40B4-BE49-F238E27FC236}">
                <a16:creationId xmlns:a16="http://schemas.microsoft.com/office/drawing/2014/main" id="{B60D91D1-CAF2-D800-B557-328CB9DD5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3900" y="4615419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참조삭제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439F400-CF5E-7E6D-6275-A88B8FA4BA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2921" y="432194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참조추가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D81F679F-8EE0-B5E6-9FDD-B18387CADE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8551791"/>
              </p:ext>
            </p:extLst>
          </p:nvPr>
        </p:nvGraphicFramePr>
        <p:xfrm>
          <a:off x="2115457" y="3965397"/>
          <a:ext cx="5639546" cy="662940"/>
        </p:xfrm>
        <a:graphic>
          <a:graphicData uri="http://schemas.openxmlformats.org/drawingml/2006/table">
            <a:tbl>
              <a:tblPr/>
              <a:tblGrid>
                <a:gridCol w="695261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1460462705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998348012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grpSp>
        <p:nvGrpSpPr>
          <p:cNvPr id="23" name="그룹 21">
            <a:extLst>
              <a:ext uri="{FF2B5EF4-FFF2-40B4-BE49-F238E27FC236}">
                <a16:creationId xmlns:a16="http://schemas.microsoft.com/office/drawing/2014/main" id="{81DF3982-1C61-332D-E67D-F82085279E19}"/>
              </a:ext>
            </a:extLst>
          </p:cNvPr>
          <p:cNvGrpSpPr>
            <a:grpSpLocks/>
          </p:cNvGrpSpPr>
          <p:nvPr/>
        </p:nvGrpSpPr>
        <p:grpSpPr bwMode="auto">
          <a:xfrm>
            <a:off x="7989186" y="4132708"/>
            <a:ext cx="252413" cy="165100"/>
            <a:chOff x="3125393" y="1499499"/>
            <a:chExt cx="252000" cy="165260"/>
          </a:xfrm>
        </p:grpSpPr>
        <p:sp>
          <p:nvSpPr>
            <p:cNvPr id="24" name="모서리가 둥근 사각형 설명선 321">
              <a:extLst>
                <a:ext uri="{FF2B5EF4-FFF2-40B4-BE49-F238E27FC236}">
                  <a16:creationId xmlns:a16="http://schemas.microsoft.com/office/drawing/2014/main" id="{DCD637D5-7216-524B-3A94-BD1305A7E43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3">
              <a:extLst>
                <a:ext uri="{FF2B5EF4-FFF2-40B4-BE49-F238E27FC236}">
                  <a16:creationId xmlns:a16="http://schemas.microsoft.com/office/drawing/2014/main" id="{6031DD7A-D9FD-AB85-EFB9-57D7D0A358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26" name="그룹 21">
            <a:extLst>
              <a:ext uri="{FF2B5EF4-FFF2-40B4-BE49-F238E27FC236}">
                <a16:creationId xmlns:a16="http://schemas.microsoft.com/office/drawing/2014/main" id="{DB360720-BFC0-AC60-8703-E9077173BF5A}"/>
              </a:ext>
            </a:extLst>
          </p:cNvPr>
          <p:cNvGrpSpPr>
            <a:grpSpLocks/>
          </p:cNvGrpSpPr>
          <p:nvPr/>
        </p:nvGrpSpPr>
        <p:grpSpPr bwMode="auto">
          <a:xfrm>
            <a:off x="7989856" y="4423845"/>
            <a:ext cx="252413" cy="165100"/>
            <a:chOff x="3125393" y="1499499"/>
            <a:chExt cx="252000" cy="165260"/>
          </a:xfrm>
        </p:grpSpPr>
        <p:sp>
          <p:nvSpPr>
            <p:cNvPr id="27" name="모서리가 둥근 사각형 설명선 321">
              <a:extLst>
                <a:ext uri="{FF2B5EF4-FFF2-40B4-BE49-F238E27FC236}">
                  <a16:creationId xmlns:a16="http://schemas.microsoft.com/office/drawing/2014/main" id="{B4D6C428-DD60-B144-71D5-6F044B616EE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3">
              <a:extLst>
                <a:ext uri="{FF2B5EF4-FFF2-40B4-BE49-F238E27FC236}">
                  <a16:creationId xmlns:a16="http://schemas.microsoft.com/office/drawing/2014/main" id="{DD75C9AE-0E03-F762-1A5E-232999886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sp>
        <p:nvSpPr>
          <p:cNvPr id="29" name="모서리가 둥근 직사각형 55">
            <a:extLst>
              <a:ext uri="{FF2B5EF4-FFF2-40B4-BE49-F238E27FC236}">
                <a16:creationId xmlns:a16="http://schemas.microsoft.com/office/drawing/2014/main" id="{1C6560D9-D9A2-216F-A7FC-BED2314FA4F1}"/>
              </a:ext>
            </a:extLst>
          </p:cNvPr>
          <p:cNvSpPr/>
          <p:nvPr/>
        </p:nvSpPr>
        <p:spPr>
          <a:xfrm>
            <a:off x="1503040" y="2423674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grpSp>
        <p:nvGrpSpPr>
          <p:cNvPr id="46" name="그룹 21">
            <a:extLst>
              <a:ext uri="{FF2B5EF4-FFF2-40B4-BE49-F238E27FC236}">
                <a16:creationId xmlns:a16="http://schemas.microsoft.com/office/drawing/2014/main" id="{D9AE786C-147A-763E-42E7-73535994D020}"/>
              </a:ext>
            </a:extLst>
          </p:cNvPr>
          <p:cNvGrpSpPr>
            <a:grpSpLocks/>
          </p:cNvGrpSpPr>
          <p:nvPr/>
        </p:nvGrpSpPr>
        <p:grpSpPr bwMode="auto">
          <a:xfrm>
            <a:off x="1447257" y="2283453"/>
            <a:ext cx="252413" cy="165100"/>
            <a:chOff x="3125393" y="1499499"/>
            <a:chExt cx="252000" cy="165260"/>
          </a:xfrm>
        </p:grpSpPr>
        <p:sp>
          <p:nvSpPr>
            <p:cNvPr id="47" name="모서리가 둥근 사각형 설명선 321">
              <a:extLst>
                <a:ext uri="{FF2B5EF4-FFF2-40B4-BE49-F238E27FC236}">
                  <a16:creationId xmlns:a16="http://schemas.microsoft.com/office/drawing/2014/main" id="{72679DC6-ECA0-110D-D127-DD0FA6EA3AE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23">
              <a:extLst>
                <a:ext uri="{FF2B5EF4-FFF2-40B4-BE49-F238E27FC236}">
                  <a16:creationId xmlns:a16="http://schemas.microsoft.com/office/drawing/2014/main" id="{434A87E2-0F31-D579-7E73-83183A4B19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pic>
        <p:nvPicPr>
          <p:cNvPr id="33" name="그림 32">
            <a:extLst>
              <a:ext uri="{FF2B5EF4-FFF2-40B4-BE49-F238E27FC236}">
                <a16:creationId xmlns:a16="http://schemas.microsoft.com/office/drawing/2014/main" id="{1422BD77-3EFF-1C9C-FF31-B68E1AA8BC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15457" y="3311492"/>
            <a:ext cx="1276112" cy="2264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640015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DB5E2-6FF0-4201-851C-FCD42B6C87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2A80D2FB-329C-E08A-228A-DA92F3244D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5802129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SERPWEB.SFTY_XMNT_RFRNR_INFO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50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FBB0E325-C236-79B2-D455-DD6311368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D7E00C84-7247-FDD8-071F-59F426ACEC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595899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A66B6164-0061-8B3E-6F82-6502BAEB77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8408908"/>
              </p:ext>
            </p:extLst>
          </p:nvPr>
        </p:nvGraphicFramePr>
        <p:xfrm>
          <a:off x="247260" y="4860067"/>
          <a:ext cx="11710849" cy="13845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738CA818-A98E-EF37-F1E0-B0C56C8922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75424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홍보물검토 기본정보 수정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기본정보에 대한 내역을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554084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6D221B-5279-5134-BE8C-F8FB719FB1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053B4F-B7CA-C8A9-E8E8-3A33CB99F5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9953058"/>
              </p:ext>
            </p:extLst>
          </p:nvPr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881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8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메뉴판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사이렌오더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상세페이지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(M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D),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임원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EC21E0D8-95BE-3D04-0606-3340461CFE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3BF4C1FE-1111-16AE-62C5-4987B8AC67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370964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280E46A9-3602-24D9-D8B2-077BDF7079CF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635132"/>
          <a:ext cx="11698678" cy="27691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1D31D003-3110-C8C0-8834-E924528532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75424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홍보물검토 기본정보 수정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기본정보에 대한 내역을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160126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BA47A3-525E-7AD5-F9B5-FCF587EC85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3F3CBD72-CAD4-055F-31F7-7ED13604C2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4297577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요청 제품정보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팝업 오픈 시 검토 요청 건에 대한 홍보물 정보를 조회하여 출력한다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요청 제품정보 저장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 요청 건에 대한 제품 정보를 수정하여 저장한다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 검토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SFTY_XMNT_INFO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update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권한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검토요청 후에 제품정보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변경시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검토자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요청자에게 메일 발송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부서제외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0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안전성 검토와 동일</a:t>
                      </a:r>
                      <a:endParaRPr kumimoji="1" lang="en-US" altLang="ko-KR" sz="900" b="0" i="0" u="none" strike="sng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-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검토 중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검토진행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항목에 대한 수정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보완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변경 발생시 별도 메일 발송 없이 현재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구현된것과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동일하게 붉은 아이콘 형태로만 알림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(+EP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알림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-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참조자는 메일 발송 제외임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EP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알림만 발송</a:t>
                      </a:r>
                      <a:endParaRPr lang="en-US" altLang="ko-KR" sz="900" b="0" i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제품 정보 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SFTY_XMNT_ITEM_INFO_HIST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테이블에 수정 내용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insert 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PRMMTR_TYPE_CODE(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추가 저장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PRDC_CLSFC_CODE(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제품분류코드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제조구분코드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(MNFCT_DVSN_CODE)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제외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73388AE4-F108-D096-8BA2-A3C6AAB1315B}"/>
              </a:ext>
            </a:extLst>
          </p:cNvPr>
          <p:cNvSpPr/>
          <p:nvPr/>
        </p:nvSpPr>
        <p:spPr bwMode="auto">
          <a:xfrm>
            <a:off x="6754614" y="4334007"/>
            <a:ext cx="2326012" cy="1788574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EP/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이메일 알림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정보수정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endParaRPr lang="en-US" altLang="ko-KR" sz="900" dirty="0">
              <a:effectLst/>
              <a:latin typeface="Malgun Gothic" panose="020B0503020000020004" pitchFamily="50" charset="-127"/>
              <a:ea typeface="Malgun Gothic" panose="020B0503020000020004" pitchFamily="50" charset="-127"/>
            </a:endParaRPr>
          </a:p>
          <a:p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문구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)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"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검토 번호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0000000)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의 기본정보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/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제품정보가 수정되었습니다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.“</a:t>
            </a:r>
          </a:p>
          <a:p>
            <a:endParaRPr lang="en-US" altLang="ko-KR" sz="900" dirty="0">
              <a:effectLst/>
              <a:latin typeface="Malgun Gothic" panose="020B0503020000020004" pitchFamily="50" charset="-127"/>
              <a:ea typeface="Malgun Gothic" panose="020B0503020000020004" pitchFamily="50" charset="-127"/>
            </a:endParaRPr>
          </a:p>
          <a:p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예시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(9300001),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기본정보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/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제품정보가 수정되었습니다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.“</a:t>
            </a:r>
          </a:p>
          <a:p>
            <a:endParaRPr lang="ko-KR" altLang="en-US" sz="900" dirty="0"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A78C5201-F563-F32E-B803-CB6DB082A4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754240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홍보물검토 기본정보 수정 팝업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기본정보에 대한 내역을 수정한다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717418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680653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기본정보 변경 이력 팝업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기본정보의 변경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022956"/>
              </p:ext>
            </p:extLst>
          </p:nvPr>
        </p:nvGraphicFramePr>
        <p:xfrm>
          <a:off x="9848946" y="1664954"/>
          <a:ext cx="2067327" cy="24290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21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검색조건의 기간으로 자동 조회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 기존정보 변경 이력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팝을을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같이 사용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홍보물유형 컬럼 추가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팝업을 닫는다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초기 세팅 기준일  안전성 검사 요청일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부터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현 날짜로 설정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변경일자 기준으로 조회 처리한다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최종 이력이 상위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검토에서는 제품분류</a:t>
                      </a:r>
                      <a:r>
                        <a:rPr lang="en-US" altLang="ko-KR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7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제조구분컬럼을</a:t>
                      </a: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‘-’</a:t>
                      </a: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32696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검토에서는 홍보물유형 컬럼 출력</a:t>
                      </a:r>
                      <a:endParaRPr lang="en-US" altLang="ko-KR" sz="7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</a:t>
                      </a:r>
                      <a:r>
                        <a:rPr lang="en-US" altLang="ko-KR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검토에서는 </a:t>
                      </a:r>
                      <a:r>
                        <a:rPr lang="en-US" altLang="ko-KR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‘-’</a:t>
                      </a: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5390609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9F8B0C43-35A4-F112-FD2A-A6C93F04415F}"/>
              </a:ext>
            </a:extLst>
          </p:cNvPr>
          <p:cNvGrpSpPr/>
          <p:nvPr/>
        </p:nvGrpSpPr>
        <p:grpSpPr>
          <a:xfrm>
            <a:off x="815653" y="2102907"/>
            <a:ext cx="8437404" cy="3612439"/>
            <a:chOff x="2393577" y="1691605"/>
            <a:chExt cx="5513791" cy="4801397"/>
          </a:xfrm>
        </p:grpSpPr>
        <p:sp>
          <p:nvSpPr>
            <p:cNvPr id="5" name="직사각형 23">
              <a:extLst>
                <a:ext uri="{FF2B5EF4-FFF2-40B4-BE49-F238E27FC236}">
                  <a16:creationId xmlns:a16="http://schemas.microsoft.com/office/drawing/2014/main" id="{DFF45511-6018-F5A8-1EE6-418E4D46ED68}"/>
                </a:ext>
              </a:extLst>
            </p:cNvPr>
            <p:cNvSpPr/>
            <p:nvPr/>
          </p:nvSpPr>
          <p:spPr>
            <a:xfrm>
              <a:off x="2393578" y="1691605"/>
              <a:ext cx="5513790" cy="480139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59551C10-FC74-CF81-350A-78FF4FCD4C47}"/>
                </a:ext>
              </a:extLst>
            </p:cNvPr>
            <p:cNvSpPr/>
            <p:nvPr/>
          </p:nvSpPr>
          <p:spPr bwMode="auto">
            <a:xfrm>
              <a:off x="2393577" y="1691605"/>
              <a:ext cx="5513791" cy="360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fontAlgn="auto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기본정보 변경 이력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000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식품 </a:t>
              </a:r>
              <a:r>
                <a:rPr lang="en-US" altLang="ko-KR" sz="1000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/ </a:t>
              </a:r>
              <a:r>
                <a:rPr lang="ko-KR" altLang="en-US" sz="1000" dirty="0" err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비식품</a:t>
              </a:r>
              <a:r>
                <a:rPr lang="ko-KR" altLang="en-US" sz="1000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1000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/ </a:t>
              </a:r>
              <a:r>
                <a:rPr lang="ko-KR" altLang="en-US" sz="1000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홍보물 </a:t>
              </a:r>
              <a:r>
                <a:rPr lang="en-US" altLang="ko-KR" sz="1000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endParaRPr lang="en-US" altLang="ko-KR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5242034-37D0-261A-37AF-B730B94049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6779359"/>
              </p:ext>
            </p:extLst>
          </p:nvPr>
        </p:nvGraphicFramePr>
        <p:xfrm>
          <a:off x="910474" y="3251770"/>
          <a:ext cx="8245783" cy="2430780"/>
        </p:xfrm>
        <a:graphic>
          <a:graphicData uri="http://schemas.openxmlformats.org/drawingml/2006/table">
            <a:tbl>
              <a:tblPr/>
              <a:tblGrid>
                <a:gridCol w="691989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33743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  <a:gridCol w="968721">
                  <a:extLst>
                    <a:ext uri="{9D8B030D-6E8A-4147-A177-3AD203B41FA5}">
                      <a16:colId xmlns:a16="http://schemas.microsoft.com/office/drawing/2014/main" val="2725159443"/>
                    </a:ext>
                  </a:extLst>
                </a:gridCol>
                <a:gridCol w="389299">
                  <a:extLst>
                    <a:ext uri="{9D8B030D-6E8A-4147-A177-3AD203B41FA5}">
                      <a16:colId xmlns:a16="http://schemas.microsoft.com/office/drawing/2014/main" val="2243932218"/>
                    </a:ext>
                  </a:extLst>
                </a:gridCol>
                <a:gridCol w="457587">
                  <a:extLst>
                    <a:ext uri="{9D8B030D-6E8A-4147-A177-3AD203B41FA5}">
                      <a16:colId xmlns:a16="http://schemas.microsoft.com/office/drawing/2014/main" val="2453956858"/>
                    </a:ext>
                  </a:extLst>
                </a:gridCol>
                <a:gridCol w="764631">
                  <a:extLst>
                    <a:ext uri="{9D8B030D-6E8A-4147-A177-3AD203B41FA5}">
                      <a16:colId xmlns:a16="http://schemas.microsoft.com/office/drawing/2014/main" val="3168692458"/>
                    </a:ext>
                  </a:extLst>
                </a:gridCol>
                <a:gridCol w="651849">
                  <a:extLst>
                    <a:ext uri="{9D8B030D-6E8A-4147-A177-3AD203B41FA5}">
                      <a16:colId xmlns:a16="http://schemas.microsoft.com/office/drawing/2014/main" val="3762450495"/>
                    </a:ext>
                  </a:extLst>
                </a:gridCol>
                <a:gridCol w="597529">
                  <a:extLst>
                    <a:ext uri="{9D8B030D-6E8A-4147-A177-3AD203B41FA5}">
                      <a16:colId xmlns:a16="http://schemas.microsoft.com/office/drawing/2014/main" val="780790814"/>
                    </a:ext>
                  </a:extLst>
                </a:gridCol>
                <a:gridCol w="660903">
                  <a:extLst>
                    <a:ext uri="{9D8B030D-6E8A-4147-A177-3AD203B41FA5}">
                      <a16:colId xmlns:a16="http://schemas.microsoft.com/office/drawing/2014/main" val="2160805379"/>
                    </a:ext>
                  </a:extLst>
                </a:gridCol>
                <a:gridCol w="669956">
                  <a:extLst>
                    <a:ext uri="{9D8B030D-6E8A-4147-A177-3AD203B41FA5}">
                      <a16:colId xmlns:a16="http://schemas.microsoft.com/office/drawing/2014/main" val="2584018260"/>
                    </a:ext>
                  </a:extLst>
                </a:gridCol>
                <a:gridCol w="606582">
                  <a:extLst>
                    <a:ext uri="{9D8B030D-6E8A-4147-A177-3AD203B41FA5}">
                      <a16:colId xmlns:a16="http://schemas.microsoft.com/office/drawing/2014/main" val="1915358937"/>
                    </a:ext>
                  </a:extLst>
                </a:gridCol>
                <a:gridCol w="636215">
                  <a:extLst>
                    <a:ext uri="{9D8B030D-6E8A-4147-A177-3AD203B41FA5}">
                      <a16:colId xmlns:a16="http://schemas.microsoft.com/office/drawing/2014/main" val="2136213117"/>
                    </a:ext>
                  </a:extLst>
                </a:gridCol>
                <a:gridCol w="516779">
                  <a:extLst>
                    <a:ext uri="{9D8B030D-6E8A-4147-A177-3AD203B41FA5}">
                      <a16:colId xmlns:a16="http://schemas.microsoft.com/office/drawing/2014/main" val="836759863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변경일시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제품분류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제조구분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홍보물유형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출시시작일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출시종료일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요청자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 14:00:00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2023-12-16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2024-01-20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 14:00:00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2023-12-16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2024-01-20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 14:00:00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2023-12-16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2024-01-20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0842648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 14:00:00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2023-12-16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534921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34991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기타전달내용</a:t>
                      </a:r>
                      <a:endParaRPr lang="en-US" altLang="ko-KR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3965366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515637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063979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0738944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6648801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BA2BD544-1779-D40C-EE1D-5EC89507BB14}"/>
              </a:ext>
            </a:extLst>
          </p:cNvPr>
          <p:cNvGrpSpPr/>
          <p:nvPr/>
        </p:nvGrpSpPr>
        <p:grpSpPr>
          <a:xfrm>
            <a:off x="1521192" y="2871839"/>
            <a:ext cx="1688476" cy="216000"/>
            <a:chOff x="-3636994" y="2085036"/>
            <a:chExt cx="1688476" cy="216000"/>
          </a:xfrm>
        </p:grpSpPr>
        <p:grpSp>
          <p:nvGrpSpPr>
            <p:cNvPr id="12" name="그룹 75">
              <a:extLst>
                <a:ext uri="{FF2B5EF4-FFF2-40B4-BE49-F238E27FC236}">
                  <a16:creationId xmlns:a16="http://schemas.microsoft.com/office/drawing/2014/main" id="{4283F2C1-31CD-FB8E-1B72-1D8851FE170D}"/>
                </a:ext>
              </a:extLst>
            </p:cNvPr>
            <p:cNvGrpSpPr/>
            <p:nvPr/>
          </p:nvGrpSpPr>
          <p:grpSpPr>
            <a:xfrm>
              <a:off x="-3636994" y="2085036"/>
              <a:ext cx="792000" cy="216000"/>
              <a:chOff x="3834532" y="2772519"/>
              <a:chExt cx="792000" cy="216000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5F790823-BFE0-2EFB-9933-B054586CD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2023-12-16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18" name="Picture 8">
                <a:extLst>
                  <a:ext uri="{FF2B5EF4-FFF2-40B4-BE49-F238E27FC236}">
                    <a16:creationId xmlns:a16="http://schemas.microsoft.com/office/drawing/2014/main" id="{612F0EB2-9013-3F21-7716-5DC321822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" name="그룹 75">
              <a:extLst>
                <a:ext uri="{FF2B5EF4-FFF2-40B4-BE49-F238E27FC236}">
                  <a16:creationId xmlns:a16="http://schemas.microsoft.com/office/drawing/2014/main" id="{F7137791-7D5B-BB1F-1F4E-0423F152CFED}"/>
                </a:ext>
              </a:extLst>
            </p:cNvPr>
            <p:cNvGrpSpPr/>
            <p:nvPr/>
          </p:nvGrpSpPr>
          <p:grpSpPr>
            <a:xfrm>
              <a:off x="-2740518" y="2085036"/>
              <a:ext cx="792000" cy="216000"/>
              <a:chOff x="3834532" y="2772519"/>
              <a:chExt cx="792000" cy="216000"/>
            </a:xfrm>
          </p:grpSpPr>
          <p:sp>
            <p:nvSpPr>
              <p:cNvPr id="15" name="직사각형 14">
                <a:extLst>
                  <a:ext uri="{FF2B5EF4-FFF2-40B4-BE49-F238E27FC236}">
                    <a16:creationId xmlns:a16="http://schemas.microsoft.com/office/drawing/2014/main" id="{805C217A-826E-1975-C26D-A6BB4486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2024-01-15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16" name="Picture 8">
                <a:extLst>
                  <a:ext uri="{FF2B5EF4-FFF2-40B4-BE49-F238E27FC236}">
                    <a16:creationId xmlns:a16="http://schemas.microsoft.com/office/drawing/2014/main" id="{24927341-FDEE-9622-2E62-6BF2C1C82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05FEC00-DFBD-7BA9-9814-EF39674B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24015" y="2139175"/>
              <a:ext cx="62518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~</a:t>
              </a:r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D059BDB7-9EA7-A46E-03FA-7CCFB1F2F783}"/>
              </a:ext>
            </a:extLst>
          </p:cNvPr>
          <p:cNvSpPr txBox="1"/>
          <p:nvPr/>
        </p:nvSpPr>
        <p:spPr>
          <a:xfrm>
            <a:off x="899427" y="2873504"/>
            <a:ext cx="56938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latin typeface="맑은 고딕" panose="020B0503020000020004" pitchFamily="50" charset="-127"/>
                <a:ea typeface="맑은 고딕" panose="020B0503020000020004" pitchFamily="50" charset="-127"/>
              </a:rPr>
              <a:t>변경일</a:t>
            </a:r>
            <a:endParaRPr lang="en-US" altLang="ko-KR" sz="1000" dirty="0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F7C4B564-40E6-760E-6C31-1EA3127F6F0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34680" y="2875505"/>
            <a:ext cx="543161" cy="181054"/>
          </a:xfrm>
          <a:prstGeom prst="rect">
            <a:avLst/>
          </a:prstGeom>
        </p:spPr>
      </p:pic>
      <p:grpSp>
        <p:nvGrpSpPr>
          <p:cNvPr id="2" name="그룹 21">
            <a:extLst>
              <a:ext uri="{FF2B5EF4-FFF2-40B4-BE49-F238E27FC236}">
                <a16:creationId xmlns:a16="http://schemas.microsoft.com/office/drawing/2014/main" id="{C66F8936-E18C-CE09-3945-1B2F5EEA1601}"/>
              </a:ext>
            </a:extLst>
          </p:cNvPr>
          <p:cNvGrpSpPr>
            <a:grpSpLocks/>
          </p:cNvGrpSpPr>
          <p:nvPr/>
        </p:nvGrpSpPr>
        <p:grpSpPr bwMode="auto">
          <a:xfrm>
            <a:off x="1036965" y="2260926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3C151BFE-AFFC-984F-7BA7-9E6266ECD7D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23">
              <a:extLst>
                <a:ext uri="{FF2B5EF4-FFF2-40B4-BE49-F238E27FC236}">
                  <a16:creationId xmlns:a16="http://schemas.microsoft.com/office/drawing/2014/main" id="{3A9B655F-40F1-AED9-4302-E71AB180C5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37" name="그룹 21">
            <a:extLst>
              <a:ext uri="{FF2B5EF4-FFF2-40B4-BE49-F238E27FC236}">
                <a16:creationId xmlns:a16="http://schemas.microsoft.com/office/drawing/2014/main" id="{980C3745-9C0D-4C55-145E-62586D62FA2D}"/>
              </a:ext>
            </a:extLst>
          </p:cNvPr>
          <p:cNvGrpSpPr>
            <a:grpSpLocks/>
          </p:cNvGrpSpPr>
          <p:nvPr/>
        </p:nvGrpSpPr>
        <p:grpSpPr bwMode="auto">
          <a:xfrm>
            <a:off x="1475307" y="2640418"/>
            <a:ext cx="252413" cy="165100"/>
            <a:chOff x="3125393" y="1499499"/>
            <a:chExt cx="252000" cy="165260"/>
          </a:xfrm>
        </p:grpSpPr>
        <p:sp>
          <p:nvSpPr>
            <p:cNvPr id="39" name="모서리가 둥근 사각형 설명선 321">
              <a:extLst>
                <a:ext uri="{FF2B5EF4-FFF2-40B4-BE49-F238E27FC236}">
                  <a16:creationId xmlns:a16="http://schemas.microsoft.com/office/drawing/2014/main" id="{ACD45C64-428B-19CF-EAFC-75427AFCD9A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TextBox 23">
              <a:extLst>
                <a:ext uri="{FF2B5EF4-FFF2-40B4-BE49-F238E27FC236}">
                  <a16:creationId xmlns:a16="http://schemas.microsoft.com/office/drawing/2014/main" id="{EBD46BE1-CF23-E046-79D9-450B1D435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sp>
        <p:nvSpPr>
          <p:cNvPr id="21" name="모서리가 둥근 직사각형 55">
            <a:extLst>
              <a:ext uri="{FF2B5EF4-FFF2-40B4-BE49-F238E27FC236}">
                <a16:creationId xmlns:a16="http://schemas.microsoft.com/office/drawing/2014/main" id="{0BCB1746-65B3-67C2-8ED2-752849EA24AE}"/>
              </a:ext>
            </a:extLst>
          </p:cNvPr>
          <p:cNvSpPr/>
          <p:nvPr/>
        </p:nvSpPr>
        <p:spPr>
          <a:xfrm>
            <a:off x="928813" y="2480636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EFBC8704-1256-691D-022F-69C2A0818631}"/>
              </a:ext>
            </a:extLst>
          </p:cNvPr>
          <p:cNvGrpSpPr>
            <a:grpSpLocks/>
          </p:cNvGrpSpPr>
          <p:nvPr/>
        </p:nvGrpSpPr>
        <p:grpSpPr bwMode="auto">
          <a:xfrm>
            <a:off x="3453847" y="2650956"/>
            <a:ext cx="252413" cy="165100"/>
            <a:chOff x="3125393" y="1499499"/>
            <a:chExt cx="252000" cy="165260"/>
          </a:xfrm>
        </p:grpSpPr>
        <p:sp>
          <p:nvSpPr>
            <p:cNvPr id="23" name="모서리가 둥근 사각형 설명선 321">
              <a:extLst>
                <a:ext uri="{FF2B5EF4-FFF2-40B4-BE49-F238E27FC236}">
                  <a16:creationId xmlns:a16="http://schemas.microsoft.com/office/drawing/2014/main" id="{5F83AEFA-4C42-53F1-6D94-0027D056D81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1B98F08B-4D04-C710-9A60-4F08F7622F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sp>
        <p:nvSpPr>
          <p:cNvPr id="25" name="십자형 24">
            <a:extLst>
              <a:ext uri="{FF2B5EF4-FFF2-40B4-BE49-F238E27FC236}">
                <a16:creationId xmlns:a16="http://schemas.microsoft.com/office/drawing/2014/main" id="{2BEE6695-46E1-6BDC-4EFD-A92C7BB0C84B}"/>
              </a:ext>
            </a:extLst>
          </p:cNvPr>
          <p:cNvSpPr/>
          <p:nvPr/>
        </p:nvSpPr>
        <p:spPr>
          <a:xfrm rot="2700000" flipV="1">
            <a:off x="8992783" y="2176442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2B24133-CB70-0A5A-BB63-2621F0B23CAF}"/>
              </a:ext>
            </a:extLst>
          </p:cNvPr>
          <p:cNvSpPr/>
          <p:nvPr/>
        </p:nvSpPr>
        <p:spPr bwMode="auto">
          <a:xfrm>
            <a:off x="3580053" y="3228034"/>
            <a:ext cx="1182611" cy="1144790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A714FA44-7618-7CAC-D2A8-6EC5D371287E}"/>
              </a:ext>
            </a:extLst>
          </p:cNvPr>
          <p:cNvGrpSpPr>
            <a:grpSpLocks/>
          </p:cNvGrpSpPr>
          <p:nvPr/>
        </p:nvGrpSpPr>
        <p:grpSpPr bwMode="auto">
          <a:xfrm>
            <a:off x="4297241" y="2958741"/>
            <a:ext cx="252413" cy="165100"/>
            <a:chOff x="3125393" y="1499499"/>
            <a:chExt cx="252000" cy="165260"/>
          </a:xfrm>
        </p:grpSpPr>
        <p:sp>
          <p:nvSpPr>
            <p:cNvPr id="26" name="모서리가 둥근 사각형 설명선 321">
              <a:extLst>
                <a:ext uri="{FF2B5EF4-FFF2-40B4-BE49-F238E27FC236}">
                  <a16:creationId xmlns:a16="http://schemas.microsoft.com/office/drawing/2014/main" id="{C3F44807-A29C-A019-5D00-BA7CB219948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9225191-A38C-C4D5-8F06-91D8C5181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6AE3E171-AC9F-7AC6-9736-DB71AC514B3C}"/>
              </a:ext>
            </a:extLst>
          </p:cNvPr>
          <p:cNvGrpSpPr>
            <a:grpSpLocks/>
          </p:cNvGrpSpPr>
          <p:nvPr/>
        </p:nvGrpSpPr>
        <p:grpSpPr bwMode="auto">
          <a:xfrm>
            <a:off x="4908246" y="2974575"/>
            <a:ext cx="252413" cy="165100"/>
            <a:chOff x="3125393" y="1499499"/>
            <a:chExt cx="252000" cy="165260"/>
          </a:xfrm>
        </p:grpSpPr>
        <p:sp>
          <p:nvSpPr>
            <p:cNvPr id="29" name="모서리가 둥근 사각형 설명선 321">
              <a:extLst>
                <a:ext uri="{FF2B5EF4-FFF2-40B4-BE49-F238E27FC236}">
                  <a16:creationId xmlns:a16="http://schemas.microsoft.com/office/drawing/2014/main" id="{2DD73C11-C426-E986-C35F-14009B748F4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815D51F-E08D-720D-C927-01088542F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196430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/>
        </p:nvGraphicFramePr>
        <p:xfrm>
          <a:off x="254000" y="1343534"/>
          <a:ext cx="11691939" cy="1846080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SERPWEB.SFTY_XMNT_BASIC_INFO_HIST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기본정보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9557EA75-9CFF-F409-BF1C-F619109AC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750202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기본정보 변경 이력 팝업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기본정보의 변경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084450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/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127683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391851"/>
          <a:ext cx="11698678" cy="27691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23E6EB27-DF41-BDE9-ECEA-E2125D10D9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92693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기본정보 변경 이력 팝업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기본정보의 변경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1784343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/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기본정보 변경 이력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변경일을 조회조건으로 변경이력 목록을 조회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초기 세팅 기준일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 검사 요청일 부터 현 날짜로 설정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 이후부터 이력관리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로직에 이력을 쌓도록 처리한다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기본정보 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(SFTY_XMNT_BASIC_INFO_HIST)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5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145103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기본정보 변경 이력 팝업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기본정보의 변경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877324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BD1A3-C50D-B422-030F-B71E9CC99C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>
            <a:extLst>
              <a:ext uri="{FF2B5EF4-FFF2-40B4-BE49-F238E27FC236}">
                <a16:creationId xmlns:a16="http://schemas.microsoft.com/office/drawing/2014/main" id="{65584B38-77C2-40F0-BC77-86C58E7780D2}"/>
              </a:ext>
            </a:extLst>
          </p:cNvPr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>
            <a:extLst>
              <a:ext uri="{FF2B5EF4-FFF2-40B4-BE49-F238E27FC236}">
                <a16:creationId xmlns:a16="http://schemas.microsoft.com/office/drawing/2014/main" id="{770F2E36-2402-6F95-B3A3-C6D2303AE4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319085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SFTY000040_P05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상태 이력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상태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A000648B-61CD-C930-94BA-77F30EF83014}"/>
              </a:ext>
            </a:extLst>
          </p:cNvPr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921B8CF2-27A4-ED3C-D1F1-802AE307EBAA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수정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447175DD-FB5A-4161-74A6-33170BF5F8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66241"/>
              </p:ext>
            </p:extLst>
          </p:nvPr>
        </p:nvGraphicFramePr>
        <p:xfrm>
          <a:off x="9858031" y="1664954"/>
          <a:ext cx="2076967" cy="12787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64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0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 변경에 대한 이력을 출력한다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반려사유 항목은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반려상태건에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대해 출력한다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검토에서는 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 결재 진행상태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 결재 진행상태 </a:t>
                      </a: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컬럼을 </a:t>
                      </a:r>
                      <a:r>
                        <a:rPr lang="en-US" altLang="ko-KR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‘-’</a:t>
                      </a: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691119"/>
                  </a:ext>
                </a:extLst>
              </a:tr>
            </a:tbl>
          </a:graphicData>
        </a:graphic>
      </p:graphicFrame>
      <p:sp>
        <p:nvSpPr>
          <p:cNvPr id="12" name="직사각형 23">
            <a:extLst>
              <a:ext uri="{FF2B5EF4-FFF2-40B4-BE49-F238E27FC236}">
                <a16:creationId xmlns:a16="http://schemas.microsoft.com/office/drawing/2014/main" id="{31622164-E66A-6A05-3BDD-E781257C2DE2}"/>
              </a:ext>
            </a:extLst>
          </p:cNvPr>
          <p:cNvSpPr/>
          <p:nvPr/>
        </p:nvSpPr>
        <p:spPr>
          <a:xfrm>
            <a:off x="537666" y="1902172"/>
            <a:ext cx="8395204" cy="253647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86DD487-468C-E9D5-9DBA-B2B285E36A61}"/>
              </a:ext>
            </a:extLst>
          </p:cNvPr>
          <p:cNvSpPr/>
          <p:nvPr/>
        </p:nvSpPr>
        <p:spPr bwMode="auto">
          <a:xfrm>
            <a:off x="537664" y="1902173"/>
            <a:ext cx="8395204" cy="2708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 이력 정보 </a:t>
            </a:r>
            <a:r>
              <a:rPr lang="en-US" altLang="ko-KR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식품 </a:t>
            </a:r>
            <a:r>
              <a:rPr lang="en-US" altLang="ko-KR" sz="10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/ </a:t>
            </a:r>
            <a:r>
              <a:rPr lang="ko-KR" altLang="en-US" sz="10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비식품</a:t>
            </a:r>
            <a:r>
              <a:rPr lang="ko-KR" altLang="en-US" sz="10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/ </a:t>
            </a:r>
            <a:r>
              <a:rPr lang="ko-KR" altLang="en-US" sz="10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홍보물 </a:t>
            </a:r>
            <a:r>
              <a:rPr lang="en-US" altLang="ko-KR" sz="10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19" name="십자형 18">
            <a:extLst>
              <a:ext uri="{FF2B5EF4-FFF2-40B4-BE49-F238E27FC236}">
                <a16:creationId xmlns:a16="http://schemas.microsoft.com/office/drawing/2014/main" id="{E10D9DAC-7782-3942-6910-770E62F59C7A}"/>
              </a:ext>
            </a:extLst>
          </p:cNvPr>
          <p:cNvSpPr/>
          <p:nvPr/>
        </p:nvSpPr>
        <p:spPr>
          <a:xfrm rot="2700000" flipV="1">
            <a:off x="8682390" y="1983495"/>
            <a:ext cx="135427" cy="135427"/>
          </a:xfrm>
          <a:prstGeom prst="plus">
            <a:avLst>
              <a:gd name="adj" fmla="val 465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9706CA4B-F017-9932-C87A-A2FE11AE41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3532766"/>
              </p:ext>
            </p:extLst>
          </p:nvPr>
        </p:nvGraphicFramePr>
        <p:xfrm>
          <a:off x="624671" y="2509157"/>
          <a:ext cx="8221194" cy="1760765"/>
        </p:xfrm>
        <a:graphic>
          <a:graphicData uri="http://schemas.openxmlformats.org/drawingml/2006/table">
            <a:tbl>
              <a:tblPr/>
              <a:tblGrid>
                <a:gridCol w="809846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981512">
                  <a:extLst>
                    <a:ext uri="{9D8B030D-6E8A-4147-A177-3AD203B41FA5}">
                      <a16:colId xmlns:a16="http://schemas.microsoft.com/office/drawing/2014/main" val="3467366842"/>
                    </a:ext>
                  </a:extLst>
                </a:gridCol>
                <a:gridCol w="1082180">
                  <a:extLst>
                    <a:ext uri="{9D8B030D-6E8A-4147-A177-3AD203B41FA5}">
                      <a16:colId xmlns:a16="http://schemas.microsoft.com/office/drawing/2014/main" val="2889837919"/>
                    </a:ext>
                  </a:extLst>
                </a:gridCol>
                <a:gridCol w="1015068">
                  <a:extLst>
                    <a:ext uri="{9D8B030D-6E8A-4147-A177-3AD203B41FA5}">
                      <a16:colId xmlns:a16="http://schemas.microsoft.com/office/drawing/2014/main" val="2156462060"/>
                    </a:ext>
                  </a:extLst>
                </a:gridCol>
                <a:gridCol w="981512">
                  <a:extLst>
                    <a:ext uri="{9D8B030D-6E8A-4147-A177-3AD203B41FA5}">
                      <a16:colId xmlns:a16="http://schemas.microsoft.com/office/drawing/2014/main" val="2423167296"/>
                    </a:ext>
                  </a:extLst>
                </a:gridCol>
                <a:gridCol w="3351076">
                  <a:extLst>
                    <a:ext uri="{9D8B030D-6E8A-4147-A177-3AD203B41FA5}">
                      <a16:colId xmlns:a16="http://schemas.microsoft.com/office/drawing/2014/main" val="4284449770"/>
                    </a:ext>
                  </a:extLst>
                </a:gridCol>
              </a:tblGrid>
              <a:tr h="35215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 결재 진행상태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 결재 진행상태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변경일시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반려사유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반려시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출력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352153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2024-01-30 00:00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문서내용 오류로 반려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352153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  <a:tr h="352153"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3569428"/>
                  </a:ext>
                </a:extLst>
              </a:tr>
              <a:tr h="352153"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14249"/>
                  </a:ext>
                </a:extLst>
              </a:tr>
            </a:tbl>
          </a:graphicData>
        </a:graphic>
      </p:graphicFrame>
      <p:sp>
        <p:nvSpPr>
          <p:cNvPr id="3" name="모서리가 둥근 직사각형 55">
            <a:extLst>
              <a:ext uri="{FF2B5EF4-FFF2-40B4-BE49-F238E27FC236}">
                <a16:creationId xmlns:a16="http://schemas.microsoft.com/office/drawing/2014/main" id="{629CBCB4-EB86-88D0-65C5-D73D960110D0}"/>
              </a:ext>
            </a:extLst>
          </p:cNvPr>
          <p:cNvSpPr/>
          <p:nvPr/>
        </p:nvSpPr>
        <p:spPr>
          <a:xfrm>
            <a:off x="624671" y="2255269"/>
            <a:ext cx="540000" cy="17032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12700" dir="2700000" algn="tl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latinLnBrk="0" hangingPunct="0">
              <a:lnSpc>
                <a:spcPct val="95000"/>
              </a:lnSpc>
              <a:spcBef>
                <a:spcPct val="50000"/>
              </a:spcBef>
            </a:pPr>
            <a:r>
              <a:rPr lang="ko-KR" altLang="en-US" sz="800" b="1" dirty="0">
                <a:solidFill>
                  <a:srgbClr val="77A22F"/>
                </a:solidFill>
                <a:latin typeface="맑은 고딕" pitchFamily="50" charset="-127"/>
                <a:ea typeface="맑은 고딕" pitchFamily="50" charset="-127"/>
              </a:rPr>
              <a:t>닫기</a:t>
            </a:r>
          </a:p>
        </p:txBody>
      </p:sp>
      <p:grpSp>
        <p:nvGrpSpPr>
          <p:cNvPr id="4" name="그룹 21">
            <a:extLst>
              <a:ext uri="{FF2B5EF4-FFF2-40B4-BE49-F238E27FC236}">
                <a16:creationId xmlns:a16="http://schemas.microsoft.com/office/drawing/2014/main" id="{F00DBCF4-BC27-5E9F-5680-B707BD26E2C4}"/>
              </a:ext>
            </a:extLst>
          </p:cNvPr>
          <p:cNvGrpSpPr>
            <a:grpSpLocks/>
          </p:cNvGrpSpPr>
          <p:nvPr/>
        </p:nvGrpSpPr>
        <p:grpSpPr bwMode="auto">
          <a:xfrm>
            <a:off x="498464" y="2023848"/>
            <a:ext cx="252413" cy="165100"/>
            <a:chOff x="3125393" y="1499499"/>
            <a:chExt cx="252000" cy="165260"/>
          </a:xfrm>
        </p:grpSpPr>
        <p:sp>
          <p:nvSpPr>
            <p:cNvPr id="8" name="모서리가 둥근 사각형 설명선 321">
              <a:extLst>
                <a:ext uri="{FF2B5EF4-FFF2-40B4-BE49-F238E27FC236}">
                  <a16:creationId xmlns:a16="http://schemas.microsoft.com/office/drawing/2014/main" id="{ED91270C-DAEB-5F60-5692-7CB194AB6E9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TextBox 23">
              <a:extLst>
                <a:ext uri="{FF2B5EF4-FFF2-40B4-BE49-F238E27FC236}">
                  <a16:creationId xmlns:a16="http://schemas.microsoft.com/office/drawing/2014/main" id="{B05CC11C-66C2-9DF9-9A91-CB79FCCBF8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D31EDB01-0042-105E-1083-5212C82D5B70}"/>
              </a:ext>
            </a:extLst>
          </p:cNvPr>
          <p:cNvSpPr/>
          <p:nvPr/>
        </p:nvSpPr>
        <p:spPr bwMode="auto">
          <a:xfrm>
            <a:off x="1425328" y="2509156"/>
            <a:ext cx="2078363" cy="1760764"/>
          </a:xfrm>
          <a:prstGeom prst="rect">
            <a:avLst/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1229663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71FB13-E8AF-DD24-9E4A-83CA981A46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9615720-E98A-7175-EBDF-D2E300B4A137}"/>
              </a:ext>
            </a:extLst>
          </p:cNvPr>
          <p:cNvGraphicFramePr>
            <a:graphicFrameLocks noGrp="1"/>
          </p:cNvGraphicFramePr>
          <p:nvPr/>
        </p:nvGraphicFramePr>
        <p:xfrm>
          <a:off x="254000" y="1343534"/>
          <a:ext cx="11691939" cy="1846080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6ED85805-562A-19D6-9B87-710B1D2335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FE7D384A-A200-3CEF-FBEB-CCEE398515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5BA90B11-EF38-DEFA-4EC6-6D8587D2806E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9648B062-07A8-1D19-A54E-2A124ADE69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671535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SFTY000040_P05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이력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진행상태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5574801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C5F2B4-07BB-A7B3-5968-0AD4688DB9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AD7A736E-D75C-09E6-E492-851DD826C05A}"/>
              </a:ext>
            </a:extLst>
          </p:cNvPr>
          <p:cNvGraphicFramePr>
            <a:graphicFrameLocks noGrp="1"/>
          </p:cNvGraphicFramePr>
          <p:nvPr/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042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8255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903A5F16-B343-3C81-7E6E-E099CFE5DB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6326BB0E-0815-0532-C700-3C14D6017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245129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73B1A9BD-9986-1BAB-48BD-C4D1F6179D92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509297"/>
          <a:ext cx="11698678" cy="25383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7" name="Group 234">
            <a:extLst>
              <a:ext uri="{FF2B5EF4-FFF2-40B4-BE49-F238E27FC236}">
                <a16:creationId xmlns:a16="http://schemas.microsoft.com/office/drawing/2014/main" id="{63F96E67-2364-4609-CFD1-638AE6073A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265169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SFTY000040_P05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이력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진행상태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499932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E4642F-83A3-409E-5880-E6DAB8089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17869E97-7519-4EDD-339E-3A24956BA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7204711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진행상태 이력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상태이력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SFTY_XMNT_STATUS_HIST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-&gt;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이력순번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 검토 번호의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MAX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순번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): DESC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개인정보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마스킹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및 닉네임처리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리스트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,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 팝업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검토에서는 완료 결재 진행상태</a:t>
                      </a:r>
                      <a:r>
                        <a:rPr lang="en-US" altLang="ko-KR" sz="9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조건 결재 진행상태  컬럼을 </a:t>
                      </a:r>
                      <a:r>
                        <a:rPr lang="en-US" altLang="ko-KR" sz="9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‘-’</a:t>
                      </a:r>
                      <a:r>
                        <a:rPr lang="ko-KR" altLang="en-US" sz="9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출력</a:t>
                      </a:r>
                      <a:endParaRPr lang="ko-KR" altLang="ko-KR" sz="900" b="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5" name="Group 234">
            <a:extLst>
              <a:ext uri="{FF2B5EF4-FFF2-40B4-BE49-F238E27FC236}">
                <a16:creationId xmlns:a16="http://schemas.microsoft.com/office/drawing/2014/main" id="{CEDF093D-324B-6239-AC29-A627FC194F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815775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안전성 검토 이력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식품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비식품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공통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진행상태 이력 정보를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714884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4133F23-8C81-0E1A-EBCB-B427D06EC9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7534201"/>
              </p:ext>
            </p:extLst>
          </p:nvPr>
        </p:nvGraphicFramePr>
        <p:xfrm>
          <a:off x="311132" y="3130165"/>
          <a:ext cx="9421157" cy="1944673"/>
        </p:xfrm>
        <a:graphic>
          <a:graphicData uri="http://schemas.openxmlformats.org/drawingml/2006/table">
            <a:tbl>
              <a:tblPr/>
              <a:tblGrid>
                <a:gridCol w="580756">
                  <a:extLst>
                    <a:ext uri="{9D8B030D-6E8A-4147-A177-3AD203B41FA5}">
                      <a16:colId xmlns:a16="http://schemas.microsoft.com/office/drawing/2014/main" val="1152230235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2098985469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1192831329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4093669645"/>
                    </a:ext>
                  </a:extLst>
                </a:gridCol>
                <a:gridCol w="1849817">
                  <a:extLst>
                    <a:ext uri="{9D8B030D-6E8A-4147-A177-3AD203B41FA5}">
                      <a16:colId xmlns:a16="http://schemas.microsoft.com/office/drawing/2014/main" val="3422829030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3082899066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1059655246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4061937204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4172687546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1736827612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252258855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3040182757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243799747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618585345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4232130856"/>
                    </a:ext>
                  </a:extLst>
                </a:gridCol>
              </a:tblGrid>
              <a:tr h="18168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검토번호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진행상태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반려현황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출시시작일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출시종료일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요청자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검토자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316022"/>
                  </a:ext>
                </a:extLst>
              </a:tr>
              <a:tr h="25085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/ASKU/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/QA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기획파트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/SKU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프로모션명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2024-01-30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2024-01-20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김*민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길동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검*자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닉넴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5404441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232323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122002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234234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580876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123123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80875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424232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재검토진행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480056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9551190"/>
                  </a:ext>
                </a:extLst>
              </a:tr>
            </a:tbl>
          </a:graphicData>
        </a:graphic>
      </p:graphicFrame>
      <p:graphicFrame>
        <p:nvGraphicFramePr>
          <p:cNvPr id="90" name="Group 2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994367"/>
              </p:ext>
            </p:extLst>
          </p:nvPr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247521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4C141EFC-B4D2-85A2-709E-A31B67223F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779897"/>
              </p:ext>
            </p:extLst>
          </p:nvPr>
        </p:nvGraphicFramePr>
        <p:xfrm>
          <a:off x="290626" y="1576149"/>
          <a:ext cx="9506518" cy="8996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30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01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44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75657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  <a:gridCol w="644434">
                  <a:extLst>
                    <a:ext uri="{9D8B030D-6E8A-4147-A177-3AD203B41FA5}">
                      <a16:colId xmlns:a16="http://schemas.microsoft.com/office/drawing/2014/main" val="1062137084"/>
                    </a:ext>
                  </a:extLst>
                </a:gridCol>
                <a:gridCol w="1062446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722812">
                  <a:extLst>
                    <a:ext uri="{9D8B030D-6E8A-4147-A177-3AD203B41FA5}">
                      <a16:colId xmlns:a16="http://schemas.microsoft.com/office/drawing/2014/main" val="2548261692"/>
                    </a:ext>
                  </a:extLst>
                </a:gridCol>
                <a:gridCol w="836022">
                  <a:extLst>
                    <a:ext uri="{9D8B030D-6E8A-4147-A177-3AD203B41FA5}">
                      <a16:colId xmlns:a16="http://schemas.microsoft.com/office/drawing/2014/main" val="3110747119"/>
                    </a:ext>
                  </a:extLst>
                </a:gridCol>
                <a:gridCol w="592184">
                  <a:extLst>
                    <a:ext uri="{9D8B030D-6E8A-4147-A177-3AD203B41FA5}">
                      <a16:colId xmlns:a16="http://schemas.microsoft.com/office/drawing/2014/main" val="2268721637"/>
                    </a:ext>
                  </a:extLst>
                </a:gridCol>
                <a:gridCol w="1245330">
                  <a:extLst>
                    <a:ext uri="{9D8B030D-6E8A-4147-A177-3AD203B41FA5}">
                      <a16:colId xmlns:a16="http://schemas.microsoft.com/office/drawing/2014/main" val="3767834776"/>
                    </a:ext>
                  </a:extLst>
                </a:gridCol>
              </a:tblGrid>
              <a:tr h="29987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87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998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삭제포함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E4E1E1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긴급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7290191"/>
                  </a:ext>
                </a:extLst>
              </a:tr>
            </a:tbl>
          </a:graphicData>
        </a:graphic>
      </p:graphicFrame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851DB38F-6D5C-4192-0D40-E7513E9F92E0}"/>
              </a:ext>
            </a:extLst>
          </p:cNvPr>
          <p:cNvGrpSpPr/>
          <p:nvPr/>
        </p:nvGrpSpPr>
        <p:grpSpPr>
          <a:xfrm>
            <a:off x="1126223" y="1614452"/>
            <a:ext cx="1688476" cy="216000"/>
            <a:chOff x="-3636994" y="2085036"/>
            <a:chExt cx="1688476" cy="216000"/>
          </a:xfrm>
        </p:grpSpPr>
        <p:grpSp>
          <p:nvGrpSpPr>
            <p:cNvPr id="151" name="그룹 75">
              <a:extLst>
                <a:ext uri="{FF2B5EF4-FFF2-40B4-BE49-F238E27FC236}">
                  <a16:creationId xmlns:a16="http://schemas.microsoft.com/office/drawing/2014/main" id="{ADB6B49D-304C-D8DA-CAC5-668532E8C9D3}"/>
                </a:ext>
              </a:extLst>
            </p:cNvPr>
            <p:cNvGrpSpPr/>
            <p:nvPr/>
          </p:nvGrpSpPr>
          <p:grpSpPr>
            <a:xfrm>
              <a:off x="-3636994" y="2085036"/>
              <a:ext cx="792000" cy="216000"/>
              <a:chOff x="3834532" y="2772519"/>
              <a:chExt cx="792000" cy="216000"/>
            </a:xfrm>
          </p:grpSpPr>
          <p:sp>
            <p:nvSpPr>
              <p:cNvPr id="156" name="직사각형 155">
                <a:extLst>
                  <a:ext uri="{FF2B5EF4-FFF2-40B4-BE49-F238E27FC236}">
                    <a16:creationId xmlns:a16="http://schemas.microsoft.com/office/drawing/2014/main" id="{24D126CB-C624-2956-B12C-A8B82DD21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2024-17-14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157" name="Picture 8">
                <a:extLst>
                  <a:ext uri="{FF2B5EF4-FFF2-40B4-BE49-F238E27FC236}">
                    <a16:creationId xmlns:a16="http://schemas.microsoft.com/office/drawing/2014/main" id="{BD2D3DD2-2FE6-525B-197D-B32C13356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" name="그룹 75">
              <a:extLst>
                <a:ext uri="{FF2B5EF4-FFF2-40B4-BE49-F238E27FC236}">
                  <a16:creationId xmlns:a16="http://schemas.microsoft.com/office/drawing/2014/main" id="{16A2792F-06D8-BD56-824B-01A71E6529D3}"/>
                </a:ext>
              </a:extLst>
            </p:cNvPr>
            <p:cNvGrpSpPr/>
            <p:nvPr/>
          </p:nvGrpSpPr>
          <p:grpSpPr>
            <a:xfrm>
              <a:off x="-2740518" y="2085036"/>
              <a:ext cx="792000" cy="216000"/>
              <a:chOff x="3834532" y="2772519"/>
              <a:chExt cx="792000" cy="216000"/>
            </a:xfrm>
          </p:grpSpPr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BEE5B860-082C-024E-89AA-3B34048EF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2025-07-15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155" name="Picture 8">
                <a:extLst>
                  <a:ext uri="{FF2B5EF4-FFF2-40B4-BE49-F238E27FC236}">
                    <a16:creationId xmlns:a16="http://schemas.microsoft.com/office/drawing/2014/main" id="{340145BD-7523-ECE7-B3FD-D14540898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46BBD0B9-C303-F123-F556-46D9759B7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24015" y="2139175"/>
              <a:ext cx="62518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~</a:t>
              </a:r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4658018"/>
              </p:ext>
            </p:extLst>
          </p:nvPr>
        </p:nvGraphicFramePr>
        <p:xfrm>
          <a:off x="9868434" y="1664954"/>
          <a:ext cx="2066563" cy="46365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 선택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금일 기준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30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일전 설정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기간은 최대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기준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조회대상은 내목록으로 설정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로그인자가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경우 해당 목록 조회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요청자는 로그인 사번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 설정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삭제포함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Default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미선택으로 함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내목록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요청자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=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로그인사용자</a:t>
                      </a:r>
                      <a:b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전체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요청부서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=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로그인사용자 부서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마케팅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 조회에서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완료일 중 선택 필수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기간이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이내 조회 시 다운로드 버튼 활성화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시점은 조회버튼 클릭 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SKU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검색 공통 팝업을 오픈한다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 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700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kumimoji="1" lang="en-US" altLang="ko-KR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)/</a:t>
                      </a:r>
                      <a:r>
                        <a:rPr kumimoji="1" lang="ko-KR" altLang="en-US" sz="7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검토번호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85913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홍보물유형 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700" b="1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사이렌오더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700" b="1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상세페이지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)/</a:t>
                      </a: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58531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 요청현황 목록을 조회한다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 검색조건 항목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조회기간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완료일 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조회대상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(default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내목록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등록 화면으로 전환한다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44718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체크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한 데이터를 삭제한다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결재상신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이전 상태는 삭제한다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데이터 완전 삭제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이후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flag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4814647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61060C-C5C8-83CB-197D-AD63A9740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32" y="1608090"/>
            <a:ext cx="743799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등록일</a:t>
            </a:r>
            <a:r>
              <a:rPr kumimoji="1" lang="en-US" altLang="ko-KR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완료일</a:t>
            </a:r>
          </a:p>
        </p:txBody>
      </p:sp>
      <p:pic>
        <p:nvPicPr>
          <p:cNvPr id="42" name="Picture 103">
            <a:extLst>
              <a:ext uri="{FF2B5EF4-FFF2-40B4-BE49-F238E27FC236}">
                <a16:creationId xmlns:a16="http://schemas.microsoft.com/office/drawing/2014/main" id="{4ADADFE9-166C-3166-AAD2-021D4E98B5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 t="15633" r="9297"/>
          <a:stretch>
            <a:fillRect/>
          </a:stretch>
        </p:blipFill>
        <p:spPr bwMode="auto">
          <a:xfrm>
            <a:off x="889528" y="1672118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43" name="직사각형 42">
            <a:extLst>
              <a:ext uri="{FF2B5EF4-FFF2-40B4-BE49-F238E27FC236}">
                <a16:creationId xmlns:a16="http://schemas.microsoft.com/office/drawing/2014/main" id="{7793A4CF-1064-6070-CA3F-85B660045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664" y="1614316"/>
            <a:ext cx="676181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전체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내목록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44" name="Picture 103">
            <a:extLst>
              <a:ext uri="{FF2B5EF4-FFF2-40B4-BE49-F238E27FC236}">
                <a16:creationId xmlns:a16="http://schemas.microsoft.com/office/drawing/2014/main" id="{CCD3B5CD-65E4-90F4-B51A-0833D5F9AB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 t="15633" r="9297"/>
          <a:stretch>
            <a:fillRect/>
          </a:stretch>
        </p:blipFill>
        <p:spPr bwMode="auto">
          <a:xfrm>
            <a:off x="4076124" y="1678344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305729A3-4FB6-9131-E3E4-254CECA6C202}"/>
              </a:ext>
            </a:extLst>
          </p:cNvPr>
          <p:cNvGrpSpPr/>
          <p:nvPr/>
        </p:nvGrpSpPr>
        <p:grpSpPr>
          <a:xfrm>
            <a:off x="5387098" y="1615849"/>
            <a:ext cx="676181" cy="226238"/>
            <a:chOff x="4829752" y="1615849"/>
            <a:chExt cx="676181" cy="226238"/>
          </a:xfrm>
        </p:grpSpPr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A53AD0B5-5E85-86DE-25A9-87ED2DADA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752" y="1615849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코어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 err="1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프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47" name="Picture 103">
              <a:extLst>
                <a:ext uri="{FF2B5EF4-FFF2-40B4-BE49-F238E27FC236}">
                  <a16:creationId xmlns:a16="http://schemas.microsoft.com/office/drawing/2014/main" id="{8223DF5B-08FF-18EA-B0BD-C39A90C579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/>
            <a:srcRect t="15633" r="9297"/>
            <a:stretch>
              <a:fillRect/>
            </a:stretch>
          </p:blipFill>
          <p:spPr bwMode="auto">
            <a:xfrm>
              <a:off x="5365630" y="1679877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1E94847-99EF-451F-170E-F097C2169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8559" y="1608042"/>
            <a:ext cx="676181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전체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국내제조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51" name="Picture 103">
            <a:extLst>
              <a:ext uri="{FF2B5EF4-FFF2-40B4-BE49-F238E27FC236}">
                <a16:creationId xmlns:a16="http://schemas.microsoft.com/office/drawing/2014/main" id="{CC15E420-B651-EDA9-8054-3CAABB099E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 t="15633" r="9297"/>
          <a:stretch>
            <a:fillRect/>
          </a:stretch>
        </p:blipFill>
        <p:spPr bwMode="auto">
          <a:xfrm>
            <a:off x="9174437" y="1672070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78" name="그림 77">
            <a:extLst>
              <a:ext uri="{FF2B5EF4-FFF2-40B4-BE49-F238E27FC236}">
                <a16:creationId xmlns:a16="http://schemas.microsoft.com/office/drawing/2014/main" id="{6F538D50-B4A9-5706-6175-7EBB068AF61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76600" y="1978208"/>
            <a:ext cx="1073727" cy="190500"/>
          </a:xfrm>
          <a:prstGeom prst="rect">
            <a:avLst/>
          </a:prstGeom>
        </p:spPr>
      </p:pic>
      <p:pic>
        <p:nvPicPr>
          <p:cNvPr id="79" name="그림 78">
            <a:extLst>
              <a:ext uri="{FF2B5EF4-FFF2-40B4-BE49-F238E27FC236}">
                <a16:creationId xmlns:a16="http://schemas.microsoft.com/office/drawing/2014/main" id="{0D33EAF8-F2CC-EAB8-52CC-347DF7482CA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8805" y="1886492"/>
            <a:ext cx="1286052" cy="228171"/>
          </a:xfrm>
          <a:prstGeom prst="rect">
            <a:avLst/>
          </a:prstGeom>
        </p:spPr>
      </p:pic>
      <p:sp>
        <p:nvSpPr>
          <p:cNvPr id="83" name="직사각형 82">
            <a:extLst>
              <a:ext uri="{FF2B5EF4-FFF2-40B4-BE49-F238E27FC236}">
                <a16:creationId xmlns:a16="http://schemas.microsoft.com/office/drawing/2014/main" id="{C61AC433-1E7E-E0F7-A2B9-2A63F88F1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203" y="2794433"/>
            <a:ext cx="439289" cy="146419"/>
          </a:xfrm>
          <a:prstGeom prst="rect">
            <a:avLst/>
          </a:prstGeom>
          <a:solidFill>
            <a:srgbClr val="FF3399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신규생성</a:t>
            </a:r>
          </a:p>
        </p:txBody>
      </p:sp>
      <p:grpSp>
        <p:nvGrpSpPr>
          <p:cNvPr id="2" name="그룹 21">
            <a:extLst>
              <a:ext uri="{FF2B5EF4-FFF2-40B4-BE49-F238E27FC236}">
                <a16:creationId xmlns:a16="http://schemas.microsoft.com/office/drawing/2014/main" id="{DCB35324-846B-FE34-9058-9CEA23E1659B}"/>
              </a:ext>
            </a:extLst>
          </p:cNvPr>
          <p:cNvGrpSpPr>
            <a:grpSpLocks/>
          </p:cNvGrpSpPr>
          <p:nvPr/>
        </p:nvGrpSpPr>
        <p:grpSpPr bwMode="auto">
          <a:xfrm>
            <a:off x="132087" y="1440009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742E078F-2EA2-C7B5-B861-440B7A87883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4796A284-E9AA-1BF2-7516-0E25B0C45E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5" name="그룹 21">
            <a:extLst>
              <a:ext uri="{FF2B5EF4-FFF2-40B4-BE49-F238E27FC236}">
                <a16:creationId xmlns:a16="http://schemas.microsoft.com/office/drawing/2014/main" id="{7D80ADF2-2380-E944-0B50-CBACC6121E1C}"/>
              </a:ext>
            </a:extLst>
          </p:cNvPr>
          <p:cNvGrpSpPr>
            <a:grpSpLocks/>
          </p:cNvGrpSpPr>
          <p:nvPr/>
        </p:nvGrpSpPr>
        <p:grpSpPr bwMode="auto">
          <a:xfrm>
            <a:off x="2005596" y="1724193"/>
            <a:ext cx="252413" cy="165100"/>
            <a:chOff x="3125393" y="1499499"/>
            <a:chExt cx="252000" cy="165260"/>
          </a:xfrm>
        </p:grpSpPr>
        <p:sp>
          <p:nvSpPr>
            <p:cNvPr id="6" name="모서리가 둥근 사각형 설명선 321">
              <a:extLst>
                <a:ext uri="{FF2B5EF4-FFF2-40B4-BE49-F238E27FC236}">
                  <a16:creationId xmlns:a16="http://schemas.microsoft.com/office/drawing/2014/main" id="{31D6020C-46E4-7244-74C2-4C7FA2498C5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" name="TextBox 23">
              <a:extLst>
                <a:ext uri="{FF2B5EF4-FFF2-40B4-BE49-F238E27FC236}">
                  <a16:creationId xmlns:a16="http://schemas.microsoft.com/office/drawing/2014/main" id="{7711DAB2-0122-4DB6-A615-436F7EC1E2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8" name="그룹 21">
            <a:extLst>
              <a:ext uri="{FF2B5EF4-FFF2-40B4-BE49-F238E27FC236}">
                <a16:creationId xmlns:a16="http://schemas.microsoft.com/office/drawing/2014/main" id="{4FA2C47C-ED0D-5DFE-7F34-E87711D4BC00}"/>
              </a:ext>
            </a:extLst>
          </p:cNvPr>
          <p:cNvGrpSpPr>
            <a:grpSpLocks/>
          </p:cNvGrpSpPr>
          <p:nvPr/>
        </p:nvGrpSpPr>
        <p:grpSpPr bwMode="auto">
          <a:xfrm>
            <a:off x="4566932" y="1434845"/>
            <a:ext cx="252413" cy="165100"/>
            <a:chOff x="3125393" y="1499499"/>
            <a:chExt cx="252000" cy="165260"/>
          </a:xfrm>
        </p:grpSpPr>
        <p:sp>
          <p:nvSpPr>
            <p:cNvPr id="10" name="모서리가 둥근 사각형 설명선 321">
              <a:extLst>
                <a:ext uri="{FF2B5EF4-FFF2-40B4-BE49-F238E27FC236}">
                  <a16:creationId xmlns:a16="http://schemas.microsoft.com/office/drawing/2014/main" id="{0B655CA2-A707-88D7-192D-5FAEA0097C0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TextBox 23">
              <a:extLst>
                <a:ext uri="{FF2B5EF4-FFF2-40B4-BE49-F238E27FC236}">
                  <a16:creationId xmlns:a16="http://schemas.microsoft.com/office/drawing/2014/main" id="{91E95B83-BAC0-213B-2E38-AB198E298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15" name="그룹 21">
            <a:extLst>
              <a:ext uri="{FF2B5EF4-FFF2-40B4-BE49-F238E27FC236}">
                <a16:creationId xmlns:a16="http://schemas.microsoft.com/office/drawing/2014/main" id="{7CDAA867-64A4-996F-9841-175055901A4F}"/>
              </a:ext>
            </a:extLst>
          </p:cNvPr>
          <p:cNvGrpSpPr>
            <a:grpSpLocks/>
          </p:cNvGrpSpPr>
          <p:nvPr/>
        </p:nvGrpSpPr>
        <p:grpSpPr bwMode="auto">
          <a:xfrm>
            <a:off x="244057" y="2629211"/>
            <a:ext cx="252413" cy="165100"/>
            <a:chOff x="3125393" y="1499499"/>
            <a:chExt cx="252000" cy="165260"/>
          </a:xfrm>
        </p:grpSpPr>
        <p:sp>
          <p:nvSpPr>
            <p:cNvPr id="16" name="모서리가 둥근 사각형 설명선 321">
              <a:extLst>
                <a:ext uri="{FF2B5EF4-FFF2-40B4-BE49-F238E27FC236}">
                  <a16:creationId xmlns:a16="http://schemas.microsoft.com/office/drawing/2014/main" id="{6DF879FD-3858-E7E4-DB2B-1A5A5A9BEF4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450E6EB6-B5FE-08B7-E1D8-89283EEA0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grpSp>
        <p:nvGrpSpPr>
          <p:cNvPr id="24" name="그룹 21">
            <a:extLst>
              <a:ext uri="{FF2B5EF4-FFF2-40B4-BE49-F238E27FC236}">
                <a16:creationId xmlns:a16="http://schemas.microsoft.com/office/drawing/2014/main" id="{2FD312AE-5FD8-60A5-C7CC-4A503948605F}"/>
              </a:ext>
            </a:extLst>
          </p:cNvPr>
          <p:cNvGrpSpPr>
            <a:grpSpLocks/>
          </p:cNvGrpSpPr>
          <p:nvPr/>
        </p:nvGrpSpPr>
        <p:grpSpPr bwMode="auto">
          <a:xfrm>
            <a:off x="2466617" y="3500142"/>
            <a:ext cx="252413" cy="165100"/>
            <a:chOff x="3125393" y="1499499"/>
            <a:chExt cx="252000" cy="165260"/>
          </a:xfrm>
        </p:grpSpPr>
        <p:sp>
          <p:nvSpPr>
            <p:cNvPr id="25" name="모서리가 둥근 사각형 설명선 321">
              <a:extLst>
                <a:ext uri="{FF2B5EF4-FFF2-40B4-BE49-F238E27FC236}">
                  <a16:creationId xmlns:a16="http://schemas.microsoft.com/office/drawing/2014/main" id="{D129870B-402A-CD9E-D46E-894DAFE16D9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TextBox 23">
              <a:extLst>
                <a:ext uri="{FF2B5EF4-FFF2-40B4-BE49-F238E27FC236}">
                  <a16:creationId xmlns:a16="http://schemas.microsoft.com/office/drawing/2014/main" id="{9954A8E0-83FC-2D99-07B1-33A0BAE7E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  <p:sp>
        <p:nvSpPr>
          <p:cNvPr id="37" name="양쪽 모서리가 둥근 사각형 56">
            <a:extLst>
              <a:ext uri="{FF2B5EF4-FFF2-40B4-BE49-F238E27FC236}">
                <a16:creationId xmlns:a16="http://schemas.microsoft.com/office/drawing/2014/main" id="{A14EAFA8-ED5B-511C-3BCB-0FCB2293859B}"/>
              </a:ext>
            </a:extLst>
          </p:cNvPr>
          <p:cNvSpPr/>
          <p:nvPr/>
        </p:nvSpPr>
        <p:spPr>
          <a:xfrm>
            <a:off x="421605" y="5667686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조회기간이 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이상입니다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조회를 할 수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846AA03-3DF3-CEDE-275F-B80856F02467}"/>
              </a:ext>
            </a:extLst>
          </p:cNvPr>
          <p:cNvSpPr/>
          <p:nvPr/>
        </p:nvSpPr>
        <p:spPr>
          <a:xfrm>
            <a:off x="419187" y="6226012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0" name="그룹 21">
            <a:extLst>
              <a:ext uri="{FF2B5EF4-FFF2-40B4-BE49-F238E27FC236}">
                <a16:creationId xmlns:a16="http://schemas.microsoft.com/office/drawing/2014/main" id="{2D547129-E9FE-8C0F-BBB3-5B858143483E}"/>
              </a:ext>
            </a:extLst>
          </p:cNvPr>
          <p:cNvGrpSpPr>
            <a:grpSpLocks/>
          </p:cNvGrpSpPr>
          <p:nvPr/>
        </p:nvGrpSpPr>
        <p:grpSpPr bwMode="auto">
          <a:xfrm>
            <a:off x="296613" y="5444159"/>
            <a:ext cx="252413" cy="165100"/>
            <a:chOff x="3125393" y="1499499"/>
            <a:chExt cx="252000" cy="165260"/>
          </a:xfrm>
        </p:grpSpPr>
        <p:sp>
          <p:nvSpPr>
            <p:cNvPr id="45" name="모서리가 둥근 사각형 설명선 321">
              <a:extLst>
                <a:ext uri="{FF2B5EF4-FFF2-40B4-BE49-F238E27FC236}">
                  <a16:creationId xmlns:a16="http://schemas.microsoft.com/office/drawing/2014/main" id="{243E338F-C785-91B2-FD08-F8EDA0DB19F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23">
              <a:extLst>
                <a:ext uri="{FF2B5EF4-FFF2-40B4-BE49-F238E27FC236}">
                  <a16:creationId xmlns:a16="http://schemas.microsoft.com/office/drawing/2014/main" id="{0E80AE65-1B39-54AD-95FC-ADE9C0D810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73" name="양쪽 모서리가 둥근 사각형 56">
            <a:extLst>
              <a:ext uri="{FF2B5EF4-FFF2-40B4-BE49-F238E27FC236}">
                <a16:creationId xmlns:a16="http://schemas.microsoft.com/office/drawing/2014/main" id="{F4A7A14B-664E-3ED9-AE37-831126952378}"/>
              </a:ext>
            </a:extLst>
          </p:cNvPr>
          <p:cNvSpPr/>
          <p:nvPr/>
        </p:nvSpPr>
        <p:spPr>
          <a:xfrm>
            <a:off x="1952697" y="5660702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필수 조회조건이 누락되었습니다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조회를 할 수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3C3A87B7-9CAE-294A-391A-781E8611AE6E}"/>
              </a:ext>
            </a:extLst>
          </p:cNvPr>
          <p:cNvSpPr/>
          <p:nvPr/>
        </p:nvSpPr>
        <p:spPr>
          <a:xfrm>
            <a:off x="1950279" y="6219028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5" name="그룹 21">
            <a:extLst>
              <a:ext uri="{FF2B5EF4-FFF2-40B4-BE49-F238E27FC236}">
                <a16:creationId xmlns:a16="http://schemas.microsoft.com/office/drawing/2014/main" id="{4F736BBB-AD7D-0E88-85DB-719A7B1AD4B8}"/>
              </a:ext>
            </a:extLst>
          </p:cNvPr>
          <p:cNvGrpSpPr>
            <a:grpSpLocks/>
          </p:cNvGrpSpPr>
          <p:nvPr/>
        </p:nvGrpSpPr>
        <p:grpSpPr bwMode="auto">
          <a:xfrm>
            <a:off x="1827705" y="5437175"/>
            <a:ext cx="252413" cy="165100"/>
            <a:chOff x="3125393" y="1499499"/>
            <a:chExt cx="252000" cy="165260"/>
          </a:xfrm>
        </p:grpSpPr>
        <p:sp>
          <p:nvSpPr>
            <p:cNvPr id="77" name="모서리가 둥근 사각형 설명선 321">
              <a:extLst>
                <a:ext uri="{FF2B5EF4-FFF2-40B4-BE49-F238E27FC236}">
                  <a16:creationId xmlns:a16="http://schemas.microsoft.com/office/drawing/2014/main" id="{F4A9D0D8-DD86-3E0E-2B23-D9EFA51804C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23">
              <a:extLst>
                <a:ext uri="{FF2B5EF4-FFF2-40B4-BE49-F238E27FC236}">
                  <a16:creationId xmlns:a16="http://schemas.microsoft.com/office/drawing/2014/main" id="{656D632A-0B1F-92EE-0306-BA6B777BC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b</a:t>
              </a:r>
            </a:p>
          </p:txBody>
        </p:sp>
      </p:grpSp>
      <p:graphicFrame>
        <p:nvGraphicFramePr>
          <p:cNvPr id="87" name="표 86">
            <a:extLst>
              <a:ext uri="{FF2B5EF4-FFF2-40B4-BE49-F238E27FC236}">
                <a16:creationId xmlns:a16="http://schemas.microsoft.com/office/drawing/2014/main" id="{2F0CEBFE-8C67-C236-F3D4-91BAF669CF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5736065"/>
              </p:ext>
            </p:extLst>
          </p:nvPr>
        </p:nvGraphicFramePr>
        <p:xfrm>
          <a:off x="11935946" y="1673442"/>
          <a:ext cx="2066563" cy="3935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1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재검토진행 상태로 변경 시 </a:t>
                      </a:r>
                      <a:r>
                        <a:rPr lang="ko-KR" altLang="ko-KR" sz="700" b="1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</a:t>
                      </a:r>
                      <a:r>
                        <a:rPr lang="ko-KR" altLang="ko-KR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검토자에게 메일 발송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(07/10)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64134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검토 요청 수정화면으로 전환한다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 상태에 따라 수정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상세화면 이동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이후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상세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</a:t>
                      </a:r>
                      <a:r>
                        <a:rPr lang="ko-KR" altLang="en-US" sz="700" dirty="0"/>
                        <a:t>제목 자동 생성 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b="1" dirty="0"/>
                        <a:t>구분 </a:t>
                      </a:r>
                      <a:r>
                        <a:rPr lang="en-US" altLang="ko-KR" sz="700" b="1" dirty="0"/>
                        <a:t>+ </a:t>
                      </a:r>
                      <a:r>
                        <a:rPr lang="ko-KR" altLang="en-US" sz="700" b="1" dirty="0"/>
                        <a:t>홍보물 유형 </a:t>
                      </a:r>
                      <a:r>
                        <a:rPr lang="en-US" altLang="ko-KR" sz="700" b="1" dirty="0"/>
                        <a:t>+ </a:t>
                      </a:r>
                      <a:r>
                        <a:rPr lang="ko-KR" altLang="en-US" sz="700" b="1" dirty="0"/>
                        <a:t>프로모션명</a:t>
                      </a:r>
                      <a:r>
                        <a:rPr lang="en-US" altLang="ko-KR" sz="700" b="1" dirty="0"/>
                        <a:t>(</a:t>
                      </a:r>
                      <a:r>
                        <a:rPr lang="ko-KR" altLang="en-US" sz="700" b="1" dirty="0"/>
                        <a:t>프로모션일 경우</a:t>
                      </a:r>
                      <a:r>
                        <a:rPr lang="en-US" altLang="ko-KR" sz="700" b="1" dirty="0"/>
                        <a:t>, </a:t>
                      </a:r>
                      <a:r>
                        <a:rPr lang="ko-KR" altLang="en-US" sz="700" b="1" dirty="0"/>
                        <a:t>아닐 경우 생략</a:t>
                      </a:r>
                      <a:r>
                        <a:rPr lang="en-US" altLang="ko-KR" sz="700" b="1" dirty="0"/>
                        <a:t>) + </a:t>
                      </a:r>
                      <a:r>
                        <a:rPr lang="ko-KR" altLang="en-US" sz="700" b="1" dirty="0"/>
                        <a:t>대표</a:t>
                      </a:r>
                      <a:r>
                        <a:rPr lang="en-US" altLang="ko-KR" sz="700" b="1" dirty="0"/>
                        <a:t>SKU</a:t>
                      </a:r>
                      <a:r>
                        <a:rPr lang="ko-KR" altLang="en-US" sz="700" b="1" dirty="0"/>
                        <a:t>명 외 </a:t>
                      </a:r>
                      <a:r>
                        <a:rPr lang="en-US" altLang="ko-KR" sz="700" b="1" dirty="0"/>
                        <a:t>0</a:t>
                      </a:r>
                      <a:r>
                        <a:rPr lang="ko-KR" altLang="en-US" sz="700" b="1" dirty="0"/>
                        <a:t>건 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06788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아이콘 출력 정의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 또는 수정사항 발생시 로그인대상이 해당 요청에 대해 상세 화면을 미확인시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대상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143309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홍보물 검토건이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재검토진행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”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상태로 변경된 원인 중   포함된 안전성검토 중에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결재반려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회수 건이 몇 건 존재하는지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7612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버튼 클릭 시 기간조회가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이상일 경우 알림 출력하고 조회를 하지 않음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22742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버튼 클릭 시 필수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조회조건이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미입력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시 알림 출력하고 조회를 하지 않음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803617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trike="noStrike" kern="120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삭제버튼 클릭 시 삭제 주의 알림 출력</a:t>
                      </a:r>
                      <a:endParaRPr lang="ko-KR" altLang="ko-KR" sz="700" strike="noStrike" kern="120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89379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trike="noStrike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strike="noStrike" kern="120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69392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검색조건의 모든 선택항목은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Multi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선택으로 처리함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조회대상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홍보물유형 등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875060"/>
                  </a:ext>
                </a:extLst>
              </a:tr>
            </a:tbl>
          </a:graphicData>
        </a:graphic>
      </p:graphicFrame>
      <p:pic>
        <p:nvPicPr>
          <p:cNvPr id="39" name="그림 38">
            <a:extLst>
              <a:ext uri="{FF2B5EF4-FFF2-40B4-BE49-F238E27FC236}">
                <a16:creationId xmlns:a16="http://schemas.microsoft.com/office/drawing/2014/main" id="{945A1A3B-8930-16F1-4206-4B022A76AFEE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screen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628468" y="3665242"/>
            <a:ext cx="168591" cy="168591"/>
          </a:xfrm>
          <a:prstGeom prst="rect">
            <a:avLst/>
          </a:prstGeom>
        </p:spPr>
      </p:pic>
      <p:pic>
        <p:nvPicPr>
          <p:cNvPr id="70" name="그림 69">
            <a:extLst>
              <a:ext uri="{FF2B5EF4-FFF2-40B4-BE49-F238E27FC236}">
                <a16:creationId xmlns:a16="http://schemas.microsoft.com/office/drawing/2014/main" id="{57C9014D-2976-4098-7B61-ABB415310A9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87097" y="1923510"/>
            <a:ext cx="972833" cy="190500"/>
          </a:xfrm>
          <a:prstGeom prst="rect">
            <a:avLst/>
          </a:prstGeom>
        </p:spPr>
      </p:pic>
      <p:grpSp>
        <p:nvGrpSpPr>
          <p:cNvPr id="71" name="그룹 21">
            <a:extLst>
              <a:ext uri="{FF2B5EF4-FFF2-40B4-BE49-F238E27FC236}">
                <a16:creationId xmlns:a16="http://schemas.microsoft.com/office/drawing/2014/main" id="{E2311818-1BF1-06B3-1E5D-0C9FF511E020}"/>
              </a:ext>
            </a:extLst>
          </p:cNvPr>
          <p:cNvGrpSpPr>
            <a:grpSpLocks/>
          </p:cNvGrpSpPr>
          <p:nvPr/>
        </p:nvGrpSpPr>
        <p:grpSpPr bwMode="auto">
          <a:xfrm>
            <a:off x="6359930" y="1404747"/>
            <a:ext cx="252413" cy="165100"/>
            <a:chOff x="3125393" y="1499499"/>
            <a:chExt cx="252000" cy="165260"/>
          </a:xfrm>
        </p:grpSpPr>
        <p:sp>
          <p:nvSpPr>
            <p:cNvPr id="72" name="모서리가 둥근 사각형 설명선 321">
              <a:extLst>
                <a:ext uri="{FF2B5EF4-FFF2-40B4-BE49-F238E27FC236}">
                  <a16:creationId xmlns:a16="http://schemas.microsoft.com/office/drawing/2014/main" id="{55FCDC89-F222-13B8-0E85-04621CC08F3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23">
              <a:extLst>
                <a:ext uri="{FF2B5EF4-FFF2-40B4-BE49-F238E27FC236}">
                  <a16:creationId xmlns:a16="http://schemas.microsoft.com/office/drawing/2014/main" id="{39BAD509-2887-75D8-4606-5180616DD1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16F8F1F3-5616-F25B-CA35-4179F7AC0A66}"/>
              </a:ext>
            </a:extLst>
          </p:cNvPr>
          <p:cNvGrpSpPr/>
          <p:nvPr/>
        </p:nvGrpSpPr>
        <p:grpSpPr>
          <a:xfrm>
            <a:off x="8651628" y="1931757"/>
            <a:ext cx="676181" cy="226238"/>
            <a:chOff x="6516249" y="1611020"/>
            <a:chExt cx="676181" cy="226238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8698B0D-B5B3-B493-5C1F-2C5C2092E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 err="1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작성중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기</a:t>
              </a:r>
            </a:p>
          </p:txBody>
        </p:sp>
        <p:pic>
          <p:nvPicPr>
            <p:cNvPr id="86" name="Picture 103">
              <a:extLst>
                <a:ext uri="{FF2B5EF4-FFF2-40B4-BE49-F238E27FC236}">
                  <a16:creationId xmlns:a16="http://schemas.microsoft.com/office/drawing/2014/main" id="{F562CA47-B98E-01FA-33CB-4A79593394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grpSp>
        <p:nvGrpSpPr>
          <p:cNvPr id="91" name="그룹 21">
            <a:extLst>
              <a:ext uri="{FF2B5EF4-FFF2-40B4-BE49-F238E27FC236}">
                <a16:creationId xmlns:a16="http://schemas.microsoft.com/office/drawing/2014/main" id="{F9E8C0E5-12BC-ED36-C6D5-BF4FDA2AD813}"/>
              </a:ext>
            </a:extLst>
          </p:cNvPr>
          <p:cNvGrpSpPr>
            <a:grpSpLocks/>
          </p:cNvGrpSpPr>
          <p:nvPr/>
        </p:nvGrpSpPr>
        <p:grpSpPr bwMode="auto">
          <a:xfrm>
            <a:off x="721546" y="2639855"/>
            <a:ext cx="252413" cy="165100"/>
            <a:chOff x="3125393" y="1499499"/>
            <a:chExt cx="252000" cy="165260"/>
          </a:xfrm>
        </p:grpSpPr>
        <p:sp>
          <p:nvSpPr>
            <p:cNvPr id="92" name="모서리가 둥근 사각형 설명선 321">
              <a:extLst>
                <a:ext uri="{FF2B5EF4-FFF2-40B4-BE49-F238E27FC236}">
                  <a16:creationId xmlns:a16="http://schemas.microsoft.com/office/drawing/2014/main" id="{73E9DE7D-7382-B405-46E5-53C9C0388D5C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TextBox 23">
              <a:extLst>
                <a:ext uri="{FF2B5EF4-FFF2-40B4-BE49-F238E27FC236}">
                  <a16:creationId xmlns:a16="http://schemas.microsoft.com/office/drawing/2014/main" id="{5B1BE399-717A-001C-36A4-6415F48E1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pic>
        <p:nvPicPr>
          <p:cNvPr id="23" name="그림 22">
            <a:extLst>
              <a:ext uri="{FF2B5EF4-FFF2-40B4-BE49-F238E27FC236}">
                <a16:creationId xmlns:a16="http://schemas.microsoft.com/office/drawing/2014/main" id="{458626C7-57C9-6FD8-2F62-6A00A709C59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48585" y="1939273"/>
            <a:ext cx="765626" cy="149925"/>
          </a:xfrm>
          <a:prstGeom prst="rect">
            <a:avLst/>
          </a:prstGeom>
        </p:spPr>
      </p:pic>
      <p:pic>
        <p:nvPicPr>
          <p:cNvPr id="76" name="그림 75">
            <a:extLst>
              <a:ext uri="{FF2B5EF4-FFF2-40B4-BE49-F238E27FC236}">
                <a16:creationId xmlns:a16="http://schemas.microsoft.com/office/drawing/2014/main" id="{145DE7CC-DE48-4AE3-5860-8D06C1D3C7D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1419" y="2513602"/>
            <a:ext cx="543161" cy="181054"/>
          </a:xfrm>
          <a:prstGeom prst="rect">
            <a:avLst/>
          </a:pr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1299D37B-7F6F-3E17-7F1B-F625BA3C3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853" y="2794433"/>
            <a:ext cx="439289" cy="146419"/>
          </a:xfrm>
          <a:prstGeom prst="rect">
            <a:avLst/>
          </a:prstGeom>
          <a:solidFill>
            <a:srgbClr val="0000FF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" name="그룹 21">
            <a:extLst>
              <a:ext uri="{FF2B5EF4-FFF2-40B4-BE49-F238E27FC236}">
                <a16:creationId xmlns:a16="http://schemas.microsoft.com/office/drawing/2014/main" id="{BD9E4914-EE3E-E3B1-C565-82E18C2A05C0}"/>
              </a:ext>
            </a:extLst>
          </p:cNvPr>
          <p:cNvGrpSpPr>
            <a:grpSpLocks/>
          </p:cNvGrpSpPr>
          <p:nvPr/>
        </p:nvGrpSpPr>
        <p:grpSpPr bwMode="auto">
          <a:xfrm>
            <a:off x="9173322" y="2324618"/>
            <a:ext cx="252413" cy="165100"/>
            <a:chOff x="3125393" y="1499499"/>
            <a:chExt cx="252000" cy="165260"/>
          </a:xfrm>
        </p:grpSpPr>
        <p:sp>
          <p:nvSpPr>
            <p:cNvPr id="35" name="모서리가 둥근 사각형 설명선 321">
              <a:extLst>
                <a:ext uri="{FF2B5EF4-FFF2-40B4-BE49-F238E27FC236}">
                  <a16:creationId xmlns:a16="http://schemas.microsoft.com/office/drawing/2014/main" id="{D8E824A2-5033-6040-3FD7-816EDFB64C7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31A52BBF-2A8A-4D21-925B-8753B545C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sp>
        <p:nvSpPr>
          <p:cNvPr id="95" name="양쪽 모서리가 둥근 사각형 56">
            <a:extLst>
              <a:ext uri="{FF2B5EF4-FFF2-40B4-BE49-F238E27FC236}">
                <a16:creationId xmlns:a16="http://schemas.microsoft.com/office/drawing/2014/main" id="{B6F02A72-696D-A5B2-16AF-44CA473CF98C}"/>
              </a:ext>
            </a:extLst>
          </p:cNvPr>
          <p:cNvSpPr/>
          <p:nvPr/>
        </p:nvSpPr>
        <p:spPr>
          <a:xfrm>
            <a:off x="3516791" y="5667686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 시 모든 검토 내용이 삭제됩니다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정말 삭제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96" name="그룹 21">
            <a:extLst>
              <a:ext uri="{FF2B5EF4-FFF2-40B4-BE49-F238E27FC236}">
                <a16:creationId xmlns:a16="http://schemas.microsoft.com/office/drawing/2014/main" id="{630814BE-841C-1A8D-B11B-44B8CEA5BDEC}"/>
              </a:ext>
            </a:extLst>
          </p:cNvPr>
          <p:cNvGrpSpPr>
            <a:grpSpLocks/>
          </p:cNvGrpSpPr>
          <p:nvPr/>
        </p:nvGrpSpPr>
        <p:grpSpPr bwMode="auto">
          <a:xfrm>
            <a:off x="3391787" y="5444159"/>
            <a:ext cx="252412" cy="165100"/>
            <a:chOff x="3125393" y="1499499"/>
            <a:chExt cx="252000" cy="165260"/>
          </a:xfrm>
        </p:grpSpPr>
        <p:sp>
          <p:nvSpPr>
            <p:cNvPr id="97" name="모서리가 둥근 사각형 설명선 321">
              <a:extLst>
                <a:ext uri="{FF2B5EF4-FFF2-40B4-BE49-F238E27FC236}">
                  <a16:creationId xmlns:a16="http://schemas.microsoft.com/office/drawing/2014/main" id="{7284EF4D-F9C3-93CF-F30B-291264C8EFA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TextBox 23">
              <a:extLst>
                <a:ext uri="{FF2B5EF4-FFF2-40B4-BE49-F238E27FC236}">
                  <a16:creationId xmlns:a16="http://schemas.microsoft.com/office/drawing/2014/main" id="{3D9BA6AC-35EA-77A3-B591-D0ACBE5C44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c</a:t>
              </a:r>
            </a:p>
          </p:txBody>
        </p:sp>
      </p:grp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B59BCAFF-2534-D17C-1A57-824CFBF07FA5}"/>
              </a:ext>
            </a:extLst>
          </p:cNvPr>
          <p:cNvSpPr/>
          <p:nvPr/>
        </p:nvSpPr>
        <p:spPr>
          <a:xfrm>
            <a:off x="3982524" y="6226012"/>
            <a:ext cx="985409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EB52A569-13C0-8528-9C14-1F1224A6DF52}"/>
              </a:ext>
            </a:extLst>
          </p:cNvPr>
          <p:cNvSpPr/>
          <p:nvPr/>
        </p:nvSpPr>
        <p:spPr>
          <a:xfrm>
            <a:off x="3524809" y="6229431"/>
            <a:ext cx="445573" cy="252000"/>
          </a:xfrm>
          <a:prstGeom prst="roundRect">
            <a:avLst>
              <a:gd name="adj" fmla="val 0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FA1F54A-455B-439A-785A-9463EA953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4121" y="1641407"/>
            <a:ext cx="718699" cy="18904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113" name="그룹 21">
            <a:extLst>
              <a:ext uri="{FF2B5EF4-FFF2-40B4-BE49-F238E27FC236}">
                <a16:creationId xmlns:a16="http://schemas.microsoft.com/office/drawing/2014/main" id="{FC8F9E40-8A74-3091-0D97-3E15374B1F1A}"/>
              </a:ext>
            </a:extLst>
          </p:cNvPr>
          <p:cNvGrpSpPr>
            <a:grpSpLocks/>
          </p:cNvGrpSpPr>
          <p:nvPr/>
        </p:nvGrpSpPr>
        <p:grpSpPr bwMode="auto">
          <a:xfrm>
            <a:off x="3137290" y="3140766"/>
            <a:ext cx="252413" cy="165100"/>
            <a:chOff x="3125393" y="1499499"/>
            <a:chExt cx="252000" cy="165260"/>
          </a:xfrm>
        </p:grpSpPr>
        <p:sp>
          <p:nvSpPr>
            <p:cNvPr id="114" name="모서리가 둥근 사각형 설명선 321">
              <a:extLst>
                <a:ext uri="{FF2B5EF4-FFF2-40B4-BE49-F238E27FC236}">
                  <a16:creationId xmlns:a16="http://schemas.microsoft.com/office/drawing/2014/main" id="{A8967CA2-E5F5-6624-F202-068BF20A001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" name="TextBox 23">
              <a:extLst>
                <a:ext uri="{FF2B5EF4-FFF2-40B4-BE49-F238E27FC236}">
                  <a16:creationId xmlns:a16="http://schemas.microsoft.com/office/drawing/2014/main" id="{45C612B6-F974-E35B-AB73-3AA9B963D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grpSp>
        <p:nvGrpSpPr>
          <p:cNvPr id="84" name="그룹 21">
            <a:extLst>
              <a:ext uri="{FF2B5EF4-FFF2-40B4-BE49-F238E27FC236}">
                <a16:creationId xmlns:a16="http://schemas.microsoft.com/office/drawing/2014/main" id="{2B571B25-5113-FD62-60C0-E1B1F8CBB20A}"/>
              </a:ext>
            </a:extLst>
          </p:cNvPr>
          <p:cNvGrpSpPr>
            <a:grpSpLocks/>
          </p:cNvGrpSpPr>
          <p:nvPr/>
        </p:nvGrpSpPr>
        <p:grpSpPr bwMode="auto">
          <a:xfrm>
            <a:off x="1229142" y="4363078"/>
            <a:ext cx="252413" cy="165100"/>
            <a:chOff x="3125393" y="1499499"/>
            <a:chExt cx="252000" cy="165260"/>
          </a:xfrm>
        </p:grpSpPr>
        <p:sp>
          <p:nvSpPr>
            <p:cNvPr id="85" name="모서리가 둥근 사각형 설명선 321">
              <a:extLst>
                <a:ext uri="{FF2B5EF4-FFF2-40B4-BE49-F238E27FC236}">
                  <a16:creationId xmlns:a16="http://schemas.microsoft.com/office/drawing/2014/main" id="{080CB997-CE94-3505-F329-D33A2DC3AA9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23">
              <a:extLst>
                <a:ext uri="{FF2B5EF4-FFF2-40B4-BE49-F238E27FC236}">
                  <a16:creationId xmlns:a16="http://schemas.microsoft.com/office/drawing/2014/main" id="{56C4EACA-7A7F-EA2F-2AC4-E0203C3F5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pSp>
        <p:nvGrpSpPr>
          <p:cNvPr id="12" name="그룹 21">
            <a:extLst>
              <a:ext uri="{FF2B5EF4-FFF2-40B4-BE49-F238E27FC236}">
                <a16:creationId xmlns:a16="http://schemas.microsoft.com/office/drawing/2014/main" id="{16C365E5-E30B-048E-8BDB-B08655A197C2}"/>
              </a:ext>
            </a:extLst>
          </p:cNvPr>
          <p:cNvGrpSpPr>
            <a:grpSpLocks/>
          </p:cNvGrpSpPr>
          <p:nvPr/>
        </p:nvGrpSpPr>
        <p:grpSpPr bwMode="auto">
          <a:xfrm>
            <a:off x="7841921" y="1457680"/>
            <a:ext cx="252413" cy="165100"/>
            <a:chOff x="3125393" y="1499499"/>
            <a:chExt cx="252000" cy="165260"/>
          </a:xfrm>
        </p:grpSpPr>
        <p:sp>
          <p:nvSpPr>
            <p:cNvPr id="13" name="모서리가 둥근 사각형 설명선 321">
              <a:extLst>
                <a:ext uri="{FF2B5EF4-FFF2-40B4-BE49-F238E27FC236}">
                  <a16:creationId xmlns:a16="http://schemas.microsoft.com/office/drawing/2014/main" id="{00D79ACB-1FD1-4319-5CA6-716470333CB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TextBox 23">
              <a:extLst>
                <a:ext uri="{FF2B5EF4-FFF2-40B4-BE49-F238E27FC236}">
                  <a16:creationId xmlns:a16="http://schemas.microsoft.com/office/drawing/2014/main" id="{6D003820-D0FE-6628-D1F6-74D0A198F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grpSp>
        <p:nvGrpSpPr>
          <p:cNvPr id="19" name="그룹 21">
            <a:extLst>
              <a:ext uri="{FF2B5EF4-FFF2-40B4-BE49-F238E27FC236}">
                <a16:creationId xmlns:a16="http://schemas.microsoft.com/office/drawing/2014/main" id="{67975182-CA4C-2BF4-EE24-6C3FFFA7D89F}"/>
              </a:ext>
            </a:extLst>
          </p:cNvPr>
          <p:cNvGrpSpPr>
            <a:grpSpLocks/>
          </p:cNvGrpSpPr>
          <p:nvPr/>
        </p:nvGrpSpPr>
        <p:grpSpPr bwMode="auto">
          <a:xfrm>
            <a:off x="1990679" y="2940852"/>
            <a:ext cx="252413" cy="165100"/>
            <a:chOff x="3125393" y="1499499"/>
            <a:chExt cx="252000" cy="165260"/>
          </a:xfrm>
        </p:grpSpPr>
        <p:sp>
          <p:nvSpPr>
            <p:cNvPr id="20" name="모서리가 둥근 사각형 설명선 321">
              <a:extLst>
                <a:ext uri="{FF2B5EF4-FFF2-40B4-BE49-F238E27FC236}">
                  <a16:creationId xmlns:a16="http://schemas.microsoft.com/office/drawing/2014/main" id="{40D3AADE-C6A3-4F94-CB43-5095402C478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TextBox 23">
              <a:extLst>
                <a:ext uri="{FF2B5EF4-FFF2-40B4-BE49-F238E27FC236}">
                  <a16:creationId xmlns:a16="http://schemas.microsoft.com/office/drawing/2014/main" id="{60394B5F-83FE-3DED-F474-C29DFFEDF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8245459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7943085"/>
              </p:ext>
            </p:extLst>
          </p:nvPr>
        </p:nvGraphicFramePr>
        <p:xfrm>
          <a:off x="254000" y="1343534"/>
          <a:ext cx="11691939" cy="231064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SERPWEB.SFTY_XMNT_READ_INFO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안전 검토 상태 이력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4822241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7289387"/>
              </p:ext>
            </p:extLst>
          </p:nvPr>
        </p:nvGraphicFramePr>
        <p:xfrm>
          <a:off x="247260" y="5086409"/>
          <a:ext cx="11710849" cy="115380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8" name="Group 234">
            <a:extLst>
              <a:ext uri="{FF2B5EF4-FFF2-40B4-BE49-F238E27FC236}">
                <a16:creationId xmlns:a16="http://schemas.microsoft.com/office/drawing/2014/main" id="{4F87634A-908F-4584-4F68-C1A06C0166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6478453"/>
              </p:ext>
            </p:extLst>
          </p:nvPr>
        </p:nvGraphicFramePr>
        <p:xfrm>
          <a:off x="243841" y="534158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458498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5434297"/>
              </p:ext>
            </p:extLst>
          </p:nvPr>
        </p:nvGraphicFramePr>
        <p:xfrm>
          <a:off x="254000" y="1343534"/>
          <a:ext cx="11698679" cy="25383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제품처리구분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살균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멸균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제품보관분류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상온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내장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냉동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진행상태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조검부완료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결재상태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결재완료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298866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홍보물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826141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요청상태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7652438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검토상태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4988660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4481381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443711"/>
              </p:ext>
            </p:extLst>
          </p:nvPr>
        </p:nvGraphicFramePr>
        <p:xfrm>
          <a:off x="247260" y="4753938"/>
          <a:ext cx="11698678" cy="13845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90D1572E-F47F-8853-47B7-0A7D86C6BD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7416306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051458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9418444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>
                <a:effectLst>
                  <a:reflection blurRad="38100" stA="45000" endPos="65000" dist="50800" dir="5400000" sy="-100000" algn="bl" rotWithShape="0"/>
                </a:effectLst>
              </a:tblPr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검토 요청 현황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조회기간 등록일 선택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금일 기준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일전으로 설정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최대 조회 기간은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조회대상은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선택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조건은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사번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정보는 로그인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명으로 설정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삭제포함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선택해제 상태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조회대상 항목의 설정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내목록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(=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로그인 사용자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(=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로그인 사용자 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홍보물유형 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900" b="0" dirty="0" err="1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사이렌오더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900" b="0" dirty="0" err="1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상세페이지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)/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클릭 시 화면 이동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작성중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화면으로 이동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 전 화면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검토진행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조건부완료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완료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검토 상세조회 및 수정 화면 이동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 이후 화면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개인정보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마스킹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및 닉네임처리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리스트 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, 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 팝업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</a:p>
                    <a:p>
                      <a:pPr defTabSz="371464" fontAlgn="base">
                        <a:lnSpc>
                          <a:spcPct val="13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</a:pP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 양식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②</a:t>
                      </a:r>
                      <a:r>
                        <a:rPr kumimoji="1" lang="ko-KR" altLang="en-US" sz="900" b="0" dirty="0">
                          <a:ln w="0"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홍보물 유형 </a:t>
                      </a:r>
                      <a:r>
                        <a:rPr kumimoji="1" lang="ko-KR" altLang="en-US" sz="900" b="0" dirty="0" err="1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해당명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프로모션명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(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프로모션일 경우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, 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아닐 경우 생략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) 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⑤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대표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SKU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명 외 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0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</a:rPr>
                        <a:t>건</a:t>
                      </a:r>
                      <a:endParaRPr kumimoji="1" lang="en-US" altLang="ko-KR" sz="900" b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indent="0" defTabSz="371464" fontAlgn="base">
                        <a:lnSpc>
                          <a:spcPct val="13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: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[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게시물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Spring1 /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파인 코코넛향 소스 외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en-US" altLang="ko-KR" sz="900" u="none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</a:t>
                      </a:r>
                      <a:r>
                        <a:rPr kumimoji="1" lang="ko-KR" altLang="en-US" sz="900" u="none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긴급에 체크할 경우에만 </a:t>
                      </a:r>
                      <a:r>
                        <a:rPr kumimoji="1" lang="en-US" altLang="ko-KR" sz="900" u="none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“[</a:t>
                      </a:r>
                      <a:r>
                        <a:rPr kumimoji="1" lang="ko-KR" altLang="en-US" sz="900" u="none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</a:t>
                      </a:r>
                      <a:r>
                        <a:rPr kumimoji="1" lang="en-US" altLang="ko-KR" sz="900" u="none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]” </a:t>
                      </a:r>
                      <a:r>
                        <a:rPr kumimoji="1" lang="ko-KR" altLang="en-US" sz="900" u="none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노출 </a:t>
                      </a:r>
                      <a:endParaRPr kumimoji="1" lang="en-US" altLang="ko-KR" sz="900" u="none" dirty="0">
                        <a:ln>
                          <a:noFill/>
                        </a:ln>
                        <a:solidFill>
                          <a:srgbClr val="40404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indent="0" defTabSz="371464" fontAlgn="base">
                        <a:lnSpc>
                          <a:spcPct val="13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 건수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홍보물 검토건이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“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재검토진행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”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상태로 변경된 원인 중   포함된 안전성검토 중에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결재반려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./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회수 건이 몇 건 존재하는지 출력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indent="0" defTabSz="371464" fontAlgn="base">
                        <a:lnSpc>
                          <a:spcPct val="13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신규생성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: </a:t>
                      </a:r>
                      <a:r>
                        <a:rPr lang="en-US" altLang="ko-KR" sz="90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 </a:t>
                      </a:r>
                      <a:r>
                        <a:rPr lang="ko-KR" altLang="en-US" sz="90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으로 이동</a:t>
                      </a:r>
                      <a:endParaRPr lang="en-US" altLang="ko-KR" sz="900" kern="12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신규 홍보물 검토 요청 건을 작성 등록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[5]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 상태는 삭제할 수 있다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데이터 완전 삭제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이후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flag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(Y/N)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[6]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미처리알림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런칭일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기준 미처리 건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완료가 아닌 모든 건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 대한 알림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이메일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처리를 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요청부서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+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검토자의 검토부서 모든 인원에게 이메일 발송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 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출시일 당일 오전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 기준 검토완료가 되지 않을 경우 알림 발송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이후 매일 오전</a:t>
                      </a:r>
                      <a:r>
                        <a:rPr lang="en-US" altLang="ko-KR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r>
                        <a:rPr lang="ko-KR" altLang="en-US" sz="900" b="0" i="0" kern="12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 기준으로 검토완료시 까지 발송</a:t>
                      </a:r>
                      <a:endParaRPr lang="en-US" altLang="ko-KR" sz="900" b="0" i="0" kern="12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[7]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검토요청 알림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기존 안전성검토 문구와 같은 내용으로 적용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검토자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(EP+MAIL) 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검토부서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(EP)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" name="그림 1">
            <a:extLst>
              <a:ext uri="{FF2B5EF4-FFF2-40B4-BE49-F238E27FC236}">
                <a16:creationId xmlns:a16="http://schemas.microsoft.com/office/drawing/2014/main" id="{BE069931-966C-78FF-69AE-CD185215B93B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898114" y="2747005"/>
            <a:ext cx="168591" cy="168591"/>
          </a:xfrm>
          <a:prstGeom prst="rect">
            <a:avLst/>
          </a:pr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07F8DFE-8A73-66CC-E3D7-7F7D0FD73164}"/>
              </a:ext>
            </a:extLst>
          </p:cNvPr>
          <p:cNvSpPr/>
          <p:nvPr/>
        </p:nvSpPr>
        <p:spPr bwMode="auto">
          <a:xfrm>
            <a:off x="8774885" y="4601014"/>
            <a:ext cx="2962365" cy="1788574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이메일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런칭일 경과 후 </a:t>
            </a:r>
            <a:r>
              <a:rPr kumimoji="1" lang="ko-KR" altLang="en-US" sz="1000" b="0" i="0" u="none" strike="noStrike" cap="none" normalizeH="0" baseline="0" dirty="0" err="1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미처리알림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1000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목록에서 수동 처리</a:t>
            </a:r>
            <a:r>
              <a:rPr lang="en-US" altLang="ko-KR" sz="1000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버튼</a:t>
            </a:r>
            <a:r>
              <a:rPr lang="en-US" altLang="ko-KR" sz="1000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en-US" altLang="ko-KR" sz="1000" b="0" i="0" u="none" strike="noStrike" cap="none" normalizeH="0" baseline="0" dirty="0">
              <a:ln>
                <a:noFill/>
              </a:ln>
              <a:solidFill>
                <a:schemeClr val="accent2"/>
              </a:solidFill>
              <a:effectLst/>
              <a:latin typeface="맑은 고딕" pitchFamily="50" charset="-127"/>
              <a:ea typeface="맑은 고딕" pitchFamily="50" charset="-127"/>
            </a:endParaRPr>
          </a:p>
          <a:p>
            <a:pPr algn="just">
              <a:lnSpc>
                <a:spcPct val="107000"/>
              </a:lnSpc>
              <a:spcAft>
                <a:spcPts val="800"/>
              </a:spcAft>
              <a:tabLst>
                <a:tab pos="693420" algn="l"/>
              </a:tabLst>
            </a:pP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『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구분 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+ 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홍보물 유형 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+ 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프로모션명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(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프로모션일 경우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아닐 경우 생략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) + SKU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명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(→ 00000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샌드위치 등 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0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건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)』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홍보물 검토 요청이 완료되지 않았습니다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. 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검토 요청 내용을 확인하여 주십시오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."</a:t>
            </a:r>
            <a:endParaRPr lang="ko-KR" altLang="ko-KR" sz="900" kern="100" dirty="0">
              <a:effectLst/>
              <a:latin typeface="맑은 고딕" panose="020B0503020000020004" pitchFamily="50" charset="-127"/>
              <a:ea typeface="맑은 고딕" panose="020B0503020000020004" pitchFamily="50" charset="-127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800"/>
              </a:spcAft>
              <a:tabLst>
                <a:tab pos="693420" algn="l"/>
              </a:tabLst>
            </a:pPr>
            <a:r>
              <a:rPr lang="ko-KR" altLang="ko-KR" sz="900" kern="1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예시</a:t>
            </a:r>
            <a:r>
              <a:rPr lang="en-US" altLang="ko-KR" sz="900" kern="1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) 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『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프로모션 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+ 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매장 게시물 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+ SUMMER +  00000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샌드위치 등 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5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건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)』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홍보물 검토 요청이 완료되지 않았습니다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. </a:t>
            </a:r>
            <a:r>
              <a:rPr lang="ko-KR" altLang="en-US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검토 요청 내용을 확인하여 주십시오</a:t>
            </a: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."</a:t>
            </a:r>
            <a:endParaRPr lang="ko-KR" altLang="ko-KR" sz="900" kern="100" dirty="0">
              <a:latin typeface="맑은 고딕" panose="020B0503020000020004" pitchFamily="50" charset="-127"/>
              <a:ea typeface="맑은 고딕" panose="020B0503020000020004" pitchFamily="50" charset="-127"/>
              <a:cs typeface="Times New Roman" panose="02020603050405020304" pitchFamily="18" charset="0"/>
            </a:endParaRPr>
          </a:p>
          <a:p>
            <a:pPr algn="just" latinLnBrk="1">
              <a:lnSpc>
                <a:spcPct val="107000"/>
              </a:lnSpc>
              <a:spcAft>
                <a:spcPts val="800"/>
              </a:spcAft>
              <a:tabLst>
                <a:tab pos="693420" algn="l"/>
              </a:tabLst>
            </a:pPr>
            <a:endParaRPr lang="ko-KR" altLang="ko-KR" sz="900" kern="100" dirty="0">
              <a:effectLst/>
              <a:latin typeface="맑은 고딕" panose="020B0503020000020004" pitchFamily="50" charset="-127"/>
              <a:ea typeface="맑은 고딕" panose="020B0503020000020004" pitchFamily="50" charset="-127"/>
              <a:cs typeface="Times New Roman" panose="02020603050405020304" pitchFamily="18" charset="0"/>
            </a:endParaRPr>
          </a:p>
        </p:txBody>
      </p:sp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EE258C22-0706-5030-53F4-03D57CD81F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657368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3DEF88AD-0888-F96B-AA8B-2D8F22D7373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2572" y="2611132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202207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289075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(1/3)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요청한 내역을 등록 및 수정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4C141EFC-B4D2-85A2-709E-A31B67223F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2582128"/>
              </p:ext>
            </p:extLst>
          </p:nvPr>
        </p:nvGraphicFramePr>
        <p:xfrm>
          <a:off x="340480" y="1742560"/>
          <a:ext cx="9430537" cy="19688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2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67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014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532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  <a:gridCol w="1071154">
                  <a:extLst>
                    <a:ext uri="{9D8B030D-6E8A-4147-A177-3AD203B41FA5}">
                      <a16:colId xmlns:a16="http://schemas.microsoft.com/office/drawing/2014/main" val="1062137084"/>
                    </a:ext>
                  </a:extLst>
                </a:gridCol>
                <a:gridCol w="1271452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687977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59131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프로모션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프로모션명</a:t>
                      </a:r>
                      <a:endParaRPr sz="7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1" lang="en-US" altLang="ko-KR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kern="1200" spc="0" dirty="0" err="1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endParaRPr kumimoji="1" lang="ko-KR" altLang="en-US" sz="700" b="0" kern="1200" spc="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요청부서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rgbClr val="C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긴급처리</a:t>
                      </a:r>
                      <a:endParaRPr kumimoji="1" lang="ko-KR" altLang="en-US" sz="700" b="0" kern="1200" spc="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□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진행상태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최종수정자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87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</a:t>
                      </a: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82865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기타 전달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요청사항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17066758"/>
                  </a:ext>
                </a:extLst>
              </a:tr>
            </a:tbl>
          </a:graphicData>
        </a:graphic>
      </p:graphicFrame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6335365"/>
              </p:ext>
            </p:extLst>
          </p:nvPr>
        </p:nvGraphicFramePr>
        <p:xfrm>
          <a:off x="9846998" y="1664954"/>
          <a:ext cx="2088000" cy="51180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신규등록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기본정보의 요청자와 요청부서는 로그인대상으로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 중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임시저장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상태일 경우 수정 화면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수정가능한 상태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“프로모션 선택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SKU 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선택” 으로 체크한 모든 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 자동 나열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+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+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입력한 내용을 저장한고 목록 화면으로 전환한다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 시 상태는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작성중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으로 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상태를 검토요청 상태로 변경하고 목록 화면으로 이동한다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검토자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검토부서에게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EP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메일 전송한다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검토요청전 작성중인 건을 삭제한다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삭제는 요청자만 삭제할 수 있다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 처리한 후 목록 화면으로 전환한다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22547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현황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화면으로 전환한다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검색 팝업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4607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프로모션 검색 팝업을 오픈한다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검색조건으로 프로모션명 설정한다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..</a:t>
                      </a:r>
                    </a:p>
                    <a:p>
                      <a:pPr marL="171450" marR="0" lvl="0" indent="-17145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 </a:t>
                      </a:r>
                      <a:r>
                        <a:rPr lang="en-US" altLang="ko-KR" sz="700" dirty="0"/>
                        <a:t>– </a:t>
                      </a:r>
                      <a:r>
                        <a:rPr lang="ko-KR" altLang="en-US" sz="700" dirty="0"/>
                        <a:t>프로모션 체크 시에만 활성화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자동 입력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461385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사용자 검색 팝업을 오픈한다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 선택시선택한 검토자의 부서를 자동으로 검토부서에 출력한다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406328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자동 등록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신규등록시 관리자에 설정한 요청자의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자동설정 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제품정보 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SKU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(SKU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추가버튼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프로모션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발생시에 해당 안전성검토 요청자들을 참조자로 추가</a:t>
                      </a:r>
                      <a:endParaRPr lang="en-US" altLang="ko-KR" sz="700" b="1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1045640"/>
                  </a:ext>
                </a:extLst>
              </a:tr>
            </a:tbl>
          </a:graphicData>
        </a:graphic>
      </p:graphicFrame>
      <p:grpSp>
        <p:nvGrpSpPr>
          <p:cNvPr id="53" name="그룹 52">
            <a:extLst>
              <a:ext uri="{FF2B5EF4-FFF2-40B4-BE49-F238E27FC236}">
                <a16:creationId xmlns:a16="http://schemas.microsoft.com/office/drawing/2014/main" id="{305729A3-4FB6-9131-E3E4-254CECA6C202}"/>
              </a:ext>
            </a:extLst>
          </p:cNvPr>
          <p:cNvGrpSpPr/>
          <p:nvPr/>
        </p:nvGrpSpPr>
        <p:grpSpPr>
          <a:xfrm>
            <a:off x="1529646" y="1759770"/>
            <a:ext cx="1263054" cy="226238"/>
            <a:chOff x="4829752" y="1615849"/>
            <a:chExt cx="1052721" cy="226238"/>
          </a:xfrm>
        </p:grpSpPr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A53AD0B5-5E85-86DE-25A9-87ED2DADA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752" y="1615849"/>
              <a:ext cx="105272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코어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프로모션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특화</a:t>
              </a:r>
              <a:r>
                <a:rPr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이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47" name="Picture 103">
              <a:extLst>
                <a:ext uri="{FF2B5EF4-FFF2-40B4-BE49-F238E27FC236}">
                  <a16:creationId xmlns:a16="http://schemas.microsoft.com/office/drawing/2014/main" id="{8223DF5B-08FF-18EA-B0BD-C39A90C579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/>
            <a:srcRect t="15633" r="9297"/>
            <a:stretch>
              <a:fillRect/>
            </a:stretch>
          </p:blipFill>
          <p:spPr bwMode="auto">
            <a:xfrm>
              <a:off x="5687853" y="1679877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FBD3DCD7-DBDB-1E47-8996-88AF275C047D}"/>
              </a:ext>
            </a:extLst>
          </p:cNvPr>
          <p:cNvSpPr txBox="1"/>
          <p:nvPr/>
        </p:nvSpPr>
        <p:spPr>
          <a:xfrm>
            <a:off x="264499" y="1474424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기본정보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44628F-4CC3-8952-5634-2C5EDDA2DB2D}"/>
              </a:ext>
            </a:extLst>
          </p:cNvPr>
          <p:cNvGrpSpPr/>
          <p:nvPr/>
        </p:nvGrpSpPr>
        <p:grpSpPr>
          <a:xfrm>
            <a:off x="8042362" y="2332385"/>
            <a:ext cx="1688476" cy="216000"/>
            <a:chOff x="-3636994" y="2085036"/>
            <a:chExt cx="1688476" cy="216000"/>
          </a:xfrm>
        </p:grpSpPr>
        <p:grpSp>
          <p:nvGrpSpPr>
            <p:cNvPr id="8" name="그룹 75">
              <a:extLst>
                <a:ext uri="{FF2B5EF4-FFF2-40B4-BE49-F238E27FC236}">
                  <a16:creationId xmlns:a16="http://schemas.microsoft.com/office/drawing/2014/main" id="{EFB6A1B4-57CE-B674-5F01-C3C019D1F2A2}"/>
                </a:ext>
              </a:extLst>
            </p:cNvPr>
            <p:cNvGrpSpPr/>
            <p:nvPr/>
          </p:nvGrpSpPr>
          <p:grpSpPr>
            <a:xfrm>
              <a:off x="-3636994" y="2085036"/>
              <a:ext cx="792000" cy="216000"/>
              <a:chOff x="3834532" y="2772519"/>
              <a:chExt cx="792000" cy="216000"/>
            </a:xfrm>
          </p:grpSpPr>
          <p:sp>
            <p:nvSpPr>
              <p:cNvPr id="14" name="직사각형 13">
                <a:extLst>
                  <a:ext uri="{FF2B5EF4-FFF2-40B4-BE49-F238E27FC236}">
                    <a16:creationId xmlns:a16="http://schemas.microsoft.com/office/drawing/2014/main" id="{44DA7416-0BF3-CBA8-181E-D0CA4CB1E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2023-12-16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15" name="Picture 8">
                <a:extLst>
                  <a:ext uri="{FF2B5EF4-FFF2-40B4-BE49-F238E27FC236}">
                    <a16:creationId xmlns:a16="http://schemas.microsoft.com/office/drawing/2014/main" id="{28277C13-7DD3-726F-F173-76DFCE678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" name="그룹 75">
              <a:extLst>
                <a:ext uri="{FF2B5EF4-FFF2-40B4-BE49-F238E27FC236}">
                  <a16:creationId xmlns:a16="http://schemas.microsoft.com/office/drawing/2014/main" id="{7F4B05CC-A77B-0565-4DCD-4F2BBF49FCE8}"/>
                </a:ext>
              </a:extLst>
            </p:cNvPr>
            <p:cNvGrpSpPr/>
            <p:nvPr/>
          </p:nvGrpSpPr>
          <p:grpSpPr>
            <a:xfrm>
              <a:off x="-2740518" y="2085036"/>
              <a:ext cx="792000" cy="216000"/>
              <a:chOff x="3834532" y="2772519"/>
              <a:chExt cx="792000" cy="216000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BD2B2B0B-0434-ACB7-2521-E74BC8226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2024-01-15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13" name="Picture 8">
                <a:extLst>
                  <a:ext uri="{FF2B5EF4-FFF2-40B4-BE49-F238E27FC236}">
                    <a16:creationId xmlns:a16="http://schemas.microsoft.com/office/drawing/2014/main" id="{BF0897C7-B642-295A-AEF7-628CE2760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8E8E2F7-5943-34F9-C62E-FDC638F7AF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24015" y="2139175"/>
              <a:ext cx="62518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~</a:t>
              </a:r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670532-FD9A-02D6-65CB-1733E7D27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6873" y="1538680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임시저장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DE5A1E4-C2F7-79BF-F0CB-AAE514FF1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4153" y="1537993"/>
            <a:ext cx="439289" cy="146419"/>
          </a:xfrm>
          <a:prstGeom prst="rect">
            <a:avLst/>
          </a:prstGeom>
          <a:solidFill>
            <a:srgbClr val="FF3399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</a:t>
            </a: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요청</a:t>
            </a: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66C007F-B74A-CF98-A0A1-1111D54D88F2}"/>
              </a:ext>
            </a:extLst>
          </p:cNvPr>
          <p:cNvGrpSpPr/>
          <p:nvPr/>
        </p:nvGrpSpPr>
        <p:grpSpPr>
          <a:xfrm>
            <a:off x="3856486" y="1773217"/>
            <a:ext cx="1052721" cy="226238"/>
            <a:chOff x="4829752" y="1615849"/>
            <a:chExt cx="1052721" cy="226238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C601C3AF-8D84-8791-6B9E-38B8D0699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752" y="1615849"/>
              <a:ext cx="105272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marL="0" marR="0" lvl="0" indent="0" algn="l" defTabSz="914465" rtl="0" eaLnBrk="1" fontAlgn="auto" latinLnBrk="1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매장 게시물</a:t>
              </a:r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매장 메뉴</a:t>
              </a:r>
              <a:endParaRPr kumimoji="0" lang="en-US" altLang="ko-KR" sz="600" b="0" i="0" u="none" strike="noStrike" kern="1200" cap="none" spc="-5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21" name="Picture 103">
              <a:extLst>
                <a:ext uri="{FF2B5EF4-FFF2-40B4-BE49-F238E27FC236}">
                  <a16:creationId xmlns:a16="http://schemas.microsoft.com/office/drawing/2014/main" id="{13AF0DB2-F966-AAB9-DD75-152E5A64D8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/>
            <a:srcRect t="15633" r="9297"/>
            <a:stretch>
              <a:fillRect/>
            </a:stretch>
          </p:blipFill>
          <p:spPr bwMode="auto">
            <a:xfrm>
              <a:off x="5687853" y="1679877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85234F75-7CF8-56DC-DBC4-49373E535743}"/>
              </a:ext>
            </a:extLst>
          </p:cNvPr>
          <p:cNvSpPr txBox="1"/>
          <p:nvPr/>
        </p:nvSpPr>
        <p:spPr>
          <a:xfrm>
            <a:off x="1519141" y="2101310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홍길동</a:t>
            </a: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A7993D0D-E821-7768-896A-B37F0A29E37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93575" y="2078479"/>
            <a:ext cx="1073727" cy="190500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7AA32365-3218-98B6-1BDF-DD3BDFA7BDF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5070" y="2064271"/>
            <a:ext cx="1073727" cy="190500"/>
          </a:xfrm>
          <a:prstGeom prst="rect">
            <a:avLst/>
          </a:prstGeom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72CC0328-78D4-223C-663F-FF68894C55B8}"/>
              </a:ext>
            </a:extLst>
          </p:cNvPr>
          <p:cNvSpPr txBox="1"/>
          <p:nvPr/>
        </p:nvSpPr>
        <p:spPr>
          <a:xfrm>
            <a:off x="243840" y="3711361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제품정보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B288A0D7-3C41-91DC-0A91-51A54FF16F5E}"/>
              </a:ext>
            </a:extLst>
          </p:cNvPr>
          <p:cNvSpPr txBox="1"/>
          <p:nvPr/>
        </p:nvSpPr>
        <p:spPr>
          <a:xfrm>
            <a:off x="262620" y="5301227"/>
            <a:ext cx="72795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 등록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  </a:t>
            </a:r>
            <a:r>
              <a:rPr lang="en-US" altLang="ko-KR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첨부파일은 파일 당 </a:t>
            </a:r>
            <a:r>
              <a:rPr lang="en-US" altLang="ko-KR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20MB </a:t>
            </a:r>
            <a:r>
              <a:rPr lang="ko-KR" altLang="en-US" sz="9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이하만 가능 ② 항목별 동일한 내용의 홍보물만 업로드 요청 및 항목 순서에 맞추어 등록</a:t>
            </a:r>
            <a:endParaRPr lang="en-US" altLang="ko-KR" sz="9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80F0E89-243A-EE3D-A499-128404E15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3410" y="5617533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94" name="표 93">
            <a:extLst>
              <a:ext uri="{FF2B5EF4-FFF2-40B4-BE49-F238E27FC236}">
                <a16:creationId xmlns:a16="http://schemas.microsoft.com/office/drawing/2014/main" id="{CD4FFF4B-250D-8045-3C99-9854DCA924D3}"/>
              </a:ext>
            </a:extLst>
          </p:cNvPr>
          <p:cNvGraphicFramePr>
            <a:graphicFrameLocks noGrp="1"/>
          </p:cNvGraphicFramePr>
          <p:nvPr/>
        </p:nvGraphicFramePr>
        <p:xfrm>
          <a:off x="465150" y="5828315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95" name="TextBox 94">
            <a:extLst>
              <a:ext uri="{FF2B5EF4-FFF2-40B4-BE49-F238E27FC236}">
                <a16:creationId xmlns:a16="http://schemas.microsoft.com/office/drawing/2014/main" id="{9BF61126-35B2-2103-55E9-C6187C970F20}"/>
              </a:ext>
            </a:extLst>
          </p:cNvPr>
          <p:cNvSpPr txBox="1"/>
          <p:nvPr/>
        </p:nvSpPr>
        <p:spPr>
          <a:xfrm>
            <a:off x="539137" y="5561757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홍보물①</a:t>
            </a:r>
            <a:endParaRPr lang="en-US" altLang="ko-KR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99" name="그림 98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089691DA-959F-058B-0971-857D4CACD22D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0429" y="5616214"/>
            <a:ext cx="137416" cy="137416"/>
          </a:xfrm>
          <a:prstGeom prst="rect">
            <a:avLst/>
          </a:prstGeom>
        </p:spPr>
      </p:pic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0D74264-151E-1022-4667-E9CFEF96A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2672" y="561165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975A6F2-8776-8E47-B967-E56E15355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9087" y="561411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102" name="표 101">
            <a:extLst>
              <a:ext uri="{FF2B5EF4-FFF2-40B4-BE49-F238E27FC236}">
                <a16:creationId xmlns:a16="http://schemas.microsoft.com/office/drawing/2014/main" id="{5BB2EE05-AFD3-1349-9B6D-6632493C9EF6}"/>
              </a:ext>
            </a:extLst>
          </p:cNvPr>
          <p:cNvGraphicFramePr>
            <a:graphicFrameLocks noGrp="1"/>
          </p:cNvGraphicFramePr>
          <p:nvPr/>
        </p:nvGraphicFramePr>
        <p:xfrm>
          <a:off x="3620827" y="5824894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103" name="TextBox 102">
            <a:extLst>
              <a:ext uri="{FF2B5EF4-FFF2-40B4-BE49-F238E27FC236}">
                <a16:creationId xmlns:a16="http://schemas.microsoft.com/office/drawing/2014/main" id="{21F1B6D3-71D8-349A-10B9-0742BFE6CC8F}"/>
              </a:ext>
            </a:extLst>
          </p:cNvPr>
          <p:cNvSpPr txBox="1"/>
          <p:nvPr/>
        </p:nvSpPr>
        <p:spPr>
          <a:xfrm>
            <a:off x="3694814" y="5558336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홍보물②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4" name="그림 103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3846BB82-CF3F-7B3E-591A-A4884DA46A0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26106" y="5612793"/>
            <a:ext cx="137416" cy="137416"/>
          </a:xfrm>
          <a:prstGeom prst="rect">
            <a:avLst/>
          </a:prstGeom>
        </p:spPr>
      </p:pic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55E175-52EF-8119-DD39-C571C0CDF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8349" y="560823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28C2D5D1-3AE0-B673-26EF-531EF51F3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8917" y="561411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107" name="표 106">
            <a:extLst>
              <a:ext uri="{FF2B5EF4-FFF2-40B4-BE49-F238E27FC236}">
                <a16:creationId xmlns:a16="http://schemas.microsoft.com/office/drawing/2014/main" id="{5AE2F8CA-D790-C5C6-13ED-9402F5734CFF}"/>
              </a:ext>
            </a:extLst>
          </p:cNvPr>
          <p:cNvGraphicFramePr>
            <a:graphicFrameLocks noGrp="1"/>
          </p:cNvGraphicFramePr>
          <p:nvPr/>
        </p:nvGraphicFramePr>
        <p:xfrm>
          <a:off x="6750657" y="5824894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sp>
        <p:nvSpPr>
          <p:cNvPr id="108" name="TextBox 107">
            <a:extLst>
              <a:ext uri="{FF2B5EF4-FFF2-40B4-BE49-F238E27FC236}">
                <a16:creationId xmlns:a16="http://schemas.microsoft.com/office/drawing/2014/main" id="{FE605324-A061-DDC5-C05C-33C2A441683A}"/>
              </a:ext>
            </a:extLst>
          </p:cNvPr>
          <p:cNvSpPr txBox="1"/>
          <p:nvPr/>
        </p:nvSpPr>
        <p:spPr>
          <a:xfrm>
            <a:off x="6824644" y="5558336"/>
            <a:ext cx="72487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홍보물③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9" name="그림 108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0ABD05AD-FE64-7BA5-B039-F295FDFE2594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5936" y="5612793"/>
            <a:ext cx="137416" cy="137416"/>
          </a:xfrm>
          <a:prstGeom prst="rect">
            <a:avLst/>
          </a:prstGeom>
        </p:spPr>
      </p:pic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2E2AFD4-8945-DEDB-36ED-51B8A79B1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28179" y="560823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1BE67FF-E94B-45B8-998F-1BD07D22F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8459" y="300818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참조삭제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A5FDFFD-7B28-A736-01FD-6FD60B2E1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7480" y="2714710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참조추가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4AEE6FC7-DDBE-8BF0-FE4F-FE49C965FF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740284"/>
              </p:ext>
            </p:extLst>
          </p:nvPr>
        </p:nvGraphicFramePr>
        <p:xfrm>
          <a:off x="1519141" y="2660114"/>
          <a:ext cx="5639546" cy="662940"/>
        </p:xfrm>
        <a:graphic>
          <a:graphicData uri="http://schemas.openxmlformats.org/drawingml/2006/table">
            <a:tbl>
              <a:tblPr/>
              <a:tblGrid>
                <a:gridCol w="695261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1460462705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998348012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grpSp>
        <p:nvGrpSpPr>
          <p:cNvPr id="63" name="그룹 21">
            <a:extLst>
              <a:ext uri="{FF2B5EF4-FFF2-40B4-BE49-F238E27FC236}">
                <a16:creationId xmlns:a16="http://schemas.microsoft.com/office/drawing/2014/main" id="{E66F1A5A-905B-8887-34DD-5F03EE3B2891}"/>
              </a:ext>
            </a:extLst>
          </p:cNvPr>
          <p:cNvGrpSpPr>
            <a:grpSpLocks/>
          </p:cNvGrpSpPr>
          <p:nvPr/>
        </p:nvGrpSpPr>
        <p:grpSpPr bwMode="auto">
          <a:xfrm>
            <a:off x="7809113" y="1328003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BC4575A4-97AA-935F-DC58-0EBFF175953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BCA69941-A6DF-0FD8-29D6-CB037C37F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66" name="그룹 21">
            <a:extLst>
              <a:ext uri="{FF2B5EF4-FFF2-40B4-BE49-F238E27FC236}">
                <a16:creationId xmlns:a16="http://schemas.microsoft.com/office/drawing/2014/main" id="{FAE8DED3-B62D-DBBC-9051-2A17281D2C02}"/>
              </a:ext>
            </a:extLst>
          </p:cNvPr>
          <p:cNvGrpSpPr>
            <a:grpSpLocks/>
          </p:cNvGrpSpPr>
          <p:nvPr/>
        </p:nvGrpSpPr>
        <p:grpSpPr bwMode="auto">
          <a:xfrm>
            <a:off x="8336810" y="1332906"/>
            <a:ext cx="252413" cy="165100"/>
            <a:chOff x="3125393" y="1499499"/>
            <a:chExt cx="252000" cy="165260"/>
          </a:xfrm>
        </p:grpSpPr>
        <p:sp>
          <p:nvSpPr>
            <p:cNvPr id="68" name="모서리가 둥근 사각형 설명선 321">
              <a:extLst>
                <a:ext uri="{FF2B5EF4-FFF2-40B4-BE49-F238E27FC236}">
                  <a16:creationId xmlns:a16="http://schemas.microsoft.com/office/drawing/2014/main" id="{70344CE1-E442-BFF7-B46F-4D7ABB8F5C7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23">
              <a:extLst>
                <a:ext uri="{FF2B5EF4-FFF2-40B4-BE49-F238E27FC236}">
                  <a16:creationId xmlns:a16="http://schemas.microsoft.com/office/drawing/2014/main" id="{F1694F26-5B8B-7628-1358-8553D58CA2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82" name="그룹 21">
            <a:extLst>
              <a:ext uri="{FF2B5EF4-FFF2-40B4-BE49-F238E27FC236}">
                <a16:creationId xmlns:a16="http://schemas.microsoft.com/office/drawing/2014/main" id="{99FB140B-F2BB-3ECB-A67A-FB5810B09EF6}"/>
              </a:ext>
            </a:extLst>
          </p:cNvPr>
          <p:cNvGrpSpPr>
            <a:grpSpLocks/>
          </p:cNvGrpSpPr>
          <p:nvPr/>
        </p:nvGrpSpPr>
        <p:grpSpPr bwMode="auto">
          <a:xfrm>
            <a:off x="9277204" y="1328003"/>
            <a:ext cx="252413" cy="165100"/>
            <a:chOff x="3125393" y="1499499"/>
            <a:chExt cx="252000" cy="165260"/>
          </a:xfrm>
        </p:grpSpPr>
        <p:sp>
          <p:nvSpPr>
            <p:cNvPr id="88" name="모서리가 둥근 사각형 설명선 321">
              <a:extLst>
                <a:ext uri="{FF2B5EF4-FFF2-40B4-BE49-F238E27FC236}">
                  <a16:creationId xmlns:a16="http://schemas.microsoft.com/office/drawing/2014/main" id="{888D5E60-A481-8488-3284-959303AC4CB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23">
              <a:extLst>
                <a:ext uri="{FF2B5EF4-FFF2-40B4-BE49-F238E27FC236}">
                  <a16:creationId xmlns:a16="http://schemas.microsoft.com/office/drawing/2014/main" id="{B2484E6B-F565-1622-8C75-F643FE372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grpSp>
        <p:nvGrpSpPr>
          <p:cNvPr id="92" name="그룹 21">
            <a:extLst>
              <a:ext uri="{FF2B5EF4-FFF2-40B4-BE49-F238E27FC236}">
                <a16:creationId xmlns:a16="http://schemas.microsoft.com/office/drawing/2014/main" id="{6518A9CA-A17B-13FC-75BF-D5A4BDB20BB8}"/>
              </a:ext>
            </a:extLst>
          </p:cNvPr>
          <p:cNvGrpSpPr>
            <a:grpSpLocks/>
          </p:cNvGrpSpPr>
          <p:nvPr/>
        </p:nvGrpSpPr>
        <p:grpSpPr bwMode="auto">
          <a:xfrm>
            <a:off x="8654105" y="3517414"/>
            <a:ext cx="252413" cy="165100"/>
            <a:chOff x="3125393" y="1499499"/>
            <a:chExt cx="252000" cy="165260"/>
          </a:xfrm>
        </p:grpSpPr>
        <p:sp>
          <p:nvSpPr>
            <p:cNvPr id="93" name="모서리가 둥근 사각형 설명선 321">
              <a:extLst>
                <a:ext uri="{FF2B5EF4-FFF2-40B4-BE49-F238E27FC236}">
                  <a16:creationId xmlns:a16="http://schemas.microsoft.com/office/drawing/2014/main" id="{0ADCDD49-B92D-8AEE-C7DA-B0683E934BF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6" name="TextBox 23">
              <a:extLst>
                <a:ext uri="{FF2B5EF4-FFF2-40B4-BE49-F238E27FC236}">
                  <a16:creationId xmlns:a16="http://schemas.microsoft.com/office/drawing/2014/main" id="{AD070F85-23A1-A595-19E6-CA77D00D5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grpSp>
        <p:nvGrpSpPr>
          <p:cNvPr id="136" name="그룹 21">
            <a:extLst>
              <a:ext uri="{FF2B5EF4-FFF2-40B4-BE49-F238E27FC236}">
                <a16:creationId xmlns:a16="http://schemas.microsoft.com/office/drawing/2014/main" id="{7AB3B501-1624-53C5-C03A-E6E3F6A17190}"/>
              </a:ext>
            </a:extLst>
          </p:cNvPr>
          <p:cNvGrpSpPr>
            <a:grpSpLocks/>
          </p:cNvGrpSpPr>
          <p:nvPr/>
        </p:nvGrpSpPr>
        <p:grpSpPr bwMode="auto">
          <a:xfrm>
            <a:off x="7186656" y="2561158"/>
            <a:ext cx="252413" cy="165100"/>
            <a:chOff x="3125393" y="1499499"/>
            <a:chExt cx="252000" cy="165260"/>
          </a:xfrm>
        </p:grpSpPr>
        <p:sp>
          <p:nvSpPr>
            <p:cNvPr id="137" name="모서리가 둥근 사각형 설명선 321">
              <a:extLst>
                <a:ext uri="{FF2B5EF4-FFF2-40B4-BE49-F238E27FC236}">
                  <a16:creationId xmlns:a16="http://schemas.microsoft.com/office/drawing/2014/main" id="{DA28E3C7-E7C6-E97E-6435-00815A04F3A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" name="TextBox 23">
              <a:extLst>
                <a:ext uri="{FF2B5EF4-FFF2-40B4-BE49-F238E27FC236}">
                  <a16:creationId xmlns:a16="http://schemas.microsoft.com/office/drawing/2014/main" id="{51CEA4D3-6414-CB8E-D9BD-9DCEFFF4B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  <p:grpSp>
        <p:nvGrpSpPr>
          <p:cNvPr id="139" name="그룹 21">
            <a:extLst>
              <a:ext uri="{FF2B5EF4-FFF2-40B4-BE49-F238E27FC236}">
                <a16:creationId xmlns:a16="http://schemas.microsoft.com/office/drawing/2014/main" id="{9C4C6066-EA48-DE7A-4F1C-879C424AFA9E}"/>
              </a:ext>
            </a:extLst>
          </p:cNvPr>
          <p:cNvGrpSpPr>
            <a:grpSpLocks/>
          </p:cNvGrpSpPr>
          <p:nvPr/>
        </p:nvGrpSpPr>
        <p:grpSpPr bwMode="auto">
          <a:xfrm>
            <a:off x="2133924" y="5543323"/>
            <a:ext cx="252413" cy="165100"/>
            <a:chOff x="3125393" y="1499499"/>
            <a:chExt cx="252000" cy="165260"/>
          </a:xfrm>
        </p:grpSpPr>
        <p:sp>
          <p:nvSpPr>
            <p:cNvPr id="140" name="모서리가 둥근 사각형 설명선 321">
              <a:extLst>
                <a:ext uri="{FF2B5EF4-FFF2-40B4-BE49-F238E27FC236}">
                  <a16:creationId xmlns:a16="http://schemas.microsoft.com/office/drawing/2014/main" id="{7D5B48EF-C635-20B4-969A-3288FF0A173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" name="TextBox 23">
              <a:extLst>
                <a:ext uri="{FF2B5EF4-FFF2-40B4-BE49-F238E27FC236}">
                  <a16:creationId xmlns:a16="http://schemas.microsoft.com/office/drawing/2014/main" id="{D6874E74-5753-F16A-D45D-8048375C68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13</a:t>
              </a:r>
            </a:p>
          </p:txBody>
        </p:sp>
      </p:grpSp>
      <p:grpSp>
        <p:nvGrpSpPr>
          <p:cNvPr id="142" name="그룹 21">
            <a:extLst>
              <a:ext uri="{FF2B5EF4-FFF2-40B4-BE49-F238E27FC236}">
                <a16:creationId xmlns:a16="http://schemas.microsoft.com/office/drawing/2014/main" id="{756BBFD2-EEDA-D063-9006-AC5B094A001B}"/>
              </a:ext>
            </a:extLst>
          </p:cNvPr>
          <p:cNvGrpSpPr>
            <a:grpSpLocks/>
          </p:cNvGrpSpPr>
          <p:nvPr/>
        </p:nvGrpSpPr>
        <p:grpSpPr bwMode="auto">
          <a:xfrm>
            <a:off x="3119714" y="5465030"/>
            <a:ext cx="252413" cy="165100"/>
            <a:chOff x="3125393" y="1499499"/>
            <a:chExt cx="252000" cy="165260"/>
          </a:xfrm>
        </p:grpSpPr>
        <p:sp>
          <p:nvSpPr>
            <p:cNvPr id="143" name="모서리가 둥근 사각형 설명선 321">
              <a:extLst>
                <a:ext uri="{FF2B5EF4-FFF2-40B4-BE49-F238E27FC236}">
                  <a16:creationId xmlns:a16="http://schemas.microsoft.com/office/drawing/2014/main" id="{AA2C1DA1-FC70-09B3-19C7-EBA3DF907B5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" name="TextBox 23">
              <a:extLst>
                <a:ext uri="{FF2B5EF4-FFF2-40B4-BE49-F238E27FC236}">
                  <a16:creationId xmlns:a16="http://schemas.microsoft.com/office/drawing/2014/main" id="{95E797CA-68FC-75B2-9A7B-9D3088F9A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14</a:t>
              </a:r>
            </a:p>
          </p:txBody>
        </p:sp>
      </p:grpSp>
      <p:graphicFrame>
        <p:nvGraphicFramePr>
          <p:cNvPr id="154" name="표 153">
            <a:extLst>
              <a:ext uri="{FF2B5EF4-FFF2-40B4-BE49-F238E27FC236}">
                <a16:creationId xmlns:a16="http://schemas.microsoft.com/office/drawing/2014/main" id="{4D5ABDEB-AA56-4E20-3968-A7910388FD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4607356"/>
              </p:ext>
            </p:extLst>
          </p:nvPr>
        </p:nvGraphicFramePr>
        <p:xfrm>
          <a:off x="11958674" y="1146397"/>
          <a:ext cx="2088001" cy="53667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제목클릭시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해당안전성검토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등록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 비활성 화면 또는 팝업 출력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80536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사용자 검색 팝업을 오픈하며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선택된 대상자를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리스트에 추가한다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en-US" altLang="ko-KR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Muliti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Select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참조화면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COMMO0018P)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중복체크 필수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요청부서도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추가 가능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51339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리스트 항목에서 선택되어진 건을 삭제한다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첨부파일 등록의 해당 대상 건에 대해 파일 탐색기를 오픈하며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선택된 파일을 파일 리스트에 추가한다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모든 첨부파일 업로드시 특수문자</a:t>
                      </a:r>
                      <a:r>
                        <a:rPr lang="en-US" altLang="ko-KR" sz="800" dirty="0">
                          <a:solidFill>
                            <a:schemeClr val="accent2"/>
                          </a:solidFill>
                        </a:rPr>
                        <a:t>(%)</a:t>
                      </a:r>
                      <a:r>
                        <a:rPr lang="ko-KR" altLang="en-US" sz="800" dirty="0">
                          <a:solidFill>
                            <a:schemeClr val="accent2"/>
                          </a:solidFill>
                        </a:rPr>
                        <a:t> 들어가서 오작동 발생되니 첨부 시 </a:t>
                      </a:r>
                      <a:r>
                        <a:rPr lang="en-US" altLang="ko-KR" sz="800" dirty="0">
                          <a:solidFill>
                            <a:schemeClr val="accent2"/>
                          </a:solidFill>
                        </a:rPr>
                        <a:t>Alert</a:t>
                      </a:r>
                      <a:r>
                        <a:rPr lang="ko-KR" altLang="en-US" sz="800" dirty="0">
                          <a:solidFill>
                            <a:schemeClr val="accent2"/>
                          </a:solidFill>
                        </a:rPr>
                        <a:t>으로 팝업 표기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첨부파일 리스트에서 선택되어진 건을 삭제 처리한다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파일을 다운로드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4607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첨부파일 등록에 대한 가이드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매뉴얼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을 다운로드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dk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 화면에서 업로드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929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 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코어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프로모션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특화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 err="1"/>
                        <a:t>이커머스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전용</a:t>
                      </a:r>
                      <a:r>
                        <a:rPr lang="en-US" altLang="ko-KR" sz="700" dirty="0"/>
                        <a:t>)/</a:t>
                      </a:r>
                      <a:r>
                        <a:rPr lang="ko-KR" altLang="en-US" sz="700" dirty="0"/>
                        <a:t>기타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34866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메뉴판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사이렌오더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 페이지</a:t>
                      </a:r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)/</a:t>
                      </a: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294419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</a:t>
                      </a:r>
                      <a:r>
                        <a:rPr lang="ko-KR" altLang="en-US" sz="700" dirty="0" err="1"/>
                        <a:t>첨부파일드록항목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12</a:t>
                      </a:r>
                      <a:r>
                        <a:rPr lang="ko-KR" altLang="en-US" sz="700" dirty="0"/>
                        <a:t>개 </a:t>
                      </a:r>
                      <a:endParaRPr kumimoji="0" lang="en-US" altLang="ko-KR" sz="6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95067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정보 및 파일 정보가 변경되어지면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변경으로 인한 현황에서의 변경 아이콘을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상태는 변경 아이콘 처리 안함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483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기타전달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요청사항은 최대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500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 입력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4128628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41F1F125-5DD8-C900-AF02-481908EAE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1890" y="2363637"/>
            <a:ext cx="107372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작성중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50633FD-B59C-D1A6-877E-5B0CB736B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793" y="2069299"/>
            <a:ext cx="107372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QA</a:t>
            </a: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기획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1F362E8-96E4-9DB7-23A2-084408785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8571" y="1537566"/>
            <a:ext cx="279898" cy="143623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grpSp>
        <p:nvGrpSpPr>
          <p:cNvPr id="56" name="그룹 21">
            <a:extLst>
              <a:ext uri="{FF2B5EF4-FFF2-40B4-BE49-F238E27FC236}">
                <a16:creationId xmlns:a16="http://schemas.microsoft.com/office/drawing/2014/main" id="{47F6EC2E-0963-31BA-974E-918FC04941EB}"/>
              </a:ext>
            </a:extLst>
          </p:cNvPr>
          <p:cNvGrpSpPr>
            <a:grpSpLocks/>
          </p:cNvGrpSpPr>
          <p:nvPr/>
        </p:nvGrpSpPr>
        <p:grpSpPr bwMode="auto">
          <a:xfrm>
            <a:off x="1290750" y="5969069"/>
            <a:ext cx="252413" cy="165100"/>
            <a:chOff x="3125393" y="1499499"/>
            <a:chExt cx="252000" cy="165260"/>
          </a:xfrm>
        </p:grpSpPr>
        <p:sp>
          <p:nvSpPr>
            <p:cNvPr id="111" name="모서리가 둥근 사각형 설명선 321">
              <a:extLst>
                <a:ext uri="{FF2B5EF4-FFF2-40B4-BE49-F238E27FC236}">
                  <a16:creationId xmlns:a16="http://schemas.microsoft.com/office/drawing/2014/main" id="{93E30F7C-0A70-8769-C7E8-9D02381921E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" name="TextBox 23">
              <a:extLst>
                <a:ext uri="{FF2B5EF4-FFF2-40B4-BE49-F238E27FC236}">
                  <a16:creationId xmlns:a16="http://schemas.microsoft.com/office/drawing/2014/main" id="{348A47C9-6573-CB7A-5B0B-74CE958AF9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15</a:t>
              </a:r>
            </a:p>
          </p:txBody>
        </p:sp>
      </p:grp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5332662-B0A9-F001-1076-29A99DCB5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92316" y="1533509"/>
            <a:ext cx="399354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grpSp>
        <p:nvGrpSpPr>
          <p:cNvPr id="114" name="그룹 21">
            <a:extLst>
              <a:ext uri="{FF2B5EF4-FFF2-40B4-BE49-F238E27FC236}">
                <a16:creationId xmlns:a16="http://schemas.microsoft.com/office/drawing/2014/main" id="{1B3D5B31-9041-215C-4B0D-EEEABA869D28}"/>
              </a:ext>
            </a:extLst>
          </p:cNvPr>
          <p:cNvGrpSpPr>
            <a:grpSpLocks/>
          </p:cNvGrpSpPr>
          <p:nvPr/>
        </p:nvGrpSpPr>
        <p:grpSpPr bwMode="auto">
          <a:xfrm>
            <a:off x="8866095" y="1316594"/>
            <a:ext cx="252413" cy="165100"/>
            <a:chOff x="3125393" y="1499499"/>
            <a:chExt cx="252000" cy="165260"/>
          </a:xfrm>
        </p:grpSpPr>
        <p:sp>
          <p:nvSpPr>
            <p:cNvPr id="115" name="모서리가 둥근 사각형 설명선 321">
              <a:extLst>
                <a:ext uri="{FF2B5EF4-FFF2-40B4-BE49-F238E27FC236}">
                  <a16:creationId xmlns:a16="http://schemas.microsoft.com/office/drawing/2014/main" id="{4FCFF909-59AB-3159-07D4-3111967406A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" name="TextBox 23">
              <a:extLst>
                <a:ext uri="{FF2B5EF4-FFF2-40B4-BE49-F238E27FC236}">
                  <a16:creationId xmlns:a16="http://schemas.microsoft.com/office/drawing/2014/main" id="{1AC41E1B-8792-53A8-0E93-912D9B2BDD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D2A2BAD0-8C86-5951-57EA-331B45391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0055" y="2338462"/>
            <a:ext cx="61271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1215AE03-326F-DBA9-BC94-D129525EA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219" y="2347142"/>
            <a:ext cx="54993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9CEEECA-C5FB-6556-302F-6080CE34B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2362" y="1787043"/>
            <a:ext cx="167717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D9A252A-F314-3CEC-48DC-8016E1CDA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7560" y="5355281"/>
            <a:ext cx="704726" cy="138243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가이드 다운로드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5" name="그룹 21">
            <a:extLst>
              <a:ext uri="{FF2B5EF4-FFF2-40B4-BE49-F238E27FC236}">
                <a16:creationId xmlns:a16="http://schemas.microsoft.com/office/drawing/2014/main" id="{2AACD4FE-CA46-34E2-46F5-5E8640819E36}"/>
              </a:ext>
            </a:extLst>
          </p:cNvPr>
          <p:cNvGrpSpPr>
            <a:grpSpLocks/>
          </p:cNvGrpSpPr>
          <p:nvPr/>
        </p:nvGrpSpPr>
        <p:grpSpPr bwMode="auto">
          <a:xfrm>
            <a:off x="7180196" y="2873702"/>
            <a:ext cx="252413" cy="165100"/>
            <a:chOff x="3125393" y="1499499"/>
            <a:chExt cx="252000" cy="165260"/>
          </a:xfrm>
        </p:grpSpPr>
        <p:sp>
          <p:nvSpPr>
            <p:cNvPr id="26" name="모서리가 둥근 사각형 설명선 321">
              <a:extLst>
                <a:ext uri="{FF2B5EF4-FFF2-40B4-BE49-F238E27FC236}">
                  <a16:creationId xmlns:a16="http://schemas.microsoft.com/office/drawing/2014/main" id="{856E769D-B3E4-A527-6B7A-03EADD6C300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3">
              <a:extLst>
                <a:ext uri="{FF2B5EF4-FFF2-40B4-BE49-F238E27FC236}">
                  <a16:creationId xmlns:a16="http://schemas.microsoft.com/office/drawing/2014/main" id="{5EBF2762-18E3-8B29-737B-400867EB3D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12</a:t>
              </a:r>
            </a:p>
          </p:txBody>
        </p:sp>
      </p:grpSp>
      <p:pic>
        <p:nvPicPr>
          <p:cNvPr id="52" name="그림 51">
            <a:extLst>
              <a:ext uri="{FF2B5EF4-FFF2-40B4-BE49-F238E27FC236}">
                <a16:creationId xmlns:a16="http://schemas.microsoft.com/office/drawing/2014/main" id="{DAC8A019-DBF4-F255-20EB-754EEF93797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112471" y="1801634"/>
            <a:ext cx="1073727" cy="190500"/>
          </a:xfrm>
          <a:prstGeom prst="rect">
            <a:avLst/>
          </a:prstGeom>
        </p:spPr>
      </p:pic>
      <p:grpSp>
        <p:nvGrpSpPr>
          <p:cNvPr id="55" name="그룹 21">
            <a:extLst>
              <a:ext uri="{FF2B5EF4-FFF2-40B4-BE49-F238E27FC236}">
                <a16:creationId xmlns:a16="http://schemas.microsoft.com/office/drawing/2014/main" id="{81835F7B-1683-F8B5-96CA-089232BD90BD}"/>
              </a:ext>
            </a:extLst>
          </p:cNvPr>
          <p:cNvGrpSpPr>
            <a:grpSpLocks/>
          </p:cNvGrpSpPr>
          <p:nvPr/>
        </p:nvGrpSpPr>
        <p:grpSpPr bwMode="auto">
          <a:xfrm>
            <a:off x="5128235" y="1582404"/>
            <a:ext cx="252413" cy="165100"/>
            <a:chOff x="3125393" y="1499499"/>
            <a:chExt cx="252000" cy="165260"/>
          </a:xfrm>
        </p:grpSpPr>
        <p:sp>
          <p:nvSpPr>
            <p:cNvPr id="76" name="모서리가 둥근 사각형 설명선 321">
              <a:extLst>
                <a:ext uri="{FF2B5EF4-FFF2-40B4-BE49-F238E27FC236}">
                  <a16:creationId xmlns:a16="http://schemas.microsoft.com/office/drawing/2014/main" id="{F8EAB1AA-256F-EB7A-966A-EA53DE046E2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9" name="TextBox 23">
              <a:extLst>
                <a:ext uri="{FF2B5EF4-FFF2-40B4-BE49-F238E27FC236}">
                  <a16:creationId xmlns:a16="http://schemas.microsoft.com/office/drawing/2014/main" id="{AAE5DBE3-A04B-D4D2-384A-D65B2B6CB6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pic>
        <p:nvPicPr>
          <p:cNvPr id="41" name="그림 40">
            <a:extLst>
              <a:ext uri="{FF2B5EF4-FFF2-40B4-BE49-F238E27FC236}">
                <a16:creationId xmlns:a16="http://schemas.microsoft.com/office/drawing/2014/main" id="{61DB12C8-8F3E-0D3B-AEAB-F62881D5181F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6770" y="3944928"/>
            <a:ext cx="9345200" cy="1323048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60B3A8A5-BE26-584C-2DCB-0554CC180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0709" y="3754935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SKU</a:t>
            </a: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0" name="그룹 21">
            <a:extLst>
              <a:ext uri="{FF2B5EF4-FFF2-40B4-BE49-F238E27FC236}">
                <a16:creationId xmlns:a16="http://schemas.microsoft.com/office/drawing/2014/main" id="{236496F9-EACD-73EA-773F-92450281332D}"/>
              </a:ext>
            </a:extLst>
          </p:cNvPr>
          <p:cNvGrpSpPr>
            <a:grpSpLocks/>
          </p:cNvGrpSpPr>
          <p:nvPr/>
        </p:nvGrpSpPr>
        <p:grpSpPr bwMode="auto">
          <a:xfrm>
            <a:off x="121212" y="2891635"/>
            <a:ext cx="252413" cy="165100"/>
            <a:chOff x="3125393" y="1499499"/>
            <a:chExt cx="252000" cy="165260"/>
          </a:xfrm>
        </p:grpSpPr>
        <p:sp>
          <p:nvSpPr>
            <p:cNvPr id="131" name="모서리가 둥근 사각형 설명선 321">
              <a:extLst>
                <a:ext uri="{FF2B5EF4-FFF2-40B4-BE49-F238E27FC236}">
                  <a16:creationId xmlns:a16="http://schemas.microsoft.com/office/drawing/2014/main" id="{F189C736-3D97-BCAF-D6C8-D72FD297406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" name="TextBox 23">
              <a:extLst>
                <a:ext uri="{FF2B5EF4-FFF2-40B4-BE49-F238E27FC236}">
                  <a16:creationId xmlns:a16="http://schemas.microsoft.com/office/drawing/2014/main" id="{EC5C00EB-9F72-C3E6-1608-1A1696333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pSp>
        <p:nvGrpSpPr>
          <p:cNvPr id="60" name="그룹 21">
            <a:extLst>
              <a:ext uri="{FF2B5EF4-FFF2-40B4-BE49-F238E27FC236}">
                <a16:creationId xmlns:a16="http://schemas.microsoft.com/office/drawing/2014/main" id="{9FE89528-D71F-53DB-771A-5F6D78CDE08A}"/>
              </a:ext>
            </a:extLst>
          </p:cNvPr>
          <p:cNvGrpSpPr>
            <a:grpSpLocks/>
          </p:cNvGrpSpPr>
          <p:nvPr/>
        </p:nvGrpSpPr>
        <p:grpSpPr bwMode="auto">
          <a:xfrm>
            <a:off x="117633" y="3920024"/>
            <a:ext cx="252413" cy="165100"/>
            <a:chOff x="3125393" y="1499499"/>
            <a:chExt cx="252000" cy="165260"/>
          </a:xfrm>
        </p:grpSpPr>
        <p:sp>
          <p:nvSpPr>
            <p:cNvPr id="61" name="모서리가 둥근 사각형 설명선 321">
              <a:extLst>
                <a:ext uri="{FF2B5EF4-FFF2-40B4-BE49-F238E27FC236}">
                  <a16:creationId xmlns:a16="http://schemas.microsoft.com/office/drawing/2014/main" id="{3EE88270-4FDF-9901-4C14-95101C20873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23">
              <a:extLst>
                <a:ext uri="{FF2B5EF4-FFF2-40B4-BE49-F238E27FC236}">
                  <a16:creationId xmlns:a16="http://schemas.microsoft.com/office/drawing/2014/main" id="{48A1B526-92A7-E407-64BA-BA4E1F441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97" name="그룹 21">
            <a:extLst>
              <a:ext uri="{FF2B5EF4-FFF2-40B4-BE49-F238E27FC236}">
                <a16:creationId xmlns:a16="http://schemas.microsoft.com/office/drawing/2014/main" id="{20E6DA0B-48B7-7CD6-5020-DD17D9EC7F37}"/>
              </a:ext>
            </a:extLst>
          </p:cNvPr>
          <p:cNvGrpSpPr>
            <a:grpSpLocks/>
          </p:cNvGrpSpPr>
          <p:nvPr/>
        </p:nvGrpSpPr>
        <p:grpSpPr bwMode="auto">
          <a:xfrm>
            <a:off x="6833318" y="1930731"/>
            <a:ext cx="252413" cy="165100"/>
            <a:chOff x="3125393" y="1499499"/>
            <a:chExt cx="252000" cy="165260"/>
          </a:xfrm>
        </p:grpSpPr>
        <p:sp>
          <p:nvSpPr>
            <p:cNvPr id="98" name="모서리가 둥근 사각형 설명선 321">
              <a:extLst>
                <a:ext uri="{FF2B5EF4-FFF2-40B4-BE49-F238E27FC236}">
                  <a16:creationId xmlns:a16="http://schemas.microsoft.com/office/drawing/2014/main" id="{B3335303-DEEF-AB10-FA68-134F0C01CB8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" name="TextBox 23">
              <a:extLst>
                <a:ext uri="{FF2B5EF4-FFF2-40B4-BE49-F238E27FC236}">
                  <a16:creationId xmlns:a16="http://schemas.microsoft.com/office/drawing/2014/main" id="{E03A085F-0AEF-901C-A88D-D8A956F31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grpSp>
        <p:nvGrpSpPr>
          <p:cNvPr id="3" name="그룹 21">
            <a:extLst>
              <a:ext uri="{FF2B5EF4-FFF2-40B4-BE49-F238E27FC236}">
                <a16:creationId xmlns:a16="http://schemas.microsoft.com/office/drawing/2014/main" id="{3D442866-3F82-75F1-2FD0-5F153969E42D}"/>
              </a:ext>
            </a:extLst>
          </p:cNvPr>
          <p:cNvGrpSpPr>
            <a:grpSpLocks/>
          </p:cNvGrpSpPr>
          <p:nvPr/>
        </p:nvGrpSpPr>
        <p:grpSpPr bwMode="auto">
          <a:xfrm>
            <a:off x="8241728" y="5218677"/>
            <a:ext cx="252413" cy="165100"/>
            <a:chOff x="3125393" y="1499499"/>
            <a:chExt cx="252000" cy="165260"/>
          </a:xfrm>
        </p:grpSpPr>
        <p:sp>
          <p:nvSpPr>
            <p:cNvPr id="35" name="모서리가 둥근 사각형 설명선 321">
              <a:extLst>
                <a:ext uri="{FF2B5EF4-FFF2-40B4-BE49-F238E27FC236}">
                  <a16:creationId xmlns:a16="http://schemas.microsoft.com/office/drawing/2014/main" id="{3684DE3C-E594-8C2D-0318-D3D466B12E5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7" name="TextBox 23">
              <a:extLst>
                <a:ext uri="{FF2B5EF4-FFF2-40B4-BE49-F238E27FC236}">
                  <a16:creationId xmlns:a16="http://schemas.microsoft.com/office/drawing/2014/main" id="{DC131DF0-F462-E26C-260A-F71850CD5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16</a:t>
              </a:r>
            </a:p>
          </p:txBody>
        </p:sp>
      </p:grpSp>
      <p:grpSp>
        <p:nvGrpSpPr>
          <p:cNvPr id="133" name="그룹 21">
            <a:extLst>
              <a:ext uri="{FF2B5EF4-FFF2-40B4-BE49-F238E27FC236}">
                <a16:creationId xmlns:a16="http://schemas.microsoft.com/office/drawing/2014/main" id="{0A02670A-F148-8D01-6B30-1948AEEA8417}"/>
              </a:ext>
            </a:extLst>
          </p:cNvPr>
          <p:cNvGrpSpPr>
            <a:grpSpLocks/>
          </p:cNvGrpSpPr>
          <p:nvPr/>
        </p:nvGrpSpPr>
        <p:grpSpPr bwMode="auto">
          <a:xfrm>
            <a:off x="2716465" y="3988360"/>
            <a:ext cx="252413" cy="165100"/>
            <a:chOff x="3125393" y="1499499"/>
            <a:chExt cx="252000" cy="165260"/>
          </a:xfrm>
        </p:grpSpPr>
        <p:sp>
          <p:nvSpPr>
            <p:cNvPr id="134" name="모서리가 둥근 사각형 설명선 321">
              <a:extLst>
                <a:ext uri="{FF2B5EF4-FFF2-40B4-BE49-F238E27FC236}">
                  <a16:creationId xmlns:a16="http://schemas.microsoft.com/office/drawing/2014/main" id="{6267D20F-5E1D-E4F8-90A9-72A6FAEA1AC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" name="TextBox 23">
              <a:extLst>
                <a:ext uri="{FF2B5EF4-FFF2-40B4-BE49-F238E27FC236}">
                  <a16:creationId xmlns:a16="http://schemas.microsoft.com/office/drawing/2014/main" id="{962CF9B8-0796-9C44-40D2-FC1AC86B2E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grpSp>
        <p:nvGrpSpPr>
          <p:cNvPr id="43" name="그룹 21">
            <a:extLst>
              <a:ext uri="{FF2B5EF4-FFF2-40B4-BE49-F238E27FC236}">
                <a16:creationId xmlns:a16="http://schemas.microsoft.com/office/drawing/2014/main" id="{0F8AFF4C-3AE2-4858-7E47-5EBE0326359A}"/>
              </a:ext>
            </a:extLst>
          </p:cNvPr>
          <p:cNvGrpSpPr>
            <a:grpSpLocks/>
          </p:cNvGrpSpPr>
          <p:nvPr/>
        </p:nvGrpSpPr>
        <p:grpSpPr bwMode="auto">
          <a:xfrm>
            <a:off x="130338" y="5283203"/>
            <a:ext cx="252413" cy="165100"/>
            <a:chOff x="3125393" y="1499499"/>
            <a:chExt cx="252000" cy="165260"/>
          </a:xfrm>
        </p:grpSpPr>
        <p:sp>
          <p:nvSpPr>
            <p:cNvPr id="51" name="모서리가 둥근 사각형 설명선 321">
              <a:extLst>
                <a:ext uri="{FF2B5EF4-FFF2-40B4-BE49-F238E27FC236}">
                  <a16:creationId xmlns:a16="http://schemas.microsoft.com/office/drawing/2014/main" id="{0DF410D0-6564-F78D-31E7-307E015643F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TextBox 23">
              <a:extLst>
                <a:ext uri="{FF2B5EF4-FFF2-40B4-BE49-F238E27FC236}">
                  <a16:creationId xmlns:a16="http://schemas.microsoft.com/office/drawing/2014/main" id="{9C9309F7-AD8B-6A27-78EE-46C591547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19</a:t>
              </a:r>
            </a:p>
          </p:txBody>
        </p:sp>
      </p:grpSp>
      <p:grpSp>
        <p:nvGrpSpPr>
          <p:cNvPr id="121" name="그룹 21">
            <a:extLst>
              <a:ext uri="{FF2B5EF4-FFF2-40B4-BE49-F238E27FC236}">
                <a16:creationId xmlns:a16="http://schemas.microsoft.com/office/drawing/2014/main" id="{44DD08B0-43DF-21D1-8CBB-1B7ED7C577A1}"/>
              </a:ext>
            </a:extLst>
          </p:cNvPr>
          <p:cNvGrpSpPr>
            <a:grpSpLocks/>
          </p:cNvGrpSpPr>
          <p:nvPr/>
        </p:nvGrpSpPr>
        <p:grpSpPr bwMode="auto">
          <a:xfrm>
            <a:off x="533592" y="1650686"/>
            <a:ext cx="252413" cy="165100"/>
            <a:chOff x="3125393" y="1499499"/>
            <a:chExt cx="252000" cy="165260"/>
          </a:xfrm>
        </p:grpSpPr>
        <p:sp>
          <p:nvSpPr>
            <p:cNvPr id="122" name="모서리가 둥근 사각형 설명선 321">
              <a:extLst>
                <a:ext uri="{FF2B5EF4-FFF2-40B4-BE49-F238E27FC236}">
                  <a16:creationId xmlns:a16="http://schemas.microsoft.com/office/drawing/2014/main" id="{74CC1C48-7F9D-E112-DC38-AE75F2D089F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" name="TextBox 23">
              <a:extLst>
                <a:ext uri="{FF2B5EF4-FFF2-40B4-BE49-F238E27FC236}">
                  <a16:creationId xmlns:a16="http://schemas.microsoft.com/office/drawing/2014/main" id="{952BEA28-7184-DB32-BD66-77EA11EB4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17</a:t>
              </a:r>
            </a:p>
          </p:txBody>
        </p:sp>
      </p:grpSp>
      <p:grpSp>
        <p:nvGrpSpPr>
          <p:cNvPr id="124" name="그룹 21">
            <a:extLst>
              <a:ext uri="{FF2B5EF4-FFF2-40B4-BE49-F238E27FC236}">
                <a16:creationId xmlns:a16="http://schemas.microsoft.com/office/drawing/2014/main" id="{A995F4E9-4501-8748-88F6-59E6189ACAC9}"/>
              </a:ext>
            </a:extLst>
          </p:cNvPr>
          <p:cNvGrpSpPr>
            <a:grpSpLocks/>
          </p:cNvGrpSpPr>
          <p:nvPr/>
        </p:nvGrpSpPr>
        <p:grpSpPr bwMode="auto">
          <a:xfrm>
            <a:off x="2737781" y="1590024"/>
            <a:ext cx="252413" cy="165100"/>
            <a:chOff x="3125393" y="1499499"/>
            <a:chExt cx="252000" cy="165260"/>
          </a:xfrm>
        </p:grpSpPr>
        <p:sp>
          <p:nvSpPr>
            <p:cNvPr id="125" name="모서리가 둥근 사각형 설명선 321">
              <a:extLst>
                <a:ext uri="{FF2B5EF4-FFF2-40B4-BE49-F238E27FC236}">
                  <a16:creationId xmlns:a16="http://schemas.microsoft.com/office/drawing/2014/main" id="{73D6463A-37CB-F796-8727-E4F09E63A47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" name="TextBox 23">
              <a:extLst>
                <a:ext uri="{FF2B5EF4-FFF2-40B4-BE49-F238E27FC236}">
                  <a16:creationId xmlns:a16="http://schemas.microsoft.com/office/drawing/2014/main" id="{2EBAFECA-E238-679E-B15D-CC890A2FEF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18</a:t>
              </a:r>
            </a:p>
          </p:txBody>
        </p:sp>
      </p:grp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6D6C4995-DC97-60B1-91BF-A0B356B78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1592" y="3754935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SKU</a:t>
            </a: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7116640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905648"/>
              </p:ext>
            </p:extLst>
          </p:nvPr>
        </p:nvGraphicFramePr>
        <p:xfrm>
          <a:off x="220344" y="1173296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3717742"/>
              </p:ext>
            </p:extLst>
          </p:nvPr>
        </p:nvGraphicFramePr>
        <p:xfrm>
          <a:off x="9857335" y="1664954"/>
          <a:ext cx="2067327" cy="92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21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위 내용은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DB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에서 관리하며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DB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 있는 데이터를 출력한다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(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3465" marR="53465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A70ACE1E-40C0-16A5-6DA7-C9E160B57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630" y="242892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544C601B-1683-8FB1-B3D8-F12A45ED4F5A}"/>
              </a:ext>
            </a:extLst>
          </p:cNvPr>
          <p:cNvGraphicFramePr>
            <a:graphicFrameLocks noGrp="1"/>
          </p:cNvGraphicFramePr>
          <p:nvPr/>
        </p:nvGraphicFramePr>
        <p:xfrm>
          <a:off x="446370" y="2639709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37" name="그림 36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E3C20F2A-CD27-BB27-B74F-BC43F219266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1649" y="2427608"/>
            <a:ext cx="137416" cy="137416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AAC42E17-B700-E7DA-4181-083C7DB29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3892" y="2423051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F1928AD-BCFD-68CD-949A-70C549934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0307" y="242550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B302BC8-D9D0-4B62-94C0-4B503DE8B932}"/>
              </a:ext>
            </a:extLst>
          </p:cNvPr>
          <p:cNvGraphicFramePr>
            <a:graphicFrameLocks noGrp="1"/>
          </p:cNvGraphicFramePr>
          <p:nvPr/>
        </p:nvGraphicFramePr>
        <p:xfrm>
          <a:off x="3602047" y="2636288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48" name="그림 47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ABFDDB70-EAEE-F9D6-18C9-39B4FEA2E9B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7326" y="2424187"/>
            <a:ext cx="137416" cy="137416"/>
          </a:xfrm>
          <a:prstGeom prst="rect">
            <a:avLst/>
          </a:prstGeom>
        </p:spPr>
      </p:pic>
      <p:sp>
        <p:nvSpPr>
          <p:cNvPr id="49" name="직사각형 48">
            <a:extLst>
              <a:ext uri="{FF2B5EF4-FFF2-40B4-BE49-F238E27FC236}">
                <a16:creationId xmlns:a16="http://schemas.microsoft.com/office/drawing/2014/main" id="{F4E82D82-5949-25EC-4CF7-62B57B25A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569" y="2419630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749ADA1-B4F3-96D3-3E9E-EFF4A76CA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0137" y="242550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83A134C6-B85B-95DD-8B26-190E1ED7347C}"/>
              </a:ext>
            </a:extLst>
          </p:cNvPr>
          <p:cNvGraphicFramePr>
            <a:graphicFrameLocks noGrp="1"/>
          </p:cNvGraphicFramePr>
          <p:nvPr/>
        </p:nvGraphicFramePr>
        <p:xfrm>
          <a:off x="6731877" y="2636288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55" name="그림 54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7528096B-0A85-90AB-1E64-A1EFF742713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7156" y="2424187"/>
            <a:ext cx="137416" cy="137416"/>
          </a:xfrm>
          <a:prstGeom prst="rect">
            <a:avLst/>
          </a:prstGeom>
        </p:spPr>
      </p:pic>
      <p:sp>
        <p:nvSpPr>
          <p:cNvPr id="56" name="직사각형 55">
            <a:extLst>
              <a:ext uri="{FF2B5EF4-FFF2-40B4-BE49-F238E27FC236}">
                <a16:creationId xmlns:a16="http://schemas.microsoft.com/office/drawing/2014/main" id="{B19F5C1B-44D6-80AC-89CA-77B27294E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9399" y="2419630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E58C50-13F8-1E27-DF1D-826AEF961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8075" y="344979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BD0CAC89-EF7B-7368-9082-269883AA6360}"/>
              </a:ext>
            </a:extLst>
          </p:cNvPr>
          <p:cNvGraphicFramePr>
            <a:graphicFrameLocks noGrp="1"/>
          </p:cNvGraphicFramePr>
          <p:nvPr/>
        </p:nvGraphicFramePr>
        <p:xfrm>
          <a:off x="449815" y="3660579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60" name="그림 59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A2CD847A-D733-A183-2353-0201194E525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5094" y="3448478"/>
            <a:ext cx="137416" cy="137416"/>
          </a:xfrm>
          <a:prstGeom prst="rect">
            <a:avLst/>
          </a:prstGeom>
        </p:spPr>
      </p:pic>
      <p:sp>
        <p:nvSpPr>
          <p:cNvPr id="61" name="직사각형 60">
            <a:extLst>
              <a:ext uri="{FF2B5EF4-FFF2-40B4-BE49-F238E27FC236}">
                <a16:creationId xmlns:a16="http://schemas.microsoft.com/office/drawing/2014/main" id="{A7B3BA36-9337-578A-6D64-08FA24B82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7337" y="3443921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2647E7A-E474-7626-13C7-CE73FCBF0FC7}"/>
              </a:ext>
            </a:extLst>
          </p:cNvPr>
          <p:cNvSpPr txBox="1"/>
          <p:nvPr/>
        </p:nvSpPr>
        <p:spPr>
          <a:xfrm>
            <a:off x="243840" y="4413856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주의사항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5582ECF-F9C5-1FD4-D610-6998D4DE327A}"/>
              </a:ext>
            </a:extLst>
          </p:cNvPr>
          <p:cNvSpPr txBox="1"/>
          <p:nvPr/>
        </p:nvSpPr>
        <p:spPr>
          <a:xfrm>
            <a:off x="265850" y="4640100"/>
            <a:ext cx="75071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1.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홍보물 검토요청 시 제품정보에 등록되는 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SKU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의 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"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안전성 검토가 완료된 건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"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에 대해 등록을 권장 드립니다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b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제품정보에 등록되는 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SKU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의 안전성 검토 서류가 변경될 경우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홍보물 검토결과가 변경될 수 있습니다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b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2. 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홍보물 검토가 완료되었으나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제품정보에 등록되는 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SKU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의 안전성 검토가 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"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반려될 경우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" </a:t>
            </a:r>
            <a:r>
              <a:rPr lang="ko-KR" altLang="en-US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홍보물 검토 완료는 자동 해제됩니다</a:t>
            </a:r>
            <a:r>
              <a:rPr lang="en-US" altLang="ko-KR" sz="1000" dirty="0"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00" dirty="0">
              <a:solidFill>
                <a:srgbClr val="FF0000"/>
              </a:solidFill>
              <a:effectLst/>
              <a:latin typeface="Arial" panose="020B0604020202020204" pitchFamily="34" charset="0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80F0E89-243A-EE3D-A499-128404E15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630" y="1469293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D4FFF4B-250D-8045-3C99-9854DCA924D3}"/>
              </a:ext>
            </a:extLst>
          </p:cNvPr>
          <p:cNvGraphicFramePr>
            <a:graphicFrameLocks noGrp="1"/>
          </p:cNvGraphicFramePr>
          <p:nvPr/>
        </p:nvGraphicFramePr>
        <p:xfrm>
          <a:off x="446370" y="1680075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7" name="그림 6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089691DA-959F-058B-0971-857D4CACD22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1649" y="1467974"/>
            <a:ext cx="137416" cy="137416"/>
          </a:xfrm>
          <a:prstGeom prst="rect">
            <a:avLst/>
          </a:prstGeom>
        </p:spPr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F0D74264-151E-1022-4667-E9CFEF96A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3892" y="146341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975A6F2-8776-8E47-B967-E56E15355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0307" y="146587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117" name="표 116">
            <a:extLst>
              <a:ext uri="{FF2B5EF4-FFF2-40B4-BE49-F238E27FC236}">
                <a16:creationId xmlns:a16="http://schemas.microsoft.com/office/drawing/2014/main" id="{5BB2EE05-AFD3-1349-9B6D-6632493C9EF6}"/>
              </a:ext>
            </a:extLst>
          </p:cNvPr>
          <p:cNvGraphicFramePr>
            <a:graphicFrameLocks noGrp="1"/>
          </p:cNvGraphicFramePr>
          <p:nvPr/>
        </p:nvGraphicFramePr>
        <p:xfrm>
          <a:off x="3602047" y="1676654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119" name="그림 118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3846BB82-CF3F-7B3E-591A-A4884DA46A0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7326" y="1464553"/>
            <a:ext cx="137416" cy="137416"/>
          </a:xfrm>
          <a:prstGeom prst="rect">
            <a:avLst/>
          </a:prstGeom>
        </p:spPr>
      </p:pic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B655E175-52EF-8119-DD39-C571C0CDF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569" y="145999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28C2D5D1-3AE0-B673-26EF-531EF51F3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0137" y="146587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122" name="표 121">
            <a:extLst>
              <a:ext uri="{FF2B5EF4-FFF2-40B4-BE49-F238E27FC236}">
                <a16:creationId xmlns:a16="http://schemas.microsoft.com/office/drawing/2014/main" id="{5AE2F8CA-D790-C5C6-13ED-9402F5734CFF}"/>
              </a:ext>
            </a:extLst>
          </p:cNvPr>
          <p:cNvGraphicFramePr>
            <a:graphicFrameLocks noGrp="1"/>
          </p:cNvGraphicFramePr>
          <p:nvPr/>
        </p:nvGraphicFramePr>
        <p:xfrm>
          <a:off x="6731877" y="1676654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124" name="그림 123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0ABD05AD-FE64-7BA5-B039-F295FDFE259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7156" y="1464553"/>
            <a:ext cx="137416" cy="137416"/>
          </a:xfrm>
          <a:prstGeom prst="rect">
            <a:avLst/>
          </a:prstGeom>
        </p:spPr>
      </p:pic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2E2AFD4-8945-DEDB-36ED-51B8A79B1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9399" y="1459996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grpSp>
        <p:nvGrpSpPr>
          <p:cNvPr id="13" name="그룹 21">
            <a:extLst>
              <a:ext uri="{FF2B5EF4-FFF2-40B4-BE49-F238E27FC236}">
                <a16:creationId xmlns:a16="http://schemas.microsoft.com/office/drawing/2014/main" id="{0661FCCF-B3EE-8193-04CF-654A48F32461}"/>
              </a:ext>
            </a:extLst>
          </p:cNvPr>
          <p:cNvGrpSpPr>
            <a:grpSpLocks/>
          </p:cNvGrpSpPr>
          <p:nvPr/>
        </p:nvGrpSpPr>
        <p:grpSpPr bwMode="auto">
          <a:xfrm>
            <a:off x="191168" y="4406064"/>
            <a:ext cx="252413" cy="165100"/>
            <a:chOff x="3125393" y="1499499"/>
            <a:chExt cx="252000" cy="165260"/>
          </a:xfrm>
        </p:grpSpPr>
        <p:sp>
          <p:nvSpPr>
            <p:cNvPr id="14" name="모서리가 둥근 사각형 설명선 321">
              <a:extLst>
                <a:ext uri="{FF2B5EF4-FFF2-40B4-BE49-F238E27FC236}">
                  <a16:creationId xmlns:a16="http://schemas.microsoft.com/office/drawing/2014/main" id="{6DC1F3FD-92E1-F4CE-52B3-94C17EC33AD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TextBox 23">
              <a:extLst>
                <a:ext uri="{FF2B5EF4-FFF2-40B4-BE49-F238E27FC236}">
                  <a16:creationId xmlns:a16="http://schemas.microsoft.com/office/drawing/2014/main" id="{FA2AFFBD-17DF-5EA9-44F2-AF3A13DA1E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17</a:t>
              </a:r>
            </a:p>
          </p:txBody>
        </p:sp>
      </p:grpSp>
      <p:graphicFrame>
        <p:nvGraphicFramePr>
          <p:cNvPr id="10" name="Group 234">
            <a:extLst>
              <a:ext uri="{FF2B5EF4-FFF2-40B4-BE49-F238E27FC236}">
                <a16:creationId xmlns:a16="http://schemas.microsoft.com/office/drawing/2014/main" id="{33F011AE-1C84-7A01-010D-6594F6D4C8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1986102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(2/3)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요청한 내역을 등록 및 수정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017C98F8-27F3-7088-D973-4674D5C1CCC5}"/>
              </a:ext>
            </a:extLst>
          </p:cNvPr>
          <p:cNvSpPr txBox="1"/>
          <p:nvPr/>
        </p:nvSpPr>
        <p:spPr>
          <a:xfrm>
            <a:off x="533088" y="1437729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홍보물④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82681E4-19CC-3C8C-F8CE-AEF006D26903}"/>
              </a:ext>
            </a:extLst>
          </p:cNvPr>
          <p:cNvSpPr txBox="1"/>
          <p:nvPr/>
        </p:nvSpPr>
        <p:spPr>
          <a:xfrm>
            <a:off x="3669476" y="1446142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홍보물⑤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0616B65-F5FC-189A-DD09-649280C1BB8B}"/>
              </a:ext>
            </a:extLst>
          </p:cNvPr>
          <p:cNvSpPr txBox="1"/>
          <p:nvPr/>
        </p:nvSpPr>
        <p:spPr>
          <a:xfrm>
            <a:off x="6796716" y="1437729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228809B-3F06-7BAC-4901-16CDB7FD5A6D}"/>
              </a:ext>
            </a:extLst>
          </p:cNvPr>
          <p:cNvSpPr txBox="1"/>
          <p:nvPr/>
        </p:nvSpPr>
        <p:spPr>
          <a:xfrm>
            <a:off x="505767" y="2400419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홍보물⑦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AA4DF05-48C3-42A9-C273-4F0F496E122D}"/>
              </a:ext>
            </a:extLst>
          </p:cNvPr>
          <p:cNvSpPr txBox="1"/>
          <p:nvPr/>
        </p:nvSpPr>
        <p:spPr>
          <a:xfrm>
            <a:off x="3676034" y="2390993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홍보물⑧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A060A3-C8D3-8DE4-F360-4CD55B6B69A0}"/>
              </a:ext>
            </a:extLst>
          </p:cNvPr>
          <p:cNvSpPr txBox="1"/>
          <p:nvPr/>
        </p:nvSpPr>
        <p:spPr>
          <a:xfrm>
            <a:off x="6788951" y="2408530"/>
            <a:ext cx="747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홍보물⑨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DCAB960-CF59-7ACA-5DD8-0FDF17EC5627}"/>
              </a:ext>
            </a:extLst>
          </p:cNvPr>
          <p:cNvSpPr txBox="1"/>
          <p:nvPr/>
        </p:nvSpPr>
        <p:spPr>
          <a:xfrm>
            <a:off x="505767" y="3421965"/>
            <a:ext cx="80342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홍보물⑩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1610BD5-72E8-2E41-D41E-AF4DE2597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9670" y="3449797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7CEA2941-FB3C-AF51-B902-620BE8015D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1501859"/>
              </p:ext>
            </p:extLst>
          </p:nvPr>
        </p:nvGraphicFramePr>
        <p:xfrm>
          <a:off x="3601410" y="3660579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23" name="그림 22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3C81B3B0-3686-BF7A-6AA6-7D7F629D5BA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6689" y="3448478"/>
            <a:ext cx="137416" cy="137416"/>
          </a:xfrm>
          <a:prstGeom prst="rect">
            <a:avLst/>
          </a:prstGeom>
        </p:spPr>
      </p:pic>
      <p:sp>
        <p:nvSpPr>
          <p:cNvPr id="24" name="직사각형 23">
            <a:extLst>
              <a:ext uri="{FF2B5EF4-FFF2-40B4-BE49-F238E27FC236}">
                <a16:creationId xmlns:a16="http://schemas.microsoft.com/office/drawing/2014/main" id="{6B12E27F-2C23-5098-06E5-0E3413D36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932" y="3443921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97C8207-0E4B-8BAF-077F-A3A58B8C3FEC}"/>
              </a:ext>
            </a:extLst>
          </p:cNvPr>
          <p:cNvSpPr txBox="1"/>
          <p:nvPr/>
        </p:nvSpPr>
        <p:spPr>
          <a:xfrm>
            <a:off x="3657362" y="3421965"/>
            <a:ext cx="80342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홍보물⑪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3CB6C90-85E5-9858-9E8B-2ED9623BF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0137" y="3452195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첨부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6C32707D-F798-DEF2-3E69-ABE35718CD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0352373"/>
              </p:ext>
            </p:extLst>
          </p:nvPr>
        </p:nvGraphicFramePr>
        <p:xfrm>
          <a:off x="6731877" y="3662977"/>
          <a:ext cx="2844107" cy="662940"/>
        </p:xfrm>
        <a:graphic>
          <a:graphicData uri="http://schemas.openxmlformats.org/drawingml/2006/table">
            <a:tbl>
              <a:tblPr/>
              <a:tblGrid>
                <a:gridCol w="275477">
                  <a:extLst>
                    <a:ext uri="{9D8B030D-6E8A-4147-A177-3AD203B41FA5}">
                      <a16:colId xmlns:a16="http://schemas.microsoft.com/office/drawing/2014/main" val="3575356841"/>
                    </a:ext>
                  </a:extLst>
                </a:gridCol>
                <a:gridCol w="1959030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68919997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Size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AAA.pdf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BBB.Pdf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256kb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pic>
        <p:nvPicPr>
          <p:cNvPr id="28" name="그림 27" descr="스크린샷, 직사각형, 노랑, 디자인이(가) 표시된 사진&#10;&#10;자동 생성된 설명">
            <a:extLst>
              <a:ext uri="{FF2B5EF4-FFF2-40B4-BE49-F238E27FC236}">
                <a16:creationId xmlns:a16="http://schemas.microsoft.com/office/drawing/2014/main" id="{D884D2A3-C76E-663C-E622-93124122BCE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7156" y="3450876"/>
            <a:ext cx="137416" cy="137416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BBFD955C-DD2C-79AF-00E5-3B1CBAB53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9399" y="3446319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삭제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5EEBC3A-2994-5946-61B4-5B07FFFAEAF7}"/>
              </a:ext>
            </a:extLst>
          </p:cNvPr>
          <p:cNvSpPr txBox="1"/>
          <p:nvPr/>
        </p:nvSpPr>
        <p:spPr>
          <a:xfrm>
            <a:off x="6787829" y="3424363"/>
            <a:ext cx="80342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12.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홍보물⑫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32447754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39" name="양쪽 모서리가 둥근 사각형 56">
            <a:extLst>
              <a:ext uri="{FF2B5EF4-FFF2-40B4-BE49-F238E27FC236}">
                <a16:creationId xmlns:a16="http://schemas.microsoft.com/office/drawing/2014/main" id="{7DF09CCE-9196-91AF-704C-D8E9AA87778D}"/>
              </a:ext>
            </a:extLst>
          </p:cNvPr>
          <p:cNvSpPr/>
          <p:nvPr/>
        </p:nvSpPr>
        <p:spPr>
          <a:xfrm>
            <a:off x="2262626" y="3094351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67" name="그룹 21">
            <a:extLst>
              <a:ext uri="{FF2B5EF4-FFF2-40B4-BE49-F238E27FC236}">
                <a16:creationId xmlns:a16="http://schemas.microsoft.com/office/drawing/2014/main" id="{899CFA35-E4C6-2142-E57C-D09AB2AD7946}"/>
              </a:ext>
            </a:extLst>
          </p:cNvPr>
          <p:cNvGrpSpPr>
            <a:grpSpLocks/>
          </p:cNvGrpSpPr>
          <p:nvPr/>
        </p:nvGrpSpPr>
        <p:grpSpPr bwMode="auto">
          <a:xfrm>
            <a:off x="2227940" y="2889650"/>
            <a:ext cx="252413" cy="165100"/>
            <a:chOff x="3125393" y="1499499"/>
            <a:chExt cx="252000" cy="165260"/>
          </a:xfrm>
        </p:grpSpPr>
        <p:sp>
          <p:nvSpPr>
            <p:cNvPr id="69" name="모서리가 둥근 사각형 설명선 321">
              <a:extLst>
                <a:ext uri="{FF2B5EF4-FFF2-40B4-BE49-F238E27FC236}">
                  <a16:creationId xmlns:a16="http://schemas.microsoft.com/office/drawing/2014/main" id="{CD59A2A7-53B9-E1C7-ED4C-ACB2915AC52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23">
              <a:extLst>
                <a:ext uri="{FF2B5EF4-FFF2-40B4-BE49-F238E27FC236}">
                  <a16:creationId xmlns:a16="http://schemas.microsoft.com/office/drawing/2014/main" id="{D7820056-1370-3764-203F-E889888D0E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g</a:t>
              </a:r>
            </a:p>
          </p:txBody>
        </p:sp>
      </p:grp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0204959C-F6B6-C556-B304-7CF6E49D36CE}"/>
              </a:ext>
            </a:extLst>
          </p:cNvPr>
          <p:cNvSpPr/>
          <p:nvPr/>
        </p:nvSpPr>
        <p:spPr>
          <a:xfrm>
            <a:off x="2261757" y="3643373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E2D5BA4-8386-C7A3-8D5B-3F6EF8D14D7D}"/>
              </a:ext>
            </a:extLst>
          </p:cNvPr>
          <p:cNvSpPr/>
          <p:nvPr/>
        </p:nvSpPr>
        <p:spPr>
          <a:xfrm>
            <a:off x="2810146" y="3643373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양쪽 모서리가 둥근 사각형 56">
            <a:extLst>
              <a:ext uri="{FF2B5EF4-FFF2-40B4-BE49-F238E27FC236}">
                <a16:creationId xmlns:a16="http://schemas.microsoft.com/office/drawing/2014/main" id="{2C23D615-C076-83F7-6815-DB666B773EE1}"/>
              </a:ext>
            </a:extLst>
          </p:cNvPr>
          <p:cNvSpPr/>
          <p:nvPr/>
        </p:nvSpPr>
        <p:spPr>
          <a:xfrm>
            <a:off x="538118" y="1860351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저장할 수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85235F2-1D31-7496-E3DA-695868B261F7}"/>
              </a:ext>
            </a:extLst>
          </p:cNvPr>
          <p:cNvSpPr/>
          <p:nvPr/>
        </p:nvSpPr>
        <p:spPr>
          <a:xfrm>
            <a:off x="535700" y="2418677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" name="그룹 21">
            <a:extLst>
              <a:ext uri="{FF2B5EF4-FFF2-40B4-BE49-F238E27FC236}">
                <a16:creationId xmlns:a16="http://schemas.microsoft.com/office/drawing/2014/main" id="{65842A8C-E9AE-AF24-C98B-C606FBCF63DB}"/>
              </a:ext>
            </a:extLst>
          </p:cNvPr>
          <p:cNvGrpSpPr>
            <a:grpSpLocks/>
          </p:cNvGrpSpPr>
          <p:nvPr/>
        </p:nvGrpSpPr>
        <p:grpSpPr bwMode="auto">
          <a:xfrm>
            <a:off x="413126" y="1636824"/>
            <a:ext cx="252413" cy="165100"/>
            <a:chOff x="3125393" y="1499499"/>
            <a:chExt cx="252000" cy="165260"/>
          </a:xfrm>
        </p:grpSpPr>
        <p:sp>
          <p:nvSpPr>
            <p:cNvPr id="19" name="모서리가 둥근 사각형 설명선 321">
              <a:extLst>
                <a:ext uri="{FF2B5EF4-FFF2-40B4-BE49-F238E27FC236}">
                  <a16:creationId xmlns:a16="http://schemas.microsoft.com/office/drawing/2014/main" id="{61E3B3A8-58AF-75E2-6741-BD7A03C39F1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TextBox 23">
              <a:extLst>
                <a:ext uri="{FF2B5EF4-FFF2-40B4-BE49-F238E27FC236}">
                  <a16:creationId xmlns:a16="http://schemas.microsoft.com/office/drawing/2014/main" id="{4FFD6FDF-75F8-009A-78D9-678293A6B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21" name="양쪽 모서리가 둥근 사각형 56">
            <a:extLst>
              <a:ext uri="{FF2B5EF4-FFF2-40B4-BE49-F238E27FC236}">
                <a16:creationId xmlns:a16="http://schemas.microsoft.com/office/drawing/2014/main" id="{92882EA0-57AC-D824-E78C-9F31D53DFAB7}"/>
              </a:ext>
            </a:extLst>
          </p:cNvPr>
          <p:cNvSpPr/>
          <p:nvPr/>
        </p:nvSpPr>
        <p:spPr>
          <a:xfrm>
            <a:off x="2279812" y="1870279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필수 항목이 입력되어지지 않았습니다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42FD6F3F-D77F-C0B1-935F-9019C8645EBE}"/>
              </a:ext>
            </a:extLst>
          </p:cNvPr>
          <p:cNvSpPr/>
          <p:nvPr/>
        </p:nvSpPr>
        <p:spPr>
          <a:xfrm>
            <a:off x="2277394" y="2428605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3" name="그룹 21">
            <a:extLst>
              <a:ext uri="{FF2B5EF4-FFF2-40B4-BE49-F238E27FC236}">
                <a16:creationId xmlns:a16="http://schemas.microsoft.com/office/drawing/2014/main" id="{7A722102-9CF6-0BBD-46F1-C058D1249F75}"/>
              </a:ext>
            </a:extLst>
          </p:cNvPr>
          <p:cNvGrpSpPr>
            <a:grpSpLocks/>
          </p:cNvGrpSpPr>
          <p:nvPr/>
        </p:nvGrpSpPr>
        <p:grpSpPr bwMode="auto">
          <a:xfrm>
            <a:off x="2154820" y="1646752"/>
            <a:ext cx="252413" cy="165100"/>
            <a:chOff x="3125393" y="1499499"/>
            <a:chExt cx="252000" cy="165260"/>
          </a:xfrm>
        </p:grpSpPr>
        <p:sp>
          <p:nvSpPr>
            <p:cNvPr id="24" name="모서리가 둥근 사각형 설명선 321">
              <a:extLst>
                <a:ext uri="{FF2B5EF4-FFF2-40B4-BE49-F238E27FC236}">
                  <a16:creationId xmlns:a16="http://schemas.microsoft.com/office/drawing/2014/main" id="{FB0E01CA-5C87-7415-7DC5-983D8BACBD4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3">
              <a:extLst>
                <a:ext uri="{FF2B5EF4-FFF2-40B4-BE49-F238E27FC236}">
                  <a16:creationId xmlns:a16="http://schemas.microsoft.com/office/drawing/2014/main" id="{AE6AD403-EA98-0D13-D655-947239B5C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b</a:t>
              </a:r>
            </a:p>
          </p:txBody>
        </p:sp>
      </p:grpSp>
      <p:sp>
        <p:nvSpPr>
          <p:cNvPr id="26" name="양쪽 모서리가 둥근 사각형 56">
            <a:extLst>
              <a:ext uri="{FF2B5EF4-FFF2-40B4-BE49-F238E27FC236}">
                <a16:creationId xmlns:a16="http://schemas.microsoft.com/office/drawing/2014/main" id="{79AA3B15-9500-811B-8CB6-5AE9C4986A38}"/>
              </a:ext>
            </a:extLst>
          </p:cNvPr>
          <p:cNvSpPr/>
          <p:nvPr/>
        </p:nvSpPr>
        <p:spPr>
          <a:xfrm>
            <a:off x="3988338" y="1870279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저장되었습니다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5287238E-A365-9371-1AA2-CDEE417B6593}"/>
              </a:ext>
            </a:extLst>
          </p:cNvPr>
          <p:cNvSpPr/>
          <p:nvPr/>
        </p:nvSpPr>
        <p:spPr>
          <a:xfrm>
            <a:off x="3985920" y="2428605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8" name="그룹 21">
            <a:extLst>
              <a:ext uri="{FF2B5EF4-FFF2-40B4-BE49-F238E27FC236}">
                <a16:creationId xmlns:a16="http://schemas.microsoft.com/office/drawing/2014/main" id="{C583DB9C-ED61-BD43-2BE5-173E173EA5F6}"/>
              </a:ext>
            </a:extLst>
          </p:cNvPr>
          <p:cNvGrpSpPr>
            <a:grpSpLocks/>
          </p:cNvGrpSpPr>
          <p:nvPr/>
        </p:nvGrpSpPr>
        <p:grpSpPr bwMode="auto">
          <a:xfrm>
            <a:off x="3863346" y="1646752"/>
            <a:ext cx="252413" cy="165100"/>
            <a:chOff x="3125393" y="1499499"/>
            <a:chExt cx="252000" cy="165260"/>
          </a:xfrm>
        </p:grpSpPr>
        <p:sp>
          <p:nvSpPr>
            <p:cNvPr id="29" name="모서리가 둥근 사각형 설명선 321">
              <a:extLst>
                <a:ext uri="{FF2B5EF4-FFF2-40B4-BE49-F238E27FC236}">
                  <a16:creationId xmlns:a16="http://schemas.microsoft.com/office/drawing/2014/main" id="{D94CD6EC-ACB5-250E-8346-1CFC86D53F1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3">
              <a:extLst>
                <a:ext uri="{FF2B5EF4-FFF2-40B4-BE49-F238E27FC236}">
                  <a16:creationId xmlns:a16="http://schemas.microsoft.com/office/drawing/2014/main" id="{0686891E-C3A4-703D-6728-B71B06F847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c</a:t>
              </a:r>
            </a:p>
          </p:txBody>
        </p:sp>
      </p:grpSp>
      <p:sp>
        <p:nvSpPr>
          <p:cNvPr id="31" name="양쪽 모서리가 둥근 사각형 56">
            <a:extLst>
              <a:ext uri="{FF2B5EF4-FFF2-40B4-BE49-F238E27FC236}">
                <a16:creationId xmlns:a16="http://schemas.microsoft.com/office/drawing/2014/main" id="{00493F4D-73CA-6F70-C089-717970638AC9}"/>
              </a:ext>
            </a:extLst>
          </p:cNvPr>
          <p:cNvSpPr/>
          <p:nvPr/>
        </p:nvSpPr>
        <p:spPr>
          <a:xfrm>
            <a:off x="4002487" y="3085047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검토요청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32" name="그룹 21">
            <a:extLst>
              <a:ext uri="{FF2B5EF4-FFF2-40B4-BE49-F238E27FC236}">
                <a16:creationId xmlns:a16="http://schemas.microsoft.com/office/drawing/2014/main" id="{883066BC-95A0-1D70-F5F6-68549013EE05}"/>
              </a:ext>
            </a:extLst>
          </p:cNvPr>
          <p:cNvGrpSpPr>
            <a:grpSpLocks/>
          </p:cNvGrpSpPr>
          <p:nvPr/>
        </p:nvGrpSpPr>
        <p:grpSpPr bwMode="auto">
          <a:xfrm>
            <a:off x="3967801" y="2880346"/>
            <a:ext cx="252413" cy="165100"/>
            <a:chOff x="3125393" y="1499499"/>
            <a:chExt cx="252000" cy="165260"/>
          </a:xfrm>
        </p:grpSpPr>
        <p:sp>
          <p:nvSpPr>
            <p:cNvPr id="33" name="모서리가 둥근 사각형 설명선 321">
              <a:extLst>
                <a:ext uri="{FF2B5EF4-FFF2-40B4-BE49-F238E27FC236}">
                  <a16:creationId xmlns:a16="http://schemas.microsoft.com/office/drawing/2014/main" id="{22809759-0901-394D-A839-EA6E50FB9F7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" name="TextBox 23">
              <a:extLst>
                <a:ext uri="{FF2B5EF4-FFF2-40B4-BE49-F238E27FC236}">
                  <a16:creationId xmlns:a16="http://schemas.microsoft.com/office/drawing/2014/main" id="{A46638A0-F3A5-0F03-C795-D00425587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h</a:t>
              </a:r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8BB99A6C-3D50-A76B-006F-90B0C7FD57C8}"/>
              </a:ext>
            </a:extLst>
          </p:cNvPr>
          <p:cNvSpPr/>
          <p:nvPr/>
        </p:nvSpPr>
        <p:spPr>
          <a:xfrm>
            <a:off x="4001618" y="3634069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60AE1296-97EB-93D0-A82E-3F70C8986452}"/>
              </a:ext>
            </a:extLst>
          </p:cNvPr>
          <p:cNvSpPr/>
          <p:nvPr/>
        </p:nvSpPr>
        <p:spPr>
          <a:xfrm>
            <a:off x="4550007" y="3634069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양쪽 모서리가 둥근 사각형 56">
            <a:extLst>
              <a:ext uri="{FF2B5EF4-FFF2-40B4-BE49-F238E27FC236}">
                <a16:creationId xmlns:a16="http://schemas.microsoft.com/office/drawing/2014/main" id="{723D7F72-B9B5-7C65-838D-0B7D5AE5357A}"/>
              </a:ext>
            </a:extLst>
          </p:cNvPr>
          <p:cNvSpPr/>
          <p:nvPr/>
        </p:nvSpPr>
        <p:spPr>
          <a:xfrm>
            <a:off x="5756118" y="1867071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검토요청을 할 수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DEC80CC-9C50-CBB8-9882-B3E59986B5C8}"/>
              </a:ext>
            </a:extLst>
          </p:cNvPr>
          <p:cNvSpPr/>
          <p:nvPr/>
        </p:nvSpPr>
        <p:spPr>
          <a:xfrm>
            <a:off x="5753700" y="2425397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6" name="그룹 21">
            <a:extLst>
              <a:ext uri="{FF2B5EF4-FFF2-40B4-BE49-F238E27FC236}">
                <a16:creationId xmlns:a16="http://schemas.microsoft.com/office/drawing/2014/main" id="{C4EAF46C-574B-E763-E6DF-BA3A910979B2}"/>
              </a:ext>
            </a:extLst>
          </p:cNvPr>
          <p:cNvGrpSpPr>
            <a:grpSpLocks/>
          </p:cNvGrpSpPr>
          <p:nvPr/>
        </p:nvGrpSpPr>
        <p:grpSpPr bwMode="auto">
          <a:xfrm>
            <a:off x="5631126" y="1643544"/>
            <a:ext cx="252413" cy="165100"/>
            <a:chOff x="3125393" y="1499499"/>
            <a:chExt cx="252000" cy="165260"/>
          </a:xfrm>
        </p:grpSpPr>
        <p:sp>
          <p:nvSpPr>
            <p:cNvPr id="47" name="모서리가 둥근 사각형 설명선 321">
              <a:extLst>
                <a:ext uri="{FF2B5EF4-FFF2-40B4-BE49-F238E27FC236}">
                  <a16:creationId xmlns:a16="http://schemas.microsoft.com/office/drawing/2014/main" id="{A6630593-2335-D576-F578-E91B587A691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TextBox 23">
              <a:extLst>
                <a:ext uri="{FF2B5EF4-FFF2-40B4-BE49-F238E27FC236}">
                  <a16:creationId xmlns:a16="http://schemas.microsoft.com/office/drawing/2014/main" id="{079F9E10-22D7-FBE5-BB7F-0A923450C4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d</a:t>
              </a:r>
            </a:p>
          </p:txBody>
        </p:sp>
      </p:grpSp>
      <p:sp>
        <p:nvSpPr>
          <p:cNvPr id="76" name="양쪽 모서리가 둥근 사각형 56">
            <a:extLst>
              <a:ext uri="{FF2B5EF4-FFF2-40B4-BE49-F238E27FC236}">
                <a16:creationId xmlns:a16="http://schemas.microsoft.com/office/drawing/2014/main" id="{2ACCA731-751F-115E-8B2E-65815C9C9059}"/>
              </a:ext>
            </a:extLst>
          </p:cNvPr>
          <p:cNvSpPr/>
          <p:nvPr/>
        </p:nvSpPr>
        <p:spPr>
          <a:xfrm>
            <a:off x="7483044" y="1853481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검토요청 되었습니다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E518543D-9AB3-1A4A-9B2F-37DAA85C48A3}"/>
              </a:ext>
            </a:extLst>
          </p:cNvPr>
          <p:cNvSpPr/>
          <p:nvPr/>
        </p:nvSpPr>
        <p:spPr>
          <a:xfrm>
            <a:off x="7480626" y="2411807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8" name="그룹 21">
            <a:extLst>
              <a:ext uri="{FF2B5EF4-FFF2-40B4-BE49-F238E27FC236}">
                <a16:creationId xmlns:a16="http://schemas.microsoft.com/office/drawing/2014/main" id="{00372C96-AADC-3827-543D-0D0A23837830}"/>
              </a:ext>
            </a:extLst>
          </p:cNvPr>
          <p:cNvGrpSpPr>
            <a:grpSpLocks/>
          </p:cNvGrpSpPr>
          <p:nvPr/>
        </p:nvGrpSpPr>
        <p:grpSpPr bwMode="auto">
          <a:xfrm>
            <a:off x="7358052" y="1629954"/>
            <a:ext cx="252413" cy="165100"/>
            <a:chOff x="3125393" y="1499499"/>
            <a:chExt cx="252000" cy="165260"/>
          </a:xfrm>
        </p:grpSpPr>
        <p:sp>
          <p:nvSpPr>
            <p:cNvPr id="79" name="모서리가 둥근 사각형 설명선 321">
              <a:extLst>
                <a:ext uri="{FF2B5EF4-FFF2-40B4-BE49-F238E27FC236}">
                  <a16:creationId xmlns:a16="http://schemas.microsoft.com/office/drawing/2014/main" id="{0BC279F6-94F4-0539-9447-E04F57B21ED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23">
              <a:extLst>
                <a:ext uri="{FF2B5EF4-FFF2-40B4-BE49-F238E27FC236}">
                  <a16:creationId xmlns:a16="http://schemas.microsoft.com/office/drawing/2014/main" id="{153F48AA-7284-F08B-799B-F53D37FF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e</a:t>
              </a:r>
            </a:p>
          </p:txBody>
        </p:sp>
      </p:grpSp>
      <p:sp>
        <p:nvSpPr>
          <p:cNvPr id="92" name="양쪽 모서리가 둥근 사각형 56">
            <a:extLst>
              <a:ext uri="{FF2B5EF4-FFF2-40B4-BE49-F238E27FC236}">
                <a16:creationId xmlns:a16="http://schemas.microsoft.com/office/drawing/2014/main" id="{49CF70F7-08F2-9C12-F048-AD7E78F52A98}"/>
              </a:ext>
            </a:extLst>
          </p:cNvPr>
          <p:cNvSpPr/>
          <p:nvPr/>
        </p:nvSpPr>
        <p:spPr>
          <a:xfrm>
            <a:off x="530599" y="3078803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파일이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574FF906-D5C2-FC1A-5A86-4B9FF03B8F44}"/>
              </a:ext>
            </a:extLst>
          </p:cNvPr>
          <p:cNvSpPr/>
          <p:nvPr/>
        </p:nvSpPr>
        <p:spPr>
          <a:xfrm>
            <a:off x="528181" y="3637129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4" name="그룹 21">
            <a:extLst>
              <a:ext uri="{FF2B5EF4-FFF2-40B4-BE49-F238E27FC236}">
                <a16:creationId xmlns:a16="http://schemas.microsoft.com/office/drawing/2014/main" id="{A7CCCABE-09A5-CDD3-390C-1986FF9CFDCF}"/>
              </a:ext>
            </a:extLst>
          </p:cNvPr>
          <p:cNvGrpSpPr>
            <a:grpSpLocks/>
          </p:cNvGrpSpPr>
          <p:nvPr/>
        </p:nvGrpSpPr>
        <p:grpSpPr bwMode="auto">
          <a:xfrm>
            <a:off x="405607" y="2855276"/>
            <a:ext cx="252413" cy="165100"/>
            <a:chOff x="3125393" y="1499499"/>
            <a:chExt cx="252000" cy="165260"/>
          </a:xfrm>
        </p:grpSpPr>
        <p:sp>
          <p:nvSpPr>
            <p:cNvPr id="95" name="모서리가 둥근 사각형 설명선 321">
              <a:extLst>
                <a:ext uri="{FF2B5EF4-FFF2-40B4-BE49-F238E27FC236}">
                  <a16:creationId xmlns:a16="http://schemas.microsoft.com/office/drawing/2014/main" id="{F79DCBF6-8E95-3732-8096-50AC05FC6B9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7" name="TextBox 23">
              <a:extLst>
                <a:ext uri="{FF2B5EF4-FFF2-40B4-BE49-F238E27FC236}">
                  <a16:creationId xmlns:a16="http://schemas.microsoft.com/office/drawing/2014/main" id="{452E0FA4-73B0-6E84-93FF-8CE10F59B1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f</a:t>
              </a:r>
            </a:p>
          </p:txBody>
        </p:sp>
      </p:grp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47171A75-479E-EF4C-6E24-6F12B8DA0F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658392"/>
              </p:ext>
            </p:extLst>
          </p:nvPr>
        </p:nvGraphicFramePr>
        <p:xfrm>
          <a:off x="9889871" y="1687397"/>
          <a:ext cx="2011500" cy="37385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5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저장 버튼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상태가 저장 할 수 없는 상태일 경우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저장과 검토요청 버튼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클릭시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필수항목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미입력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되었을 경우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저장버튼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저장이 완료되어지면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d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검토요청 버튼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상태가 검토요청 할 수 없는 상태일 경우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8729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e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검토요청 처리가 완료되면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91912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f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 삭제 버튼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선택된 파일이 없을 경우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340407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g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저장버튼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저장 진행 여부 문의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89316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h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검토요청 버튼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검토요청 진행 여부 문의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10732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i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 삭제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선택한 파일 삭제여부 문의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453119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j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 클릭 시 삭제 진행 여부 문의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8362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k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첨부파일 첨부 시 용량 초과 알림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7750224"/>
                  </a:ext>
                </a:extLst>
              </a:tr>
            </a:tbl>
          </a:graphicData>
        </a:graphic>
      </p:graphicFrame>
      <p:sp>
        <p:nvSpPr>
          <p:cNvPr id="100" name="양쪽 모서리가 둥근 사각형 56">
            <a:extLst>
              <a:ext uri="{FF2B5EF4-FFF2-40B4-BE49-F238E27FC236}">
                <a16:creationId xmlns:a16="http://schemas.microsoft.com/office/drawing/2014/main" id="{9F4F9959-ED79-4194-14FA-65CFE3721264}"/>
              </a:ext>
            </a:extLst>
          </p:cNvPr>
          <p:cNvSpPr/>
          <p:nvPr/>
        </p:nvSpPr>
        <p:spPr>
          <a:xfrm>
            <a:off x="5718073" y="3082201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파일 삭제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101" name="그룹 21">
            <a:extLst>
              <a:ext uri="{FF2B5EF4-FFF2-40B4-BE49-F238E27FC236}">
                <a16:creationId xmlns:a16="http://schemas.microsoft.com/office/drawing/2014/main" id="{496038EA-7E60-4A8B-CB31-A2E6A28BC9A9}"/>
              </a:ext>
            </a:extLst>
          </p:cNvPr>
          <p:cNvGrpSpPr>
            <a:grpSpLocks/>
          </p:cNvGrpSpPr>
          <p:nvPr/>
        </p:nvGrpSpPr>
        <p:grpSpPr bwMode="auto">
          <a:xfrm>
            <a:off x="5683387" y="2877500"/>
            <a:ext cx="252413" cy="165100"/>
            <a:chOff x="3125393" y="1499499"/>
            <a:chExt cx="252000" cy="165260"/>
          </a:xfrm>
        </p:grpSpPr>
        <p:sp>
          <p:nvSpPr>
            <p:cNvPr id="102" name="모서리가 둥근 사각형 설명선 321">
              <a:extLst>
                <a:ext uri="{FF2B5EF4-FFF2-40B4-BE49-F238E27FC236}">
                  <a16:creationId xmlns:a16="http://schemas.microsoft.com/office/drawing/2014/main" id="{36830D06-B06C-D72C-6834-2870F6D95CF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3" name="TextBox 23">
              <a:extLst>
                <a:ext uri="{FF2B5EF4-FFF2-40B4-BE49-F238E27FC236}">
                  <a16:creationId xmlns:a16="http://schemas.microsoft.com/office/drawing/2014/main" id="{CBF0437E-A3AD-17CF-B225-0FB4230ECD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i</a:t>
              </a:r>
            </a:p>
          </p:txBody>
        </p:sp>
      </p:grp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0849284E-6DD9-1E74-8F9E-48279DAAB933}"/>
              </a:ext>
            </a:extLst>
          </p:cNvPr>
          <p:cNvSpPr/>
          <p:nvPr/>
        </p:nvSpPr>
        <p:spPr>
          <a:xfrm>
            <a:off x="5717204" y="3631223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0EAB43B-369C-9683-EC9E-BC0DFFCCC316}"/>
              </a:ext>
            </a:extLst>
          </p:cNvPr>
          <p:cNvSpPr/>
          <p:nvPr/>
        </p:nvSpPr>
        <p:spPr>
          <a:xfrm>
            <a:off x="6265593" y="3631223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양쪽 모서리가 둥근 사각형 56">
            <a:extLst>
              <a:ext uri="{FF2B5EF4-FFF2-40B4-BE49-F238E27FC236}">
                <a16:creationId xmlns:a16="http://schemas.microsoft.com/office/drawing/2014/main" id="{3F0535FC-692C-98D9-7E3F-62121F3CD405}"/>
              </a:ext>
            </a:extLst>
          </p:cNvPr>
          <p:cNvSpPr/>
          <p:nvPr/>
        </p:nvSpPr>
        <p:spPr>
          <a:xfrm>
            <a:off x="7515169" y="3062053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3" name="그룹 21">
            <a:extLst>
              <a:ext uri="{FF2B5EF4-FFF2-40B4-BE49-F238E27FC236}">
                <a16:creationId xmlns:a16="http://schemas.microsoft.com/office/drawing/2014/main" id="{67244D7E-E807-F9DA-2DC8-D2AEA9D34A3A}"/>
              </a:ext>
            </a:extLst>
          </p:cNvPr>
          <p:cNvGrpSpPr>
            <a:grpSpLocks/>
          </p:cNvGrpSpPr>
          <p:nvPr/>
        </p:nvGrpSpPr>
        <p:grpSpPr bwMode="auto">
          <a:xfrm>
            <a:off x="7480483" y="2857352"/>
            <a:ext cx="252413" cy="165100"/>
            <a:chOff x="3125393" y="1499499"/>
            <a:chExt cx="252000" cy="165260"/>
          </a:xfrm>
        </p:grpSpPr>
        <p:sp>
          <p:nvSpPr>
            <p:cNvPr id="4" name="모서리가 둥근 사각형 설명선 321">
              <a:extLst>
                <a:ext uri="{FF2B5EF4-FFF2-40B4-BE49-F238E27FC236}">
                  <a16:creationId xmlns:a16="http://schemas.microsoft.com/office/drawing/2014/main" id="{67F5F040-F13A-1EAC-F2D5-854DEBFC155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TextBox 23">
              <a:extLst>
                <a:ext uri="{FF2B5EF4-FFF2-40B4-BE49-F238E27FC236}">
                  <a16:creationId xmlns:a16="http://schemas.microsoft.com/office/drawing/2014/main" id="{4C033CE4-AA71-60F2-F6B3-BF6B42B0C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j</a:t>
              </a:r>
            </a:p>
          </p:txBody>
        </p:sp>
      </p:grp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2FE689BF-C5D1-C5EA-923A-4F152B2D183E}"/>
              </a:ext>
            </a:extLst>
          </p:cNvPr>
          <p:cNvSpPr/>
          <p:nvPr/>
        </p:nvSpPr>
        <p:spPr>
          <a:xfrm>
            <a:off x="7514300" y="3611075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B150443A-56B2-1CFC-26EE-CB438276FAAC}"/>
              </a:ext>
            </a:extLst>
          </p:cNvPr>
          <p:cNvSpPr/>
          <p:nvPr/>
        </p:nvSpPr>
        <p:spPr>
          <a:xfrm>
            <a:off x="8062689" y="3611075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양쪽 모서리가 둥근 사각형 56">
            <a:extLst>
              <a:ext uri="{FF2B5EF4-FFF2-40B4-BE49-F238E27FC236}">
                <a16:creationId xmlns:a16="http://schemas.microsoft.com/office/drawing/2014/main" id="{0D4B4520-B7F2-E71D-1A03-0D5BED193D03}"/>
              </a:ext>
            </a:extLst>
          </p:cNvPr>
          <p:cNvSpPr/>
          <p:nvPr/>
        </p:nvSpPr>
        <p:spPr>
          <a:xfrm>
            <a:off x="530599" y="4273772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 최대용량 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메가를 </a:t>
            </a:r>
            <a:b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초과 하였습니다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972C2A6-9D89-D4BC-7FD5-5A64AE9D6AA6}"/>
              </a:ext>
            </a:extLst>
          </p:cNvPr>
          <p:cNvSpPr/>
          <p:nvPr/>
        </p:nvSpPr>
        <p:spPr>
          <a:xfrm>
            <a:off x="528181" y="4832098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" name="그룹 21">
            <a:extLst>
              <a:ext uri="{FF2B5EF4-FFF2-40B4-BE49-F238E27FC236}">
                <a16:creationId xmlns:a16="http://schemas.microsoft.com/office/drawing/2014/main" id="{9D8E42E0-286D-A628-F851-C67AFDEEBF49}"/>
              </a:ext>
            </a:extLst>
          </p:cNvPr>
          <p:cNvGrpSpPr>
            <a:grpSpLocks/>
          </p:cNvGrpSpPr>
          <p:nvPr/>
        </p:nvGrpSpPr>
        <p:grpSpPr bwMode="auto">
          <a:xfrm>
            <a:off x="452848" y="4021772"/>
            <a:ext cx="252413" cy="165100"/>
            <a:chOff x="3125393" y="1499499"/>
            <a:chExt cx="252000" cy="165260"/>
          </a:xfrm>
        </p:grpSpPr>
        <p:sp>
          <p:nvSpPr>
            <p:cNvPr id="12" name="모서리가 둥근 사각형 설명선 321">
              <a:extLst>
                <a:ext uri="{FF2B5EF4-FFF2-40B4-BE49-F238E27FC236}">
                  <a16:creationId xmlns:a16="http://schemas.microsoft.com/office/drawing/2014/main" id="{E96194FF-7ED8-AA1F-4597-C73AFE54FDE0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TextBox 23">
              <a:extLst>
                <a:ext uri="{FF2B5EF4-FFF2-40B4-BE49-F238E27FC236}">
                  <a16:creationId xmlns:a16="http://schemas.microsoft.com/office/drawing/2014/main" id="{72BE676E-DE3E-D5F0-D1B5-3CD7C3619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k</a:t>
              </a:r>
            </a:p>
          </p:txBody>
        </p:sp>
      </p:grpSp>
      <p:graphicFrame>
        <p:nvGraphicFramePr>
          <p:cNvPr id="14" name="Group 234">
            <a:extLst>
              <a:ext uri="{FF2B5EF4-FFF2-40B4-BE49-F238E27FC236}">
                <a16:creationId xmlns:a16="http://schemas.microsoft.com/office/drawing/2014/main" id="{1E9F696B-9D0D-644F-A960-8D14047346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3421484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(3/3)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요청한 내역을 등록 및 수정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9696675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6613134"/>
              </p:ext>
            </p:extLst>
          </p:nvPr>
        </p:nvGraphicFramePr>
        <p:xfrm>
          <a:off x="254000" y="1343534"/>
          <a:ext cx="11691939" cy="369520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SERPWEB.SFTY_XMNT_RFRNR_INFO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50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61093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SERPWEB.SFTY_XMNT_ATTN_MTR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주의사항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SERPWEB.SFTY_XMNT_BASIC_INFO_HIST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기본정보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PRMMTR_TYPE_CODE(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077994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SERPWEB.SFTY_XMNT_ITEM_INFO_HIST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제품정보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2370358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693854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SERPWEB.SFTY_XMNT_PRMMTR_PRDC_INFO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홍보물 제품정보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922098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SERPWEB.SFTY_XMNT_REFR_SETNG_INFO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설정정보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78691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5149653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5188942"/>
              </p:ext>
            </p:extLst>
          </p:nvPr>
        </p:nvGraphicFramePr>
        <p:xfrm>
          <a:off x="247260" y="5422210"/>
          <a:ext cx="11710849" cy="69228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59E539B8-3EAC-8D54-CF6D-F7F51A7E80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555553"/>
              </p:ext>
            </p:extLst>
          </p:nvPr>
        </p:nvGraphicFramePr>
        <p:xfrm>
          <a:off x="243841" y="534704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요청한 내역을 등록 및 수정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165665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2188266"/>
              </p:ext>
            </p:extLst>
          </p:nvPr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1332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734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첨부파일분류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1, 301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 ~ 311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메뉴판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사이렌오더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상세페이지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푸드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직수입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(M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D), 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99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임원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897313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68211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7916628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4209864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4482421"/>
          <a:ext cx="11698678" cy="184608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93499679-44FA-CE0C-81A7-8DC7AC86CF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068755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요청한 내역을 등록 및 수정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8963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3016661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 안전성 검토 요청 저장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 건 등록 및 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이전 상태는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작성중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홍보물검토번호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채번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(YYYYMMDD+SEQ : 202403010001 &gt; SEQ</a:t>
                      </a:r>
                      <a:r>
                        <a:rPr lang="ko-KR" altLang="en-US" sz="900" b="0" i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경우 </a:t>
                      </a:r>
                      <a:r>
                        <a:rPr lang="en-US" altLang="ko-KR" sz="900" b="0" i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0001~9999</a:t>
                      </a:r>
                      <a:r>
                        <a:rPr lang="ko-KR" altLang="en-US" sz="900" b="0" i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까지 채번하고 다시 </a:t>
                      </a:r>
                      <a:r>
                        <a:rPr lang="en-US" altLang="ko-KR" sz="900" b="0" i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0001</a:t>
                      </a:r>
                      <a:r>
                        <a:rPr lang="ko-KR" altLang="en-US" sz="900" b="0" i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변경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   -&gt;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 select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1" lang="en-US" altLang="ko-KR" sz="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to_char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1" lang="en-US" altLang="ko-KR" sz="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sysdate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,’YYYYMMDD’) || LPAD(SEQ_SFTY_XMNT_NO.nextval,4,’0’) from dual;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신규등록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 정보 등록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‘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작성중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’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 요청 건의 정보를 수정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프로모션 팝업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 프로모션이 단 건이 아닐 경우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명칭은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컴마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(,)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구분하여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 처리하고 프로모션 정보 테이블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SFTY_XMNT_PRMT_INFRM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다 건의 코드를 관리한다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구분이 프로모션일 경우에만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검토완료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시 필수 값으로 체크함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이외 구분은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Null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요청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‘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작성중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 검토 요청 건을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처리하고 상태 값을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기본정보 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상태이력을 등록한다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메일 전송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참조자는 메일 발송 제외임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EP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알림만 발송함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삭제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결재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미상신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상태는 삭제할 수 있다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데이터 완전 삭제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이후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–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flag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(Y/N)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삭제는 요청자만 삭제할 수 있다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 처리한 후 목록 화면으로 전환한다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추가 및 삭제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사용자 검색 팝업을 오픈하며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선택된 대상자를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리스트에 추가한다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(</a:t>
                      </a:r>
                      <a:r>
                        <a:rPr kumimoji="0" lang="en-US" altLang="ko-KR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Muliti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Select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참조화면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COMMO0018P)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중복 체크 필수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요청부서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+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검토부서가 아닌 참조자만 추가 가능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개인정보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마스킹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및 닉네임처리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리스트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,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 팝업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[5]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등록 및 삭제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첨부파일 등록의 해당 대상 건에 대해 파일 탐색기를 오픈하며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선택된 파일을 파일 리스트에 추가한다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첨부파일 리스트에서 선택되어진 건을 삭제 처리한다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첨부파일 다운로드 시 동일한 파일명일 경우 버전을 달리하여 다운로드 필요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[6]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가이드 다운로드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첨부파일 등록에 대한 가이드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매뉴얼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을 다운로드 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하나의 파일로 관리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 관리 화면 필요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추가 개발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6562BF4C-2422-8D03-81E2-C539DCD75C8D}"/>
              </a:ext>
            </a:extLst>
          </p:cNvPr>
          <p:cNvSpPr/>
          <p:nvPr/>
        </p:nvSpPr>
        <p:spPr bwMode="auto">
          <a:xfrm>
            <a:off x="8511568" y="5178582"/>
            <a:ext cx="3321311" cy="1255495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EP/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메일 알림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검토요청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en-US" altLang="ko-KR" sz="1000" dirty="0">
              <a:solidFill>
                <a:schemeClr val="accent2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  ＂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(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홍보물검토번호 번호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)“, + ＂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상태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＂ 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되었습니다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.</a:t>
            </a:r>
          </a:p>
          <a:p>
            <a:endParaRPr lang="ko-KR" altLang="en-US" sz="900" dirty="0">
              <a:effectLst/>
              <a:latin typeface="Arial" panose="020B0604020202020204" pitchFamily="34" charset="0"/>
            </a:endParaRPr>
          </a:p>
          <a:p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예시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) 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홍보물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(9300001), 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검토요청 되었습니다</a:t>
            </a:r>
            <a:endParaRPr lang="en-US" altLang="ko-KR" sz="900" dirty="0">
              <a:effectLst/>
              <a:latin typeface="Malgun Gothic" panose="020B0503020000020004" pitchFamily="50" charset="-127"/>
              <a:ea typeface="Malgun Gothic" panose="020B0503020000020004" pitchFamily="50" charset="-127"/>
            </a:endParaRPr>
          </a:p>
        </p:txBody>
      </p:sp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FC7BB1F9-492D-E14F-C468-B0E25429D1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9637279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요청 등록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요청한 내역을 등록 및 수정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7244753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9C55180F-0DEF-2B6E-C7FF-01759DA65E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8701622"/>
              </p:ext>
            </p:extLst>
          </p:nvPr>
        </p:nvGraphicFramePr>
        <p:xfrm>
          <a:off x="311132" y="3130165"/>
          <a:ext cx="9421157" cy="1944673"/>
        </p:xfrm>
        <a:graphic>
          <a:graphicData uri="http://schemas.openxmlformats.org/drawingml/2006/table">
            <a:tbl>
              <a:tblPr/>
              <a:tblGrid>
                <a:gridCol w="580756">
                  <a:extLst>
                    <a:ext uri="{9D8B030D-6E8A-4147-A177-3AD203B41FA5}">
                      <a16:colId xmlns:a16="http://schemas.microsoft.com/office/drawing/2014/main" val="1152230235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2098985469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1192831329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4093669645"/>
                    </a:ext>
                  </a:extLst>
                </a:gridCol>
                <a:gridCol w="1849817">
                  <a:extLst>
                    <a:ext uri="{9D8B030D-6E8A-4147-A177-3AD203B41FA5}">
                      <a16:colId xmlns:a16="http://schemas.microsoft.com/office/drawing/2014/main" val="3422829030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3082899066"/>
                    </a:ext>
                  </a:extLst>
                </a:gridCol>
                <a:gridCol w="580756">
                  <a:extLst>
                    <a:ext uri="{9D8B030D-6E8A-4147-A177-3AD203B41FA5}">
                      <a16:colId xmlns:a16="http://schemas.microsoft.com/office/drawing/2014/main" val="1059655246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4061937204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4172687546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1736827612"/>
                    </a:ext>
                  </a:extLst>
                </a:gridCol>
                <a:gridCol w="537737">
                  <a:extLst>
                    <a:ext uri="{9D8B030D-6E8A-4147-A177-3AD203B41FA5}">
                      <a16:colId xmlns:a16="http://schemas.microsoft.com/office/drawing/2014/main" val="252258855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3040182757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243799747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618585345"/>
                    </a:ext>
                  </a:extLst>
                </a:gridCol>
                <a:gridCol w="483964">
                  <a:extLst>
                    <a:ext uri="{9D8B030D-6E8A-4147-A177-3AD203B41FA5}">
                      <a16:colId xmlns:a16="http://schemas.microsoft.com/office/drawing/2014/main" val="4232130856"/>
                    </a:ext>
                  </a:extLst>
                </a:gridCol>
              </a:tblGrid>
              <a:tr h="18168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검토번호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진행상태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SKU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반려현황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출시시작일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출시종료일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완료일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요청자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검토자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316022"/>
                  </a:ext>
                </a:extLst>
              </a:tr>
              <a:tr h="25085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212222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/ASKU/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/QA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기획파트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/SKU</a:t>
                      </a:r>
                      <a:r>
                        <a:rPr lang="ko-KR" altLang="en-US" sz="700" b="0" i="0" u="sng" strike="noStrike">
                          <a:solidFill>
                            <a:srgbClr val="3333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프로모션명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2024-01-15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2024-01-30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2024-01-20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김*민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길동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검*자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닉넴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5404441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232323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122002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234234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580876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123123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80875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424232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재검토진행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480056"/>
                  </a:ext>
                </a:extLst>
              </a:tr>
              <a:tr h="30242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003" marR="9003" marT="9003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9551190"/>
                  </a:ext>
                </a:extLst>
              </a:tr>
            </a:tbl>
          </a:graphicData>
        </a:graphic>
      </p:graphicFrame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41896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359256"/>
              </p:ext>
            </p:extLst>
          </p:nvPr>
        </p:nvGraphicFramePr>
        <p:xfrm>
          <a:off x="9846998" y="1664954"/>
          <a:ext cx="2088000" cy="4381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검색조건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 선택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금일 기준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30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일전 설정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기간은 최대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기준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조회대상은 내목록으로 기본설정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검토자는 로그인 사번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명 설정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삭제여부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Default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미선택으로 함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1)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내목록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선택 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검토자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=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로그인사용자 대상만 조회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참조자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 안함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전체 선택 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검토부서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=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로그인한 사용자의 부서 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참조자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=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로그인한 사용자 인 대상 조회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SKU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검색 팝업을 오픈한다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ko-KR" sz="700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검색 팝업을 오픈한다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선택시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요청자의 요청부서를 요청부서 </a:t>
                      </a:r>
                      <a:r>
                        <a:rPr lang="ko-KR" altLang="en-US" sz="70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검색란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출력</a:t>
                      </a:r>
                      <a:endParaRPr lang="ko-KR" altLang="ko-KR" sz="7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부서검색 팝업을 오픈한다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홍보물유형 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 게시물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700" b="1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사이렌오더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700" b="1" dirty="0" err="1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상세페이지</a:t>
                      </a:r>
                      <a:r>
                        <a:rPr kumimoji="1" lang="en-US" altLang="ko-KR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)/</a:t>
                      </a:r>
                      <a:r>
                        <a:rPr kumimoji="1" lang="ko-KR" altLang="en-US" sz="700" b="1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rgbClr val="40404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971354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조건에 해당하는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홍보뮬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검토 요청 현황 목록을 조회한다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필수 검색조건 항목 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조회기간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조회대상 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21305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조회한 리스트를 다운로드한다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03966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3375606"/>
                  </a:ext>
                </a:extLst>
              </a:tr>
            </a:tbl>
          </a:graphicData>
        </a:graphic>
      </p:graphicFrame>
      <p:sp>
        <p:nvSpPr>
          <p:cNvPr id="83" name="직사각형 82">
            <a:extLst>
              <a:ext uri="{FF2B5EF4-FFF2-40B4-BE49-F238E27FC236}">
                <a16:creationId xmlns:a16="http://schemas.microsoft.com/office/drawing/2014/main" id="{C61AC433-1E7E-E0F7-A2B9-2A63F88F1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656" y="2799327"/>
            <a:ext cx="600311" cy="172410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엑셀다운로드</a:t>
            </a:r>
          </a:p>
        </p:txBody>
      </p:sp>
      <p:grpSp>
        <p:nvGrpSpPr>
          <p:cNvPr id="21" name="그룹 21">
            <a:extLst>
              <a:ext uri="{FF2B5EF4-FFF2-40B4-BE49-F238E27FC236}">
                <a16:creationId xmlns:a16="http://schemas.microsoft.com/office/drawing/2014/main" id="{E953AEC5-FAF0-6803-06A8-9982569E080E}"/>
              </a:ext>
            </a:extLst>
          </p:cNvPr>
          <p:cNvGrpSpPr>
            <a:grpSpLocks/>
          </p:cNvGrpSpPr>
          <p:nvPr/>
        </p:nvGrpSpPr>
        <p:grpSpPr bwMode="auto">
          <a:xfrm>
            <a:off x="2728590" y="3026794"/>
            <a:ext cx="252413" cy="165100"/>
            <a:chOff x="3125393" y="1499499"/>
            <a:chExt cx="252000" cy="165260"/>
          </a:xfrm>
        </p:grpSpPr>
        <p:sp>
          <p:nvSpPr>
            <p:cNvPr id="22" name="모서리가 둥근 사각형 설명선 321">
              <a:extLst>
                <a:ext uri="{FF2B5EF4-FFF2-40B4-BE49-F238E27FC236}">
                  <a16:creationId xmlns:a16="http://schemas.microsoft.com/office/drawing/2014/main" id="{FDD09D60-2061-6368-8148-A422EDEA89C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3">
              <a:extLst>
                <a:ext uri="{FF2B5EF4-FFF2-40B4-BE49-F238E27FC236}">
                  <a16:creationId xmlns:a16="http://schemas.microsoft.com/office/drawing/2014/main" id="{17C7A543-573F-AC51-E668-6C3207A1E2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pSp>
        <p:nvGrpSpPr>
          <p:cNvPr id="27" name="그룹 21">
            <a:extLst>
              <a:ext uri="{FF2B5EF4-FFF2-40B4-BE49-F238E27FC236}">
                <a16:creationId xmlns:a16="http://schemas.microsoft.com/office/drawing/2014/main" id="{0E872B34-3EBF-5BFD-0F29-E81DB06E2948}"/>
              </a:ext>
            </a:extLst>
          </p:cNvPr>
          <p:cNvGrpSpPr>
            <a:grpSpLocks/>
          </p:cNvGrpSpPr>
          <p:nvPr/>
        </p:nvGrpSpPr>
        <p:grpSpPr bwMode="auto">
          <a:xfrm>
            <a:off x="2443262" y="3745691"/>
            <a:ext cx="252413" cy="165100"/>
            <a:chOff x="3125393" y="1499499"/>
            <a:chExt cx="252000" cy="165260"/>
          </a:xfrm>
        </p:grpSpPr>
        <p:sp>
          <p:nvSpPr>
            <p:cNvPr id="28" name="모서리가 둥근 사각형 설명선 321">
              <a:extLst>
                <a:ext uri="{FF2B5EF4-FFF2-40B4-BE49-F238E27FC236}">
                  <a16:creationId xmlns:a16="http://schemas.microsoft.com/office/drawing/2014/main" id="{B71B8220-912B-CCBD-AD51-25CB068CC56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3">
              <a:extLst>
                <a:ext uri="{FF2B5EF4-FFF2-40B4-BE49-F238E27FC236}">
                  <a16:creationId xmlns:a16="http://schemas.microsoft.com/office/drawing/2014/main" id="{53D1214D-CD88-DD28-919A-C588089FE9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sp>
        <p:nvSpPr>
          <p:cNvPr id="30" name="양쪽 모서리가 둥근 사각형 56">
            <a:extLst>
              <a:ext uri="{FF2B5EF4-FFF2-40B4-BE49-F238E27FC236}">
                <a16:creationId xmlns:a16="http://schemas.microsoft.com/office/drawing/2014/main" id="{A9C97E6B-5DDF-3A58-5A1B-EF90B5DC3A40}"/>
              </a:ext>
            </a:extLst>
          </p:cNvPr>
          <p:cNvSpPr/>
          <p:nvPr/>
        </p:nvSpPr>
        <p:spPr>
          <a:xfrm>
            <a:off x="421605" y="5667688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조회기간이 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이상입니다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조회를 할 수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36533AEA-0764-F0B0-63CD-C11E00ED80F7}"/>
              </a:ext>
            </a:extLst>
          </p:cNvPr>
          <p:cNvSpPr/>
          <p:nvPr/>
        </p:nvSpPr>
        <p:spPr>
          <a:xfrm>
            <a:off x="427576" y="6226014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2" name="그룹 21">
            <a:extLst>
              <a:ext uri="{FF2B5EF4-FFF2-40B4-BE49-F238E27FC236}">
                <a16:creationId xmlns:a16="http://schemas.microsoft.com/office/drawing/2014/main" id="{9014D159-82C1-DEE7-1D6D-7A064D4AF58E}"/>
              </a:ext>
            </a:extLst>
          </p:cNvPr>
          <p:cNvGrpSpPr>
            <a:grpSpLocks/>
          </p:cNvGrpSpPr>
          <p:nvPr/>
        </p:nvGrpSpPr>
        <p:grpSpPr bwMode="auto">
          <a:xfrm>
            <a:off x="296613" y="5444161"/>
            <a:ext cx="252413" cy="165100"/>
            <a:chOff x="3125393" y="1499499"/>
            <a:chExt cx="252000" cy="165260"/>
          </a:xfrm>
        </p:grpSpPr>
        <p:sp>
          <p:nvSpPr>
            <p:cNvPr id="33" name="모서리가 둥근 사각형 설명선 321">
              <a:extLst>
                <a:ext uri="{FF2B5EF4-FFF2-40B4-BE49-F238E27FC236}">
                  <a16:creationId xmlns:a16="http://schemas.microsoft.com/office/drawing/2014/main" id="{9E7161A7-2F44-89B3-CAAA-A8D7C90E479E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" name="TextBox 23">
              <a:extLst>
                <a:ext uri="{FF2B5EF4-FFF2-40B4-BE49-F238E27FC236}">
                  <a16:creationId xmlns:a16="http://schemas.microsoft.com/office/drawing/2014/main" id="{0C334456-9AC9-956A-3BAF-24A2692A22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35" name="양쪽 모서리가 둥근 사각형 56">
            <a:extLst>
              <a:ext uri="{FF2B5EF4-FFF2-40B4-BE49-F238E27FC236}">
                <a16:creationId xmlns:a16="http://schemas.microsoft.com/office/drawing/2014/main" id="{47D9BCEA-6886-6FDF-26F0-B86FBD95D6C6}"/>
              </a:ext>
            </a:extLst>
          </p:cNvPr>
          <p:cNvSpPr/>
          <p:nvPr/>
        </p:nvSpPr>
        <p:spPr>
          <a:xfrm>
            <a:off x="1952697" y="5660704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필수 조회조건이 누락되었습니다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조회를 할 수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AB9F7B8-5B63-C26C-805D-E17BBBB55777}"/>
              </a:ext>
            </a:extLst>
          </p:cNvPr>
          <p:cNvSpPr/>
          <p:nvPr/>
        </p:nvSpPr>
        <p:spPr>
          <a:xfrm>
            <a:off x="1958668" y="6219030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7" name="그룹 21">
            <a:extLst>
              <a:ext uri="{FF2B5EF4-FFF2-40B4-BE49-F238E27FC236}">
                <a16:creationId xmlns:a16="http://schemas.microsoft.com/office/drawing/2014/main" id="{6812E634-B622-7952-9D04-0DCBEEB1D1ED}"/>
              </a:ext>
            </a:extLst>
          </p:cNvPr>
          <p:cNvGrpSpPr>
            <a:grpSpLocks/>
          </p:cNvGrpSpPr>
          <p:nvPr/>
        </p:nvGrpSpPr>
        <p:grpSpPr bwMode="auto">
          <a:xfrm>
            <a:off x="1827705" y="5437177"/>
            <a:ext cx="252413" cy="165100"/>
            <a:chOff x="3125393" y="1499499"/>
            <a:chExt cx="252000" cy="165260"/>
          </a:xfrm>
        </p:grpSpPr>
        <p:sp>
          <p:nvSpPr>
            <p:cNvPr id="38" name="모서리가 둥근 사각형 설명선 321">
              <a:extLst>
                <a:ext uri="{FF2B5EF4-FFF2-40B4-BE49-F238E27FC236}">
                  <a16:creationId xmlns:a16="http://schemas.microsoft.com/office/drawing/2014/main" id="{F4AAA20C-A562-51F9-7B48-08C72AEFEE9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TextBox 23">
              <a:extLst>
                <a:ext uri="{FF2B5EF4-FFF2-40B4-BE49-F238E27FC236}">
                  <a16:creationId xmlns:a16="http://schemas.microsoft.com/office/drawing/2014/main" id="{91A6C3EB-C7E2-9C57-DA88-0A3DF01B2F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b</a:t>
              </a:r>
            </a:p>
          </p:txBody>
        </p:sp>
      </p:grp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ABC429F2-0518-2FD0-8168-B51A29C57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458493"/>
              </p:ext>
            </p:extLst>
          </p:nvPr>
        </p:nvGraphicFramePr>
        <p:xfrm>
          <a:off x="11939377" y="1664954"/>
          <a:ext cx="2088000" cy="32323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검토 요청 수정화면으로 전환한다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 상태에 따라 수정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상세화면 이동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작성중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이후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상세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제목 자동 생성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+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홍보물 유형 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+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프로모션명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프로모션일 경우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아닐 경우 생략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) +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대표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SKU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명 외 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0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건 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955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아이콘 출력 정의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내용 수정  발생시 로그인대상이 해당 건에 대해 상세 화면을 미확인시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대상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681787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홍보물 검토건이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재검토진행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”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상태로 변경된 원인 중   포함된 안전성검토 중에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결재반려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./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회수 건이 몇 건 존재하는지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2053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버튼 클릭 시 기간조회가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년 이상일 경우 알림 출력하고 조회를 하지 않음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 버튼 클릭 시 필수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조회조건이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미입력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시 알림 출력하고 조회를 하지 않음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strike="sngStrike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sng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252723"/>
                  </a:ext>
                </a:extLst>
              </a:tr>
            </a:tbl>
          </a:graphicData>
        </a:graphic>
      </p:graphicFrame>
      <p:pic>
        <p:nvPicPr>
          <p:cNvPr id="95" name="그림 94">
            <a:extLst>
              <a:ext uri="{FF2B5EF4-FFF2-40B4-BE49-F238E27FC236}">
                <a16:creationId xmlns:a16="http://schemas.microsoft.com/office/drawing/2014/main" id="{6937E5BA-5C93-A157-7E74-6334EE762F46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611380" y="3964774"/>
            <a:ext cx="168591" cy="168591"/>
          </a:xfrm>
          <a:prstGeom prst="rect">
            <a:avLst/>
          </a:prstGeom>
        </p:spPr>
      </p:pic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C1CC54DF-F218-F0B1-EABE-A604B926E7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6095866"/>
              </p:ext>
            </p:extLst>
          </p:nvPr>
        </p:nvGraphicFramePr>
        <p:xfrm>
          <a:off x="290626" y="1576149"/>
          <a:ext cx="9506518" cy="8996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30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01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44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75657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  <a:gridCol w="644434">
                  <a:extLst>
                    <a:ext uri="{9D8B030D-6E8A-4147-A177-3AD203B41FA5}">
                      <a16:colId xmlns:a16="http://schemas.microsoft.com/office/drawing/2014/main" val="1062137084"/>
                    </a:ext>
                  </a:extLst>
                </a:gridCol>
                <a:gridCol w="1062446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722812">
                  <a:extLst>
                    <a:ext uri="{9D8B030D-6E8A-4147-A177-3AD203B41FA5}">
                      <a16:colId xmlns:a16="http://schemas.microsoft.com/office/drawing/2014/main" val="2548261692"/>
                    </a:ext>
                  </a:extLst>
                </a:gridCol>
                <a:gridCol w="836022">
                  <a:extLst>
                    <a:ext uri="{9D8B030D-6E8A-4147-A177-3AD203B41FA5}">
                      <a16:colId xmlns:a16="http://schemas.microsoft.com/office/drawing/2014/main" val="3110747119"/>
                    </a:ext>
                  </a:extLst>
                </a:gridCol>
                <a:gridCol w="592184">
                  <a:extLst>
                    <a:ext uri="{9D8B030D-6E8A-4147-A177-3AD203B41FA5}">
                      <a16:colId xmlns:a16="http://schemas.microsoft.com/office/drawing/2014/main" val="2268721637"/>
                    </a:ext>
                  </a:extLst>
                </a:gridCol>
                <a:gridCol w="1245330">
                  <a:extLst>
                    <a:ext uri="{9D8B030D-6E8A-4147-A177-3AD203B41FA5}">
                      <a16:colId xmlns:a16="http://schemas.microsoft.com/office/drawing/2014/main" val="3767834776"/>
                    </a:ext>
                  </a:extLst>
                </a:gridCol>
              </a:tblGrid>
              <a:tr h="29987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dirty="0">
                        <a:solidFill>
                          <a:srgbClr val="C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87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998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삭제포함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8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7290191"/>
                  </a:ext>
                </a:extLst>
              </a:tr>
            </a:tbl>
          </a:graphicData>
        </a:graphic>
      </p:graphicFrame>
      <p:grpSp>
        <p:nvGrpSpPr>
          <p:cNvPr id="67" name="그룹 66">
            <a:extLst>
              <a:ext uri="{FF2B5EF4-FFF2-40B4-BE49-F238E27FC236}">
                <a16:creationId xmlns:a16="http://schemas.microsoft.com/office/drawing/2014/main" id="{F20B352D-DBD5-9768-379D-48BF8CFEF6D1}"/>
              </a:ext>
            </a:extLst>
          </p:cNvPr>
          <p:cNvGrpSpPr/>
          <p:nvPr/>
        </p:nvGrpSpPr>
        <p:grpSpPr>
          <a:xfrm>
            <a:off x="1126223" y="1614452"/>
            <a:ext cx="1688476" cy="216000"/>
            <a:chOff x="-3636994" y="2085036"/>
            <a:chExt cx="1688476" cy="216000"/>
          </a:xfrm>
        </p:grpSpPr>
        <p:grpSp>
          <p:nvGrpSpPr>
            <p:cNvPr id="70" name="그룹 75">
              <a:extLst>
                <a:ext uri="{FF2B5EF4-FFF2-40B4-BE49-F238E27FC236}">
                  <a16:creationId xmlns:a16="http://schemas.microsoft.com/office/drawing/2014/main" id="{2C1BE516-2D4E-1360-7B1D-46D8485E304B}"/>
                </a:ext>
              </a:extLst>
            </p:cNvPr>
            <p:cNvGrpSpPr/>
            <p:nvPr/>
          </p:nvGrpSpPr>
          <p:grpSpPr>
            <a:xfrm>
              <a:off x="-3636994" y="2085036"/>
              <a:ext cx="792000" cy="216000"/>
              <a:chOff x="3834532" y="2772519"/>
              <a:chExt cx="792000" cy="216000"/>
            </a:xfrm>
          </p:grpSpPr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CA27B956-C409-52D6-9683-2B8674516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2024-17-14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84" name="Picture 8">
                <a:extLst>
                  <a:ext uri="{FF2B5EF4-FFF2-40B4-BE49-F238E27FC236}">
                    <a16:creationId xmlns:a16="http://schemas.microsoft.com/office/drawing/2014/main" id="{6A96A15F-F19B-B737-C84F-D822DCBB8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" name="그룹 75">
              <a:extLst>
                <a:ext uri="{FF2B5EF4-FFF2-40B4-BE49-F238E27FC236}">
                  <a16:creationId xmlns:a16="http://schemas.microsoft.com/office/drawing/2014/main" id="{F0CF873D-AC88-76B8-E4D5-4FE0C6BE1359}"/>
                </a:ext>
              </a:extLst>
            </p:cNvPr>
            <p:cNvGrpSpPr/>
            <p:nvPr/>
          </p:nvGrpSpPr>
          <p:grpSpPr>
            <a:xfrm>
              <a:off x="-2740518" y="2085036"/>
              <a:ext cx="792000" cy="216000"/>
              <a:chOff x="3834532" y="2772519"/>
              <a:chExt cx="792000" cy="216000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008A3BBD-9112-D830-CEA9-0C3B68FD1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532" y="2772519"/>
                <a:ext cx="792000" cy="216000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 fontAlgn="base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맑은 고딕 Semilight" panose="020B0502040204020203" pitchFamily="50" charset="-127"/>
                  </a:rPr>
                  <a:t>2025-07-15</a:t>
                </a:r>
                <a:endPara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endParaRPr>
              </a:p>
            </p:txBody>
          </p:sp>
          <p:pic>
            <p:nvPicPr>
              <p:cNvPr id="74" name="Picture 8">
                <a:extLst>
                  <a:ext uri="{FF2B5EF4-FFF2-40B4-BE49-F238E27FC236}">
                    <a16:creationId xmlns:a16="http://schemas.microsoft.com/office/drawing/2014/main" id="{46E5456B-895F-27C4-FEBD-67087226E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4489043" y="2826519"/>
                <a:ext cx="102761" cy="1080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BBBD9A76-F853-D232-C83F-BBB483730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24015" y="2139175"/>
              <a:ext cx="62518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~</a:t>
              </a:r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B844461C-1DEF-DEAC-9501-59F29C0C8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32" y="1608090"/>
            <a:ext cx="743799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등록일</a:t>
            </a:r>
            <a:r>
              <a:rPr kumimoji="1" lang="en-US" altLang="ko-KR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완료일</a:t>
            </a:r>
          </a:p>
        </p:txBody>
      </p:sp>
      <p:pic>
        <p:nvPicPr>
          <p:cNvPr id="87" name="Picture 103">
            <a:extLst>
              <a:ext uri="{FF2B5EF4-FFF2-40B4-BE49-F238E27FC236}">
                <a16:creationId xmlns:a16="http://schemas.microsoft.com/office/drawing/2014/main" id="{B637A7F1-C867-35AE-35DB-A73A136BAA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 t="15633" r="9297"/>
          <a:stretch>
            <a:fillRect/>
          </a:stretch>
        </p:blipFill>
        <p:spPr bwMode="auto">
          <a:xfrm>
            <a:off x="889528" y="1672118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88" name="직사각형 87">
            <a:extLst>
              <a:ext uri="{FF2B5EF4-FFF2-40B4-BE49-F238E27FC236}">
                <a16:creationId xmlns:a16="http://schemas.microsoft.com/office/drawing/2014/main" id="{319DFD83-9E95-288A-569B-78D685513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664" y="1614316"/>
            <a:ext cx="676181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전체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kumimoji="1" lang="ko-KR" altLang="en-US" sz="700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내목록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89" name="Picture 103">
            <a:extLst>
              <a:ext uri="{FF2B5EF4-FFF2-40B4-BE49-F238E27FC236}">
                <a16:creationId xmlns:a16="http://schemas.microsoft.com/office/drawing/2014/main" id="{F260D679-67EB-C2E7-C110-F52C2C2BD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 t="15633" r="9297"/>
          <a:stretch>
            <a:fillRect/>
          </a:stretch>
        </p:blipFill>
        <p:spPr bwMode="auto">
          <a:xfrm>
            <a:off x="4076124" y="1678344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grpSp>
        <p:nvGrpSpPr>
          <p:cNvPr id="98" name="그룹 97">
            <a:extLst>
              <a:ext uri="{FF2B5EF4-FFF2-40B4-BE49-F238E27FC236}">
                <a16:creationId xmlns:a16="http://schemas.microsoft.com/office/drawing/2014/main" id="{58053420-CC64-A805-0DDB-C831ECD7A890}"/>
              </a:ext>
            </a:extLst>
          </p:cNvPr>
          <p:cNvGrpSpPr/>
          <p:nvPr/>
        </p:nvGrpSpPr>
        <p:grpSpPr>
          <a:xfrm>
            <a:off x="5387098" y="1615849"/>
            <a:ext cx="676181" cy="226238"/>
            <a:chOff x="4829752" y="1615849"/>
            <a:chExt cx="676181" cy="226238"/>
          </a:xfrm>
        </p:grpSpPr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89774E66-5C60-987E-4EC5-01C48AD7D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752" y="1615849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코어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 err="1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프</a:t>
              </a:r>
              <a:endPara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pic>
          <p:nvPicPr>
            <p:cNvPr id="100" name="Picture 103">
              <a:extLst>
                <a:ext uri="{FF2B5EF4-FFF2-40B4-BE49-F238E27FC236}">
                  <a16:creationId xmlns:a16="http://schemas.microsoft.com/office/drawing/2014/main" id="{7F41B865-7426-9A4F-D1D9-569AD123B3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 t="15633" r="9297"/>
            <a:stretch>
              <a:fillRect/>
            </a:stretch>
          </p:blipFill>
          <p:spPr bwMode="auto">
            <a:xfrm>
              <a:off x="5365630" y="1679877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06E79FB-C84B-D198-2729-D61B71856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8559" y="1608042"/>
            <a:ext cx="676181" cy="2262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b="1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전체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/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국내제조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102" name="Picture 103">
            <a:extLst>
              <a:ext uri="{FF2B5EF4-FFF2-40B4-BE49-F238E27FC236}">
                <a16:creationId xmlns:a16="http://schemas.microsoft.com/office/drawing/2014/main" id="{23EB1A25-1913-AE80-5BCE-CE50417BE3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 t="15633" r="9297"/>
          <a:stretch>
            <a:fillRect/>
          </a:stretch>
        </p:blipFill>
        <p:spPr bwMode="auto">
          <a:xfrm>
            <a:off x="9174437" y="1672070"/>
            <a:ext cx="119911" cy="9818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103" name="그림 102">
            <a:extLst>
              <a:ext uri="{FF2B5EF4-FFF2-40B4-BE49-F238E27FC236}">
                <a16:creationId xmlns:a16="http://schemas.microsoft.com/office/drawing/2014/main" id="{035A83A0-295E-8E95-020A-E8F3751CBF2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557664" y="1932789"/>
            <a:ext cx="1073727" cy="190500"/>
          </a:xfrm>
          <a:prstGeom prst="rect">
            <a:avLst/>
          </a:prstGeom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B6FF89EA-C58B-337B-5AC1-AEB14BA2321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805" y="1886492"/>
            <a:ext cx="1286052" cy="228171"/>
          </a:xfrm>
          <a:prstGeom prst="rect">
            <a:avLst/>
          </a:prstGeom>
        </p:spPr>
      </p:pic>
      <p:grpSp>
        <p:nvGrpSpPr>
          <p:cNvPr id="108" name="그룹 21">
            <a:extLst>
              <a:ext uri="{FF2B5EF4-FFF2-40B4-BE49-F238E27FC236}">
                <a16:creationId xmlns:a16="http://schemas.microsoft.com/office/drawing/2014/main" id="{CE1F7F52-F651-A933-DEB5-DE493A08636D}"/>
              </a:ext>
            </a:extLst>
          </p:cNvPr>
          <p:cNvGrpSpPr>
            <a:grpSpLocks/>
          </p:cNvGrpSpPr>
          <p:nvPr/>
        </p:nvGrpSpPr>
        <p:grpSpPr bwMode="auto">
          <a:xfrm>
            <a:off x="2005596" y="1724193"/>
            <a:ext cx="252413" cy="165100"/>
            <a:chOff x="3125393" y="1499499"/>
            <a:chExt cx="252000" cy="165260"/>
          </a:xfrm>
        </p:grpSpPr>
        <p:sp>
          <p:nvSpPr>
            <p:cNvPr id="109" name="모서리가 둥근 사각형 설명선 321">
              <a:extLst>
                <a:ext uri="{FF2B5EF4-FFF2-40B4-BE49-F238E27FC236}">
                  <a16:creationId xmlns:a16="http://schemas.microsoft.com/office/drawing/2014/main" id="{1E95AB80-9E1F-7DDB-9A23-553ECA9473E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" name="TextBox 23">
              <a:extLst>
                <a:ext uri="{FF2B5EF4-FFF2-40B4-BE49-F238E27FC236}">
                  <a16:creationId xmlns:a16="http://schemas.microsoft.com/office/drawing/2014/main" id="{569B220E-DB4E-DDCA-096D-C0C542A2DC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111" name="그룹 21">
            <a:extLst>
              <a:ext uri="{FF2B5EF4-FFF2-40B4-BE49-F238E27FC236}">
                <a16:creationId xmlns:a16="http://schemas.microsoft.com/office/drawing/2014/main" id="{C6F44B60-8505-FB85-AC6D-6551CCF477BE}"/>
              </a:ext>
            </a:extLst>
          </p:cNvPr>
          <p:cNvGrpSpPr>
            <a:grpSpLocks/>
          </p:cNvGrpSpPr>
          <p:nvPr/>
        </p:nvGrpSpPr>
        <p:grpSpPr bwMode="auto">
          <a:xfrm>
            <a:off x="4327933" y="1757071"/>
            <a:ext cx="252413" cy="165100"/>
            <a:chOff x="3125393" y="1499499"/>
            <a:chExt cx="252000" cy="165260"/>
          </a:xfrm>
        </p:grpSpPr>
        <p:sp>
          <p:nvSpPr>
            <p:cNvPr id="112" name="모서리가 둥근 사각형 설명선 321">
              <a:extLst>
                <a:ext uri="{FF2B5EF4-FFF2-40B4-BE49-F238E27FC236}">
                  <a16:creationId xmlns:a16="http://schemas.microsoft.com/office/drawing/2014/main" id="{B7E34895-84AA-A598-051E-616A3B5824F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" name="TextBox 23">
              <a:extLst>
                <a:ext uri="{FF2B5EF4-FFF2-40B4-BE49-F238E27FC236}">
                  <a16:creationId xmlns:a16="http://schemas.microsoft.com/office/drawing/2014/main" id="{481D01CB-24DC-DCFE-4E37-67057B7C2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pic>
        <p:nvPicPr>
          <p:cNvPr id="114" name="그림 113">
            <a:extLst>
              <a:ext uri="{FF2B5EF4-FFF2-40B4-BE49-F238E27FC236}">
                <a16:creationId xmlns:a16="http://schemas.microsoft.com/office/drawing/2014/main" id="{8250D8B9-83BC-9C19-241A-E2937A76622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387097" y="1923510"/>
            <a:ext cx="972833" cy="190500"/>
          </a:xfrm>
          <a:prstGeom prst="rect">
            <a:avLst/>
          </a:prstGeom>
        </p:spPr>
      </p:pic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250127DE-738E-741A-8B2A-AE9A64CDC39D}"/>
              </a:ext>
            </a:extLst>
          </p:cNvPr>
          <p:cNvGrpSpPr/>
          <p:nvPr/>
        </p:nvGrpSpPr>
        <p:grpSpPr>
          <a:xfrm>
            <a:off x="8651628" y="1931757"/>
            <a:ext cx="676181" cy="226238"/>
            <a:chOff x="6516249" y="1611020"/>
            <a:chExt cx="676181" cy="226238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A16A4B29-0B7F-E928-31C5-FC0379E58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249" y="1611020"/>
              <a:ext cx="676181" cy="22623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lIns="54000" tIns="0" rIns="0" bIns="0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b="1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전체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 err="1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작성중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/</a:t>
              </a: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기</a:t>
              </a:r>
            </a:p>
          </p:txBody>
        </p:sp>
        <p:pic>
          <p:nvPicPr>
            <p:cNvPr id="120" name="Picture 103">
              <a:extLst>
                <a:ext uri="{FF2B5EF4-FFF2-40B4-BE49-F238E27FC236}">
                  <a16:creationId xmlns:a16="http://schemas.microsoft.com/office/drawing/2014/main" id="{49885032-96C2-700D-D882-B8086DF833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 t="15633" r="9297"/>
            <a:stretch>
              <a:fillRect/>
            </a:stretch>
          </p:blipFill>
          <p:spPr bwMode="auto">
            <a:xfrm>
              <a:off x="7052127" y="1675048"/>
              <a:ext cx="119911" cy="9818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</p:grpSp>
      <p:pic>
        <p:nvPicPr>
          <p:cNvPr id="121" name="그림 120">
            <a:extLst>
              <a:ext uri="{FF2B5EF4-FFF2-40B4-BE49-F238E27FC236}">
                <a16:creationId xmlns:a16="http://schemas.microsoft.com/office/drawing/2014/main" id="{0F3D65EF-A6B2-6C8C-3DF0-46D22588660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148585" y="1939273"/>
            <a:ext cx="765626" cy="149925"/>
          </a:xfrm>
          <a:prstGeom prst="rect">
            <a:avLst/>
          </a:prstGeom>
        </p:spPr>
      </p:pic>
      <p:pic>
        <p:nvPicPr>
          <p:cNvPr id="122" name="그림 121">
            <a:extLst>
              <a:ext uri="{FF2B5EF4-FFF2-40B4-BE49-F238E27FC236}">
                <a16:creationId xmlns:a16="http://schemas.microsoft.com/office/drawing/2014/main" id="{19B4517B-C7D0-F017-5D8D-BF557C19E19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1419" y="2513602"/>
            <a:ext cx="543161" cy="181054"/>
          </a:xfrm>
          <a:prstGeom prst="rect">
            <a:avLst/>
          </a:prstGeom>
        </p:spPr>
      </p:pic>
      <p:grpSp>
        <p:nvGrpSpPr>
          <p:cNvPr id="123" name="그룹 21">
            <a:extLst>
              <a:ext uri="{FF2B5EF4-FFF2-40B4-BE49-F238E27FC236}">
                <a16:creationId xmlns:a16="http://schemas.microsoft.com/office/drawing/2014/main" id="{BCBAC4BF-2347-61D3-506A-8476C964D981}"/>
              </a:ext>
            </a:extLst>
          </p:cNvPr>
          <p:cNvGrpSpPr>
            <a:grpSpLocks/>
          </p:cNvGrpSpPr>
          <p:nvPr/>
        </p:nvGrpSpPr>
        <p:grpSpPr bwMode="auto">
          <a:xfrm>
            <a:off x="9173322" y="2324618"/>
            <a:ext cx="252413" cy="165100"/>
            <a:chOff x="3125393" y="1499499"/>
            <a:chExt cx="252000" cy="165260"/>
          </a:xfrm>
        </p:grpSpPr>
        <p:sp>
          <p:nvSpPr>
            <p:cNvPr id="124" name="모서리가 둥근 사각형 설명선 321">
              <a:extLst>
                <a:ext uri="{FF2B5EF4-FFF2-40B4-BE49-F238E27FC236}">
                  <a16:creationId xmlns:a16="http://schemas.microsoft.com/office/drawing/2014/main" id="{EE282077-BEEA-21B4-72E2-29867479FDF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" name="TextBox 23">
              <a:extLst>
                <a:ext uri="{FF2B5EF4-FFF2-40B4-BE49-F238E27FC236}">
                  <a16:creationId xmlns:a16="http://schemas.microsoft.com/office/drawing/2014/main" id="{99E5B970-E212-1332-9706-3B940496A9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E826064E-FA2D-B211-AEAB-32B55B365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4121" y="1641407"/>
            <a:ext cx="718699" cy="18904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127" name="그룹 21">
            <a:extLst>
              <a:ext uri="{FF2B5EF4-FFF2-40B4-BE49-F238E27FC236}">
                <a16:creationId xmlns:a16="http://schemas.microsoft.com/office/drawing/2014/main" id="{CC4C7A59-35D9-8B25-9CCF-BF7A32946B7A}"/>
              </a:ext>
            </a:extLst>
          </p:cNvPr>
          <p:cNvGrpSpPr>
            <a:grpSpLocks/>
          </p:cNvGrpSpPr>
          <p:nvPr/>
        </p:nvGrpSpPr>
        <p:grpSpPr bwMode="auto">
          <a:xfrm>
            <a:off x="2118702" y="2925021"/>
            <a:ext cx="252413" cy="165100"/>
            <a:chOff x="3125393" y="1499499"/>
            <a:chExt cx="252000" cy="165260"/>
          </a:xfrm>
        </p:grpSpPr>
        <p:sp>
          <p:nvSpPr>
            <p:cNvPr id="128" name="모서리가 둥근 사각형 설명선 321">
              <a:extLst>
                <a:ext uri="{FF2B5EF4-FFF2-40B4-BE49-F238E27FC236}">
                  <a16:creationId xmlns:a16="http://schemas.microsoft.com/office/drawing/2014/main" id="{5FDEB39D-1006-19D0-7610-53A71F08986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" name="TextBox 23">
              <a:extLst>
                <a:ext uri="{FF2B5EF4-FFF2-40B4-BE49-F238E27FC236}">
                  <a16:creationId xmlns:a16="http://schemas.microsoft.com/office/drawing/2014/main" id="{CD1C4665-18A0-AD39-0D8D-3614381F9B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  <p:grpSp>
        <p:nvGrpSpPr>
          <p:cNvPr id="130" name="그룹 21">
            <a:extLst>
              <a:ext uri="{FF2B5EF4-FFF2-40B4-BE49-F238E27FC236}">
                <a16:creationId xmlns:a16="http://schemas.microsoft.com/office/drawing/2014/main" id="{235AD264-9B1F-6857-1C97-3DF8B5FA3FE7}"/>
              </a:ext>
            </a:extLst>
          </p:cNvPr>
          <p:cNvGrpSpPr>
            <a:grpSpLocks/>
          </p:cNvGrpSpPr>
          <p:nvPr/>
        </p:nvGrpSpPr>
        <p:grpSpPr bwMode="auto">
          <a:xfrm>
            <a:off x="7841921" y="1457680"/>
            <a:ext cx="252413" cy="165100"/>
            <a:chOff x="3125393" y="1499499"/>
            <a:chExt cx="252000" cy="165260"/>
          </a:xfrm>
        </p:grpSpPr>
        <p:sp>
          <p:nvSpPr>
            <p:cNvPr id="131" name="모서리가 둥근 사각형 설명선 321">
              <a:extLst>
                <a:ext uri="{FF2B5EF4-FFF2-40B4-BE49-F238E27FC236}">
                  <a16:creationId xmlns:a16="http://schemas.microsoft.com/office/drawing/2014/main" id="{A0ECE372-526F-7A58-6190-439CD7A3B22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" name="TextBox 23">
              <a:extLst>
                <a:ext uri="{FF2B5EF4-FFF2-40B4-BE49-F238E27FC236}">
                  <a16:creationId xmlns:a16="http://schemas.microsoft.com/office/drawing/2014/main" id="{C33D7032-20DD-6C3F-0FCE-040396D56A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grpSp>
        <p:nvGrpSpPr>
          <p:cNvPr id="2" name="그룹 21">
            <a:extLst>
              <a:ext uri="{FF2B5EF4-FFF2-40B4-BE49-F238E27FC236}">
                <a16:creationId xmlns:a16="http://schemas.microsoft.com/office/drawing/2014/main" id="{D02C0947-DF58-C575-EB33-7578637D4051}"/>
              </a:ext>
            </a:extLst>
          </p:cNvPr>
          <p:cNvGrpSpPr>
            <a:grpSpLocks/>
          </p:cNvGrpSpPr>
          <p:nvPr/>
        </p:nvGrpSpPr>
        <p:grpSpPr bwMode="auto">
          <a:xfrm>
            <a:off x="197716" y="1418858"/>
            <a:ext cx="252413" cy="165100"/>
            <a:chOff x="3125393" y="1499499"/>
            <a:chExt cx="252000" cy="165260"/>
          </a:xfrm>
        </p:grpSpPr>
        <p:sp>
          <p:nvSpPr>
            <p:cNvPr id="3" name="모서리가 둥근 사각형 설명선 321">
              <a:extLst>
                <a:ext uri="{FF2B5EF4-FFF2-40B4-BE49-F238E27FC236}">
                  <a16:creationId xmlns:a16="http://schemas.microsoft.com/office/drawing/2014/main" id="{B9123EBD-2D56-B989-AEE5-ED40D6EB7C9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" name="TextBox 23">
              <a:extLst>
                <a:ext uri="{FF2B5EF4-FFF2-40B4-BE49-F238E27FC236}">
                  <a16:creationId xmlns:a16="http://schemas.microsoft.com/office/drawing/2014/main" id="{F988302D-2C35-4C93-8285-5B17610E9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115" name="그룹 21">
            <a:extLst>
              <a:ext uri="{FF2B5EF4-FFF2-40B4-BE49-F238E27FC236}">
                <a16:creationId xmlns:a16="http://schemas.microsoft.com/office/drawing/2014/main" id="{8F54C177-77FD-9EB5-3B13-D761EFB0E0F9}"/>
              </a:ext>
            </a:extLst>
          </p:cNvPr>
          <p:cNvGrpSpPr>
            <a:grpSpLocks/>
          </p:cNvGrpSpPr>
          <p:nvPr/>
        </p:nvGrpSpPr>
        <p:grpSpPr bwMode="auto">
          <a:xfrm>
            <a:off x="7595855" y="1796914"/>
            <a:ext cx="252413" cy="165100"/>
            <a:chOff x="3125393" y="1499499"/>
            <a:chExt cx="252000" cy="165260"/>
          </a:xfrm>
        </p:grpSpPr>
        <p:sp>
          <p:nvSpPr>
            <p:cNvPr id="116" name="모서리가 둥근 사각형 설명선 321">
              <a:extLst>
                <a:ext uri="{FF2B5EF4-FFF2-40B4-BE49-F238E27FC236}">
                  <a16:creationId xmlns:a16="http://schemas.microsoft.com/office/drawing/2014/main" id="{A4D174F3-A31C-D895-E7DD-CE0251BFAC4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" name="TextBox 23">
              <a:extLst>
                <a:ext uri="{FF2B5EF4-FFF2-40B4-BE49-F238E27FC236}">
                  <a16:creationId xmlns:a16="http://schemas.microsoft.com/office/drawing/2014/main" id="{019BF382-9342-07DB-8317-D16C6DF291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grpSp>
        <p:nvGrpSpPr>
          <p:cNvPr id="133" name="그룹 21">
            <a:extLst>
              <a:ext uri="{FF2B5EF4-FFF2-40B4-BE49-F238E27FC236}">
                <a16:creationId xmlns:a16="http://schemas.microsoft.com/office/drawing/2014/main" id="{46274312-6079-E9CD-9B17-D6EC63347826}"/>
              </a:ext>
            </a:extLst>
          </p:cNvPr>
          <p:cNvGrpSpPr>
            <a:grpSpLocks/>
          </p:cNvGrpSpPr>
          <p:nvPr/>
        </p:nvGrpSpPr>
        <p:grpSpPr bwMode="auto">
          <a:xfrm>
            <a:off x="339476" y="2588537"/>
            <a:ext cx="252413" cy="165100"/>
            <a:chOff x="3125393" y="1499499"/>
            <a:chExt cx="252000" cy="165260"/>
          </a:xfrm>
        </p:grpSpPr>
        <p:sp>
          <p:nvSpPr>
            <p:cNvPr id="134" name="모서리가 둥근 사각형 설명선 321">
              <a:extLst>
                <a:ext uri="{FF2B5EF4-FFF2-40B4-BE49-F238E27FC236}">
                  <a16:creationId xmlns:a16="http://schemas.microsoft.com/office/drawing/2014/main" id="{274B4E7E-5DEB-73D3-2AB6-72EF20CEA78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" name="TextBox 23">
              <a:extLst>
                <a:ext uri="{FF2B5EF4-FFF2-40B4-BE49-F238E27FC236}">
                  <a16:creationId xmlns:a16="http://schemas.microsoft.com/office/drawing/2014/main" id="{E013634C-1DA8-C5CF-9330-CE6FECC01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45462320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1749384"/>
              </p:ext>
            </p:extLst>
          </p:nvPr>
        </p:nvGraphicFramePr>
        <p:xfrm>
          <a:off x="254000" y="1343534"/>
          <a:ext cx="11691939" cy="1846080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변경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SERPWEB.SFTY_XMNT_READ_INFO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350043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764606"/>
          <a:ext cx="11710849" cy="253836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10800" marT="1080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CB142275-5A20-24E5-DD95-5D1317A5DB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50813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768646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9444577"/>
              </p:ext>
            </p:extLst>
          </p:nvPr>
        </p:nvGraphicFramePr>
        <p:xfrm>
          <a:off x="254000" y="1343534"/>
          <a:ext cx="11698679" cy="230760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제품분류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기존제품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제조구분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국내제조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소분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수입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진행상태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조검부완료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결재상태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상신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결재완료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SFT010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유형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비식품</a:t>
                      </a:r>
                      <a:r>
                        <a:rPr lang="en-US" altLang="ko-KR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</a:t>
                      </a:r>
                      <a:endParaRPr lang="en-US" altLang="ko-KR" sz="9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홍보물 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요청상태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작성중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7802949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검토상태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검토요청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검토반려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재검토진행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60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검토완료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추가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06487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9317432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949805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4213973"/>
          <a:ext cx="11698678" cy="207684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96246229-E027-3EE6-7145-2570EFE56F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50813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331110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3784551"/>
              </p:ext>
            </p:extLst>
          </p:nvPr>
        </p:nvGraphicFramePr>
        <p:xfrm>
          <a:off x="243842" y="1127024"/>
          <a:ext cx="11704318" cy="5483952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현황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목록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조회기간 등록일 선택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금일 기준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일전으로 설정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최대 조회 기간은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조회대상은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선택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조건은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사번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 정보는 로그인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사번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명으로 설정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삭제포함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선택해제 상태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조회대상 항목의 설정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내목록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(=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로그인 사용자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(=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로그인 사용자 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조회대상 항목의 설정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참조자는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내목록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조회 안함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(=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로그인 사용자가 참조자인 경우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요청 목록 다운로드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(*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기준과 동일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조회기간이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 초과일 경우 다운로드 버튼 비활성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다운로드 불가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조회기간이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 이하일 경우 다운로드 버튼 활성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다운로드 가능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조회목록을 엑셀 형식으로 다운로드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접근 가능한 모든 권한자는 다운로드 가능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알림 아이콘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이미지 출력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 또는 수정사항 발생 시 출력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로그인 대상이 해당 요청에 대해 상세 조회 하지 않은 경우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미확인 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   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defTabSz="371464" fontAlgn="base">
                        <a:lnSpc>
                          <a:spcPct val="13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</a:pPr>
                      <a:r>
                        <a:rPr kumimoji="1" lang="en-US" altLang="ko-KR" sz="900" dirty="0">
                          <a:ln>
                            <a:solidFill>
                              <a:srgbClr val="000000">
                                <a:alpha val="20000"/>
                              </a:srgbClr>
                            </a:solidFill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 양식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②</a:t>
                      </a:r>
                      <a:r>
                        <a:rPr kumimoji="1" lang="ko-KR" altLang="en-US" sz="900" b="0" dirty="0">
                          <a:ln w="0"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홍보물 유형 </a:t>
                      </a:r>
                      <a:r>
                        <a:rPr kumimoji="1" lang="ko-KR" altLang="en-US" sz="900" b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해당명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kumimoji="1"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프로모션명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(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프로모션일 경우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, 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아닐 경우 생략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) </a:t>
                      </a:r>
                      <a:r>
                        <a:rPr kumimoji="1"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b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⑤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대표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SKU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명 외 </a:t>
                      </a:r>
                      <a:r>
                        <a:rPr lang="en-US" altLang="ko-KR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0</a:t>
                      </a:r>
                      <a:r>
                        <a:rPr lang="ko-KR" altLang="en-US" sz="9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건</a:t>
                      </a:r>
                      <a:endParaRPr kumimoji="1" lang="en-US" altLang="ko-KR" sz="900" b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indent="0" defTabSz="371464" fontAlgn="base">
                        <a:lnSpc>
                          <a:spcPct val="130000"/>
                        </a:lnSpc>
                        <a:spcAft>
                          <a:spcPct val="0"/>
                        </a:spcAft>
                        <a:buClr>
                          <a:srgbClr val="000000">
                            <a:lumMod val="75000"/>
                            <a:lumOff val="25000"/>
                          </a:srgbClr>
                        </a:buClr>
                        <a:buNone/>
                      </a:pP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: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[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매장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게시물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Spring1 / 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파인 코코넛향 소스 외 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kumimoji="1" lang="ko-KR" altLang="en-US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</a:t>
                      </a:r>
                      <a:r>
                        <a:rPr kumimoji="1" lang="en-US" altLang="ko-KR" sz="9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en-US" altLang="ko-KR" sz="900" u="non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</a:t>
                      </a:r>
                      <a:r>
                        <a:rPr kumimoji="1" lang="ko-KR" altLang="en-US" sz="900" u="non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긴급에 체크할 경우에만 </a:t>
                      </a:r>
                      <a:r>
                        <a:rPr kumimoji="1" lang="en-US" altLang="ko-KR" sz="900" u="non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“[</a:t>
                      </a:r>
                      <a:r>
                        <a:rPr kumimoji="1" lang="ko-KR" altLang="en-US" sz="900" u="non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</a:t>
                      </a:r>
                      <a:r>
                        <a:rPr kumimoji="1" lang="en-US" altLang="ko-KR" sz="900" u="non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]” </a:t>
                      </a:r>
                      <a:r>
                        <a:rPr kumimoji="1" lang="ko-KR" altLang="en-US" sz="900" u="non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노출 </a:t>
                      </a:r>
                      <a:endParaRPr kumimoji="1" lang="en-US" altLang="ko-KR" sz="900" u="none" dirty="0">
                        <a:ln>
                          <a:noFill/>
                        </a:ln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목록 클릭 시 화면 이동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검토진행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완료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상세조회 및 수정 화면 이동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 이후 화면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개인정보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마스킹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및 닉네임처리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리스트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,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 팝업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로보캅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[5]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미처리알림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런칭일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기준 미처리 건에 대한 알림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이메일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처리를 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요청자의 요청부서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+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검토자의 검토부서 모든 인원에게 이메일 발송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 당일 오전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 기준 검토완료가 되지 않을 경우 알림 발송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이후 매일 오전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 기준으로 검토완료시 까지 발송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" name="그림 1">
            <a:extLst>
              <a:ext uri="{FF2B5EF4-FFF2-40B4-BE49-F238E27FC236}">
                <a16:creationId xmlns:a16="http://schemas.microsoft.com/office/drawing/2014/main" id="{E91AA907-F618-1CD8-DDA5-67D083D9E70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297795" y="3750865"/>
            <a:ext cx="168591" cy="168591"/>
          </a:xfrm>
          <a:prstGeom prst="rect">
            <a:avLst/>
          </a:pr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5F3EB99A-C3B9-04FD-CF24-77C1F8005171}"/>
              </a:ext>
            </a:extLst>
          </p:cNvPr>
          <p:cNvSpPr/>
          <p:nvPr/>
        </p:nvSpPr>
        <p:spPr bwMode="auto">
          <a:xfrm>
            <a:off x="6104062" y="5626002"/>
            <a:ext cx="5924926" cy="984974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이메일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런칭일 경과 후 </a:t>
            </a:r>
            <a:r>
              <a:rPr kumimoji="1" lang="ko-KR" altLang="en-US" sz="1000" b="0" i="0" u="none" strike="noStrike" cap="none" normalizeH="0" baseline="0" dirty="0" err="1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미처리알림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lvl="0">
              <a:spcBef>
                <a:spcPct val="20000"/>
              </a:spcBef>
              <a:defRPr/>
            </a:pPr>
            <a:r>
              <a:rPr lang="en-US" altLang="ko-KR" sz="900" kern="100" dirty="0">
                <a:effectLst/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"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문구 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: "『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구분 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+ 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 유형 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+ 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프로모션명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(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프로모션일 경우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, 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아닐 경우 생략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 + SKU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명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(→ 00000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샌드위치 등 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건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)』</a:t>
            </a:r>
          </a:p>
          <a:p>
            <a:pPr lvl="0">
              <a:spcBef>
                <a:spcPct val="20000"/>
              </a:spcBef>
              <a:defRPr/>
            </a:pP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홍보물 검토 요청이 완료되지 않았습니다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 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검토 요청 내용을 확인하여 주십시오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.“</a:t>
            </a:r>
          </a:p>
          <a:p>
            <a:pPr>
              <a:spcBef>
                <a:spcPct val="20000"/>
              </a:spcBef>
              <a:defRPr/>
            </a:pP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예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 『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매장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게시물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 Spring1 /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파인 코코넛향 소스 등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)』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홍보물 검토 요청이 완료되지 않았습니다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 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검토 요청 내용을 확인하여 주십시오</a:t>
            </a:r>
            <a:endParaRPr kumimoji="0" lang="en-US" altLang="ko-KR" sz="9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aphicFrame>
        <p:nvGraphicFramePr>
          <p:cNvPr id="4" name="Group 234">
            <a:extLst>
              <a:ext uri="{FF2B5EF4-FFF2-40B4-BE49-F238E27FC236}">
                <a16:creationId xmlns:a16="http://schemas.microsoft.com/office/drawing/2014/main" id="{04402DBE-33D3-5920-71BC-1359D3D40C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50813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SFTY000130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현황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B91ED33A-5013-AB90-B6F3-D637A02567AB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897934" y="3910750"/>
            <a:ext cx="168591" cy="168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1588203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5171875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상세조회 및 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(1/2)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내역을 상세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4C141EFC-B4D2-85A2-709E-A31B67223F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979256"/>
              </p:ext>
            </p:extLst>
          </p:nvPr>
        </p:nvGraphicFramePr>
        <p:xfrm>
          <a:off x="340480" y="1742560"/>
          <a:ext cx="9430537" cy="18301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2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67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014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532">
                  <a:extLst>
                    <a:ext uri="{9D8B030D-6E8A-4147-A177-3AD203B41FA5}">
                      <a16:colId xmlns:a16="http://schemas.microsoft.com/office/drawing/2014/main" val="2866856833"/>
                    </a:ext>
                  </a:extLst>
                </a:gridCol>
                <a:gridCol w="1071154">
                  <a:extLst>
                    <a:ext uri="{9D8B030D-6E8A-4147-A177-3AD203B41FA5}">
                      <a16:colId xmlns:a16="http://schemas.microsoft.com/office/drawing/2014/main" val="1062137084"/>
                    </a:ext>
                  </a:extLst>
                </a:gridCol>
                <a:gridCol w="1271452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66651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480457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크리스마스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프로모션명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요청부서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11874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*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83698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82865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기타 전달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요청사항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1784536"/>
                  </a:ext>
                </a:extLst>
              </a:tr>
            </a:tbl>
          </a:graphicData>
        </a:graphic>
      </p:graphicFrame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3145228"/>
              </p:ext>
            </p:extLst>
          </p:nvPr>
        </p:nvGraphicFramePr>
        <p:xfrm>
          <a:off x="9846998" y="1664954"/>
          <a:ext cx="2088000" cy="43171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오픈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검토대상 상세내역을 조회한다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이후 대상 건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이외는 반려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 버튼을 비활성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버튼은 사용자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진행상태에 따라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Visible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목록이동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목록이동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재검토요청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목록이동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조건부완료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목록이동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요청자가 등록한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SKU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정보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안전성검토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건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제목클릭시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해당안전성검토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등록</a:t>
                      </a:r>
                      <a:r>
                        <a:rPr kumimoji="0" lang="en-US" altLang="ko-KR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 비활성 화면 또는 팝업 출력</a:t>
                      </a:r>
                      <a:endParaRPr kumimoji="0" lang="en-US" altLang="ko-KR" sz="700" b="1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 건에 대해 다시 검토요청 처리한다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31273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검토건에 대해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검토반려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검토현황 화면으로 전환한다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시 반려사유 등록 후 요청자에게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EP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메일 전송한다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3655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검토건에 대해 검토완료 처리한다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검토현황 화면으로 전환한다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요청자에게 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EP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와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메일 전송한다</a:t>
                      </a:r>
                      <a:r>
                        <a:rPr lang="en-US" altLang="ko-KR" sz="7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46189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검토의견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EP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 전송 처리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수동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를 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버튼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189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홍보물검토현황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화면으로 전환한다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84751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이력 팝업을 오픈한다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62736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FBD3DCD7-DBDB-1E47-8996-88AF275C047D}"/>
              </a:ext>
            </a:extLst>
          </p:cNvPr>
          <p:cNvSpPr txBox="1"/>
          <p:nvPr/>
        </p:nvSpPr>
        <p:spPr>
          <a:xfrm>
            <a:off x="264499" y="1474424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기본정보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670532-FD9A-02D6-65CB-1733E7D27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5511" y="1521902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검토완료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3545F3E-F60E-BDEE-BD33-A062AD473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4252" y="1521215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검토반려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2CC0328-78D4-223C-663F-FF68894C55B8}"/>
              </a:ext>
            </a:extLst>
          </p:cNvPr>
          <p:cNvSpPr txBox="1"/>
          <p:nvPr/>
        </p:nvSpPr>
        <p:spPr>
          <a:xfrm>
            <a:off x="264499" y="3526054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제품정보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B288A0D7-3C41-91DC-0A91-51A54FF16F5E}"/>
              </a:ext>
            </a:extLst>
          </p:cNvPr>
          <p:cNvSpPr txBox="1"/>
          <p:nvPr/>
        </p:nvSpPr>
        <p:spPr>
          <a:xfrm>
            <a:off x="269670" y="5136699"/>
            <a:ext cx="10919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 검토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39B1DE52-7FF9-C27F-63C8-23FEDB41F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865" y="1542301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이력보기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5332662-B0A9-F001-1076-29A99DCB5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03094" y="1516731"/>
            <a:ext cx="36304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17DB0B5-61F0-3686-D73A-16DD41573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2047" y="1543770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AE06CBE8-F452-AEDB-D478-B11BD985AA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9397105"/>
              </p:ext>
            </p:extLst>
          </p:nvPr>
        </p:nvGraphicFramePr>
        <p:xfrm>
          <a:off x="340480" y="5445184"/>
          <a:ext cx="9430537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64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08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23447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60637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59131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1.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①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2.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②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3.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③</a:t>
                      </a:r>
                      <a:endParaRPr kumimoji="1" lang="ko-KR" altLang="en-US" sz="700" b="0" kern="1200" spc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89938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4.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④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2079362"/>
                  </a:ext>
                </a:extLst>
              </a:tr>
            </a:tbl>
          </a:graphicData>
        </a:graphic>
      </p:graphicFrame>
      <p:grpSp>
        <p:nvGrpSpPr>
          <p:cNvPr id="43" name="그룹 21">
            <a:extLst>
              <a:ext uri="{FF2B5EF4-FFF2-40B4-BE49-F238E27FC236}">
                <a16:creationId xmlns:a16="http://schemas.microsoft.com/office/drawing/2014/main" id="{41CD5E34-D514-1549-D219-886D9C6692AD}"/>
              </a:ext>
            </a:extLst>
          </p:cNvPr>
          <p:cNvGrpSpPr>
            <a:grpSpLocks/>
          </p:cNvGrpSpPr>
          <p:nvPr/>
        </p:nvGrpSpPr>
        <p:grpSpPr bwMode="auto">
          <a:xfrm>
            <a:off x="1468699" y="1349879"/>
            <a:ext cx="252413" cy="165100"/>
            <a:chOff x="3125393" y="1499499"/>
            <a:chExt cx="252000" cy="165260"/>
          </a:xfrm>
        </p:grpSpPr>
        <p:sp>
          <p:nvSpPr>
            <p:cNvPr id="44" name="모서리가 둥근 사각형 설명선 321">
              <a:extLst>
                <a:ext uri="{FF2B5EF4-FFF2-40B4-BE49-F238E27FC236}">
                  <a16:creationId xmlns:a16="http://schemas.microsoft.com/office/drawing/2014/main" id="{679BC07B-56C7-B859-1B7B-D31F0C43538F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23">
              <a:extLst>
                <a:ext uri="{FF2B5EF4-FFF2-40B4-BE49-F238E27FC236}">
                  <a16:creationId xmlns:a16="http://schemas.microsoft.com/office/drawing/2014/main" id="{EF254179-608F-894B-6057-FA125181F0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grpSp>
        <p:nvGrpSpPr>
          <p:cNvPr id="57" name="그룹 21">
            <a:extLst>
              <a:ext uri="{FF2B5EF4-FFF2-40B4-BE49-F238E27FC236}">
                <a16:creationId xmlns:a16="http://schemas.microsoft.com/office/drawing/2014/main" id="{10395112-0AFB-F217-46FB-3F522CD1D424}"/>
              </a:ext>
            </a:extLst>
          </p:cNvPr>
          <p:cNvGrpSpPr>
            <a:grpSpLocks/>
          </p:cNvGrpSpPr>
          <p:nvPr/>
        </p:nvGrpSpPr>
        <p:grpSpPr bwMode="auto">
          <a:xfrm>
            <a:off x="7691860" y="1320903"/>
            <a:ext cx="252413" cy="165100"/>
            <a:chOff x="3125393" y="1499499"/>
            <a:chExt cx="252000" cy="165260"/>
          </a:xfrm>
        </p:grpSpPr>
        <p:sp>
          <p:nvSpPr>
            <p:cNvPr id="58" name="모서리가 둥근 사각형 설명선 321">
              <a:extLst>
                <a:ext uri="{FF2B5EF4-FFF2-40B4-BE49-F238E27FC236}">
                  <a16:creationId xmlns:a16="http://schemas.microsoft.com/office/drawing/2014/main" id="{13B14DAF-0086-66B9-D8C5-E8E7C7E3984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" name="TextBox 23">
              <a:extLst>
                <a:ext uri="{FF2B5EF4-FFF2-40B4-BE49-F238E27FC236}">
                  <a16:creationId xmlns:a16="http://schemas.microsoft.com/office/drawing/2014/main" id="{0A8C22F6-CE4B-C512-FA86-314865685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3</a:t>
              </a:r>
            </a:p>
          </p:txBody>
        </p:sp>
      </p:grpSp>
      <p:grpSp>
        <p:nvGrpSpPr>
          <p:cNvPr id="63" name="그룹 21">
            <a:extLst>
              <a:ext uri="{FF2B5EF4-FFF2-40B4-BE49-F238E27FC236}">
                <a16:creationId xmlns:a16="http://schemas.microsoft.com/office/drawing/2014/main" id="{D33856DE-D1EA-48AC-6460-6B34F3DDA622}"/>
              </a:ext>
            </a:extLst>
          </p:cNvPr>
          <p:cNvGrpSpPr>
            <a:grpSpLocks/>
          </p:cNvGrpSpPr>
          <p:nvPr/>
        </p:nvGrpSpPr>
        <p:grpSpPr bwMode="auto">
          <a:xfrm>
            <a:off x="8228045" y="1336106"/>
            <a:ext cx="252413" cy="165100"/>
            <a:chOff x="3125393" y="1499499"/>
            <a:chExt cx="252000" cy="165260"/>
          </a:xfrm>
        </p:grpSpPr>
        <p:sp>
          <p:nvSpPr>
            <p:cNvPr id="64" name="모서리가 둥근 사각형 설명선 321">
              <a:extLst>
                <a:ext uri="{FF2B5EF4-FFF2-40B4-BE49-F238E27FC236}">
                  <a16:creationId xmlns:a16="http://schemas.microsoft.com/office/drawing/2014/main" id="{3B65939E-01BC-979D-A7A4-5A62A251027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23">
              <a:extLst>
                <a:ext uri="{FF2B5EF4-FFF2-40B4-BE49-F238E27FC236}">
                  <a16:creationId xmlns:a16="http://schemas.microsoft.com/office/drawing/2014/main" id="{3B1FF1B2-6D99-9D19-9864-4D42193404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4</a:t>
              </a:r>
            </a:p>
          </p:txBody>
        </p:sp>
      </p:grpSp>
      <p:grpSp>
        <p:nvGrpSpPr>
          <p:cNvPr id="66" name="그룹 21">
            <a:extLst>
              <a:ext uri="{FF2B5EF4-FFF2-40B4-BE49-F238E27FC236}">
                <a16:creationId xmlns:a16="http://schemas.microsoft.com/office/drawing/2014/main" id="{20D9AC4E-0E9C-728B-B897-730DD7237447}"/>
              </a:ext>
            </a:extLst>
          </p:cNvPr>
          <p:cNvGrpSpPr>
            <a:grpSpLocks/>
          </p:cNvGrpSpPr>
          <p:nvPr/>
        </p:nvGrpSpPr>
        <p:grpSpPr bwMode="auto">
          <a:xfrm>
            <a:off x="8709304" y="1324160"/>
            <a:ext cx="252413" cy="165100"/>
            <a:chOff x="3125393" y="1499499"/>
            <a:chExt cx="252000" cy="165260"/>
          </a:xfrm>
        </p:grpSpPr>
        <p:sp>
          <p:nvSpPr>
            <p:cNvPr id="68" name="모서리가 둥근 사각형 설명선 321">
              <a:extLst>
                <a:ext uri="{FF2B5EF4-FFF2-40B4-BE49-F238E27FC236}">
                  <a16:creationId xmlns:a16="http://schemas.microsoft.com/office/drawing/2014/main" id="{B33FD1E4-ABD1-F176-5BC6-CBBB444BBCC2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23">
              <a:extLst>
                <a:ext uri="{FF2B5EF4-FFF2-40B4-BE49-F238E27FC236}">
                  <a16:creationId xmlns:a16="http://schemas.microsoft.com/office/drawing/2014/main" id="{7B65CACD-CD43-BDB1-7399-E19B52950C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5</a:t>
              </a:r>
            </a:p>
          </p:txBody>
        </p:sp>
      </p:grpSp>
      <p:grpSp>
        <p:nvGrpSpPr>
          <p:cNvPr id="82" name="그룹 21">
            <a:extLst>
              <a:ext uri="{FF2B5EF4-FFF2-40B4-BE49-F238E27FC236}">
                <a16:creationId xmlns:a16="http://schemas.microsoft.com/office/drawing/2014/main" id="{8ADA982E-6715-76E3-43CC-03445D5A895C}"/>
              </a:ext>
            </a:extLst>
          </p:cNvPr>
          <p:cNvGrpSpPr>
            <a:grpSpLocks/>
          </p:cNvGrpSpPr>
          <p:nvPr/>
        </p:nvGrpSpPr>
        <p:grpSpPr bwMode="auto">
          <a:xfrm>
            <a:off x="9241509" y="1330821"/>
            <a:ext cx="252413" cy="165100"/>
            <a:chOff x="3125393" y="1499499"/>
            <a:chExt cx="252000" cy="165260"/>
          </a:xfrm>
        </p:grpSpPr>
        <p:sp>
          <p:nvSpPr>
            <p:cNvPr id="88" name="모서리가 둥근 사각형 설명선 321">
              <a:extLst>
                <a:ext uri="{FF2B5EF4-FFF2-40B4-BE49-F238E27FC236}">
                  <a16:creationId xmlns:a16="http://schemas.microsoft.com/office/drawing/2014/main" id="{94053015-5402-773F-6662-B78FD3E9AFB7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23">
              <a:extLst>
                <a:ext uri="{FF2B5EF4-FFF2-40B4-BE49-F238E27FC236}">
                  <a16:creationId xmlns:a16="http://schemas.microsoft.com/office/drawing/2014/main" id="{435787B8-2790-964F-4979-17768B71F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7</a:t>
              </a:r>
            </a:p>
          </p:txBody>
        </p:sp>
      </p:grpSp>
      <p:sp>
        <p:nvSpPr>
          <p:cNvPr id="8" name="직사각형 7">
            <a:extLst>
              <a:ext uri="{FF2B5EF4-FFF2-40B4-BE49-F238E27FC236}">
                <a16:creationId xmlns:a16="http://schemas.microsoft.com/office/drawing/2014/main" id="{F3EE12B4-E6AF-F65C-C205-FF1690518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7154" y="1781843"/>
            <a:ext cx="126148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프로모션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14DA2B8-51D3-6BC5-81B9-4D38BB555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1780728"/>
            <a:ext cx="359938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크리스마스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1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FCA8F4E-CC51-BF47-BADA-869CACF23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906" y="1780728"/>
            <a:ext cx="1065429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매장 게시물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7567C15-9A88-401A-725E-C77B76040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1562" y="3290480"/>
            <a:ext cx="8183820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요청사항 의견작성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F5E6B0-EB72-6F6A-DD20-813A4E8BB199}"/>
              </a:ext>
            </a:extLst>
          </p:cNvPr>
          <p:cNvGrpSpPr/>
          <p:nvPr/>
        </p:nvGrpSpPr>
        <p:grpSpPr>
          <a:xfrm>
            <a:off x="6096000" y="2359879"/>
            <a:ext cx="1261487" cy="216000"/>
            <a:chOff x="-3636994" y="2085036"/>
            <a:chExt cx="1688476" cy="216000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9C2E4DC-5D48-4E8A-A1CD-2A53AB3CB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636994" y="2085036"/>
              <a:ext cx="792000" cy="21600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defTabSz="914400" fontAlgn="base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2023-12-16</a:t>
              </a:r>
              <a:endParaRPr kumimoji="1"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5D4DF82B-7092-F12E-C171-853D3DE0F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740518" y="2085036"/>
              <a:ext cx="792000" cy="21600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defTabSz="914400" fontAlgn="base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2024-01-15</a:t>
              </a:r>
              <a:endParaRPr kumimoji="1"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0746486C-4D82-6AA7-4837-6AFEE0A43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24015" y="2139175"/>
              <a:ext cx="62518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~</a:t>
              </a:r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DCC232F-696A-2D5B-FD05-46C527FC951C}"/>
              </a:ext>
            </a:extLst>
          </p:cNvPr>
          <p:cNvGrpSpPr/>
          <p:nvPr/>
        </p:nvGrpSpPr>
        <p:grpSpPr>
          <a:xfrm>
            <a:off x="6096000" y="2075555"/>
            <a:ext cx="1158812" cy="216000"/>
            <a:chOff x="-3636994" y="2085036"/>
            <a:chExt cx="844270" cy="216000"/>
          </a:xfrm>
        </p:grpSpPr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71558B00-6BA5-5EEC-35B2-935E248B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636994" y="2085036"/>
              <a:ext cx="792000" cy="21600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defTabSz="914400" fontAlgn="base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검</a:t>
              </a: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토</a:t>
              </a:r>
              <a:r>
                <a:rPr kumimoji="1"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자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 (</a:t>
              </a:r>
              <a:r>
                <a:rPr kumimoji="1" lang="ko-KR" altLang="en-US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닉네임</a:t>
              </a:r>
              <a:r>
                <a:rPr kumimoji="1" lang="en-US" altLang="ko-KR" sz="700" spc="-50" dirty="0"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)</a:t>
              </a:r>
              <a:endParaRPr kumimoji="1"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ED13FFA-C8E8-9045-31DD-DD34AD06F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792788" y="2139175"/>
              <a:ext cx="64" cy="1077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endPara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3F576C1B-D7FE-F63A-1E64-A6593EE2F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1504" y="5531853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3F7F9CF1-8013-293E-0D4A-438500C0E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1504" y="5827717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5B587DD9-D7A2-4C3B-6202-6947E13D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1504" y="6093099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12C6F7B-996E-963D-4DB1-D5D2A98F4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1504" y="6367759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6DB158A-CF90-B7AB-282A-31C0A4E0B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0722" y="2056490"/>
            <a:ext cx="1261487" cy="22009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요</a:t>
            </a:r>
            <a:r>
              <a:rPr lang="ko-KR" altLang="en-US" sz="700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청</a:t>
            </a:r>
            <a:r>
              <a:rPr kumimoji="1" lang="ko-KR" altLang="en-US" sz="700" spc="-50" dirty="0" err="1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자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5179C8B-D819-B285-4850-AA3484B17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3036" y="5493534"/>
            <a:ext cx="643600" cy="20506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0912A2E2-4F82-7505-4291-E6617F309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44021" y="5469832"/>
            <a:ext cx="94795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3FB9FBF-A012-BB99-6F5E-5C8F0C44D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3035" y="5775977"/>
            <a:ext cx="643791" cy="212057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C00E0802-9545-4FCC-E688-2BEE4036B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44021" y="5759267"/>
            <a:ext cx="94795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869CBA41-1B2F-F9F2-E909-AC1FC2EE8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0090" y="6065412"/>
            <a:ext cx="642014" cy="212057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홍길동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(</a:t>
            </a: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닉네임</a:t>
            </a:r>
            <a:r>
              <a:rPr kumimoji="1"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9C293E52-D8BC-1441-C52E-E68174AC7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7734" y="5476791"/>
            <a:ext cx="4017503" cy="2356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최종검토자의 의견 내용입니다</a:t>
            </a:r>
            <a:r>
              <a:rPr kumimoji="1" lang="en-US" altLang="ko-KR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FCAA4B6-6A40-CB8F-2590-D53F53387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9489" y="6048702"/>
            <a:ext cx="94795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07BBD04-D88D-2025-6B79-D3B6856466CA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9934" b="89404" l="9272" r="89404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56653" y="5508050"/>
            <a:ext cx="168591" cy="168591"/>
          </a:xfrm>
          <a:prstGeom prst="rect">
            <a:avLst/>
          </a:prstGeom>
        </p:spPr>
      </p:pic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E2B2D6B3-09DE-00D8-A39A-7E3720BE8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5229" y="5764676"/>
            <a:ext cx="4017503" cy="2356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완료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E0D4E1F9-66E0-92AD-72FF-E73C4CD70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5229" y="6345728"/>
            <a:ext cx="4017503" cy="2356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02EF60F-4375-723D-CF3B-2C00C9991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3226" y="6050483"/>
            <a:ext cx="4007374" cy="2356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완료취소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463C6F5-5562-D879-7B43-74A262F69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8503" y="6327511"/>
            <a:ext cx="643791" cy="2382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D2EA689C-AE34-D184-3F08-5D161204B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9489" y="6336943"/>
            <a:ext cx="94795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8021CEF-59B4-53AE-2905-91BD17C33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911" y="2058955"/>
            <a:ext cx="1366064" cy="21516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검토부서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59FA92B6-2150-6343-AE74-2C287DCDD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318" y="5476791"/>
            <a:ext cx="1135060" cy="26140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14EEE036-7D13-9853-D882-D2566B92A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6104" y="5763415"/>
            <a:ext cx="1135061" cy="2246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203BAD6D-6A22-C36D-F0BD-34E367793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317" y="6050039"/>
            <a:ext cx="1135061" cy="2361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최종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첨부파일명</a:t>
            </a: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C5B19C73-B9DE-3CCB-F5A2-29C72B153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317" y="6345728"/>
            <a:ext cx="1135061" cy="2164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5CA9A78-F81F-5F98-CE1D-F0442A555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0723" y="2352172"/>
            <a:ext cx="64287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검토요청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14A3F499-EE3F-4C8E-96D2-B0A533E9B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5545" y="2360145"/>
            <a:ext cx="824867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2024-01-20</a:t>
            </a: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en-US" altLang="ko-KR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00:00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133" name="그룹 21">
            <a:extLst>
              <a:ext uri="{FF2B5EF4-FFF2-40B4-BE49-F238E27FC236}">
                <a16:creationId xmlns:a16="http://schemas.microsoft.com/office/drawing/2014/main" id="{05390ED0-962B-5978-0D9D-5BAC8E2B1296}"/>
              </a:ext>
            </a:extLst>
          </p:cNvPr>
          <p:cNvGrpSpPr>
            <a:grpSpLocks/>
          </p:cNvGrpSpPr>
          <p:nvPr/>
        </p:nvGrpSpPr>
        <p:grpSpPr bwMode="auto">
          <a:xfrm>
            <a:off x="1025096" y="5206522"/>
            <a:ext cx="252413" cy="165100"/>
            <a:chOff x="3125393" y="1499499"/>
            <a:chExt cx="252000" cy="165260"/>
          </a:xfrm>
        </p:grpSpPr>
        <p:sp>
          <p:nvSpPr>
            <p:cNvPr id="134" name="모서리가 둥근 사각형 설명선 321">
              <a:extLst>
                <a:ext uri="{FF2B5EF4-FFF2-40B4-BE49-F238E27FC236}">
                  <a16:creationId xmlns:a16="http://schemas.microsoft.com/office/drawing/2014/main" id="{87E275A2-74CB-A4C1-174E-14260866B703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" name="TextBox 23">
              <a:extLst>
                <a:ext uri="{FF2B5EF4-FFF2-40B4-BE49-F238E27FC236}">
                  <a16:creationId xmlns:a16="http://schemas.microsoft.com/office/drawing/2014/main" id="{DD18079D-34F5-6E44-6A93-1C9710B03D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9</a:t>
              </a:r>
            </a:p>
          </p:txBody>
        </p:sp>
      </p:grpSp>
      <p:graphicFrame>
        <p:nvGraphicFramePr>
          <p:cNvPr id="152" name="표 151">
            <a:extLst>
              <a:ext uri="{FF2B5EF4-FFF2-40B4-BE49-F238E27FC236}">
                <a16:creationId xmlns:a16="http://schemas.microsoft.com/office/drawing/2014/main" id="{C5F73530-CDA4-9239-E2F1-35895E0E70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9957942"/>
              </p:ext>
            </p:extLst>
          </p:nvPr>
        </p:nvGraphicFramePr>
        <p:xfrm>
          <a:off x="11907820" y="1661104"/>
          <a:ext cx="2088000" cy="1374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아이콘 출력 정의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해당 파일 첨부  수정  발생시 로그인대상이 해당 건에 대해 상세 화면을 미확인시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대상 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검토부서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 </a:t>
                      </a:r>
                      <a:r>
                        <a:rPr kumimoji="0" lang="ko-KR" altLang="en-US" sz="7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5757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검토의견 작성 팝업을 오픈한다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요청자일 경우 파일 첨부와 요청의견 등록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검토자일 경우 파일첨부와 검토의견 등록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0378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 이력 팝업을 오픈한다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420975"/>
                  </a:ext>
                </a:extLst>
              </a:tr>
            </a:tbl>
          </a:graphicData>
        </a:graphic>
      </p:graphicFrame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BD56BF1-C142-8039-794F-6CFD3114D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4702" y="1517243"/>
            <a:ext cx="533676" cy="143400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재검토요청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3" name="그룹 21">
            <a:extLst>
              <a:ext uri="{FF2B5EF4-FFF2-40B4-BE49-F238E27FC236}">
                <a16:creationId xmlns:a16="http://schemas.microsoft.com/office/drawing/2014/main" id="{EFAC881F-88D9-8A61-DF63-FEF73874C714}"/>
              </a:ext>
            </a:extLst>
          </p:cNvPr>
          <p:cNvGrpSpPr>
            <a:grpSpLocks/>
          </p:cNvGrpSpPr>
          <p:nvPr/>
        </p:nvGrpSpPr>
        <p:grpSpPr bwMode="auto">
          <a:xfrm>
            <a:off x="6731148" y="5267785"/>
            <a:ext cx="252413" cy="165100"/>
            <a:chOff x="3125393" y="1499499"/>
            <a:chExt cx="252000" cy="165260"/>
          </a:xfrm>
        </p:grpSpPr>
        <p:sp>
          <p:nvSpPr>
            <p:cNvPr id="154" name="모서리가 둥근 사각형 설명선 321">
              <a:extLst>
                <a:ext uri="{FF2B5EF4-FFF2-40B4-BE49-F238E27FC236}">
                  <a16:creationId xmlns:a16="http://schemas.microsoft.com/office/drawing/2014/main" id="{03C946AD-BDB0-4FB0-17ED-031BFA68861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5" name="TextBox 23">
              <a:extLst>
                <a:ext uri="{FF2B5EF4-FFF2-40B4-BE49-F238E27FC236}">
                  <a16:creationId xmlns:a16="http://schemas.microsoft.com/office/drawing/2014/main" id="{6B2A5909-2605-9E13-6EF2-BAED6AC88C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10</a:t>
              </a:r>
            </a:p>
          </p:txBody>
        </p:sp>
      </p:grpSp>
      <p:graphicFrame>
        <p:nvGraphicFramePr>
          <p:cNvPr id="158" name="표 157">
            <a:extLst>
              <a:ext uri="{FF2B5EF4-FFF2-40B4-BE49-F238E27FC236}">
                <a16:creationId xmlns:a16="http://schemas.microsoft.com/office/drawing/2014/main" id="{9867F26C-8645-E19E-EAD3-C7FE03F68E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9936265"/>
              </p:ext>
            </p:extLst>
          </p:nvPr>
        </p:nvGraphicFramePr>
        <p:xfrm>
          <a:off x="1511604" y="2592797"/>
          <a:ext cx="4944285" cy="662940"/>
        </p:xfrm>
        <a:graphic>
          <a:graphicData uri="http://schemas.openxmlformats.org/drawingml/2006/table">
            <a:tbl>
              <a:tblPr/>
              <a:tblGrid>
                <a:gridCol w="1648095">
                  <a:extLst>
                    <a:ext uri="{9D8B030D-6E8A-4147-A177-3AD203B41FA5}">
                      <a16:colId xmlns:a16="http://schemas.microsoft.com/office/drawing/2014/main" val="1345059214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1460462705"/>
                    </a:ext>
                  </a:extLst>
                </a:gridCol>
                <a:gridCol w="1648095">
                  <a:extLst>
                    <a:ext uri="{9D8B030D-6E8A-4147-A177-3AD203B41FA5}">
                      <a16:colId xmlns:a16="http://schemas.microsoft.com/office/drawing/2014/main" val="998348012"/>
                    </a:ext>
                  </a:extLst>
                </a:gridCol>
              </a:tblGrid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50073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11099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4443981"/>
                  </a:ext>
                </a:extLst>
              </a:tr>
            </a:tbl>
          </a:graphicData>
        </a:graphic>
      </p:graphicFrame>
      <p:grpSp>
        <p:nvGrpSpPr>
          <p:cNvPr id="7" name="그룹 21">
            <a:extLst>
              <a:ext uri="{FF2B5EF4-FFF2-40B4-BE49-F238E27FC236}">
                <a16:creationId xmlns:a16="http://schemas.microsoft.com/office/drawing/2014/main" id="{5C18DE2D-6742-A4EC-404A-DA15FD31585E}"/>
              </a:ext>
            </a:extLst>
          </p:cNvPr>
          <p:cNvGrpSpPr>
            <a:grpSpLocks/>
          </p:cNvGrpSpPr>
          <p:nvPr/>
        </p:nvGrpSpPr>
        <p:grpSpPr bwMode="auto">
          <a:xfrm>
            <a:off x="9029094" y="4852400"/>
            <a:ext cx="252413" cy="165100"/>
            <a:chOff x="3125393" y="1499499"/>
            <a:chExt cx="252000" cy="165260"/>
          </a:xfrm>
        </p:grpSpPr>
        <p:sp>
          <p:nvSpPr>
            <p:cNvPr id="14" name="모서리가 둥근 사각형 설명선 321">
              <a:extLst>
                <a:ext uri="{FF2B5EF4-FFF2-40B4-BE49-F238E27FC236}">
                  <a16:creationId xmlns:a16="http://schemas.microsoft.com/office/drawing/2014/main" id="{8D4D17FB-1D04-DCEF-89D5-CCCA627E977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TextBox 23">
              <a:extLst>
                <a:ext uri="{FF2B5EF4-FFF2-40B4-BE49-F238E27FC236}">
                  <a16:creationId xmlns:a16="http://schemas.microsoft.com/office/drawing/2014/main" id="{28965906-B9E4-5FC0-6D05-DBBFF28F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008F5DF-1BA7-185F-575D-2012CD83B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8154" y="5218100"/>
            <a:ext cx="439289" cy="189543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알림전송</a:t>
            </a:r>
            <a:endParaRPr kumimoji="1"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3" name="그룹 21">
            <a:extLst>
              <a:ext uri="{FF2B5EF4-FFF2-40B4-BE49-F238E27FC236}">
                <a16:creationId xmlns:a16="http://schemas.microsoft.com/office/drawing/2014/main" id="{48E38AF8-3744-3C31-4452-CE54449027D7}"/>
              </a:ext>
            </a:extLst>
          </p:cNvPr>
          <p:cNvGrpSpPr>
            <a:grpSpLocks/>
          </p:cNvGrpSpPr>
          <p:nvPr/>
        </p:nvGrpSpPr>
        <p:grpSpPr bwMode="auto">
          <a:xfrm>
            <a:off x="937747" y="1354127"/>
            <a:ext cx="252413" cy="165100"/>
            <a:chOff x="3125393" y="1499499"/>
            <a:chExt cx="252000" cy="165260"/>
          </a:xfrm>
        </p:grpSpPr>
        <p:sp>
          <p:nvSpPr>
            <p:cNvPr id="96" name="모서리가 둥근 사각형 설명선 321">
              <a:extLst>
                <a:ext uri="{FF2B5EF4-FFF2-40B4-BE49-F238E27FC236}">
                  <a16:creationId xmlns:a16="http://schemas.microsoft.com/office/drawing/2014/main" id="{5543FF95-AB73-B6C9-4900-973202D4091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7" name="TextBox 23">
              <a:extLst>
                <a:ext uri="{FF2B5EF4-FFF2-40B4-BE49-F238E27FC236}">
                  <a16:creationId xmlns:a16="http://schemas.microsoft.com/office/drawing/2014/main" id="{96D1ED1C-61FF-0224-0017-D9C189933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8</a:t>
              </a:r>
            </a:p>
          </p:txBody>
        </p:sp>
      </p:grpSp>
      <p:pic>
        <p:nvPicPr>
          <p:cNvPr id="24" name="그림 23">
            <a:extLst>
              <a:ext uri="{FF2B5EF4-FFF2-40B4-BE49-F238E27FC236}">
                <a16:creationId xmlns:a16="http://schemas.microsoft.com/office/drawing/2014/main" id="{F50EFDFB-48AE-152B-6849-AC40AD8BA16C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20"/>
          <a:stretch>
            <a:fillRect/>
          </a:stretch>
        </p:blipFill>
        <p:spPr>
          <a:xfrm>
            <a:off x="344820" y="3788583"/>
            <a:ext cx="9147030" cy="1323048"/>
          </a:xfrm>
          <a:prstGeom prst="rect">
            <a:avLst/>
          </a:prstGeom>
        </p:spPr>
      </p:pic>
      <p:grpSp>
        <p:nvGrpSpPr>
          <p:cNvPr id="49" name="그룹 21">
            <a:extLst>
              <a:ext uri="{FF2B5EF4-FFF2-40B4-BE49-F238E27FC236}">
                <a16:creationId xmlns:a16="http://schemas.microsoft.com/office/drawing/2014/main" id="{34AF700D-20E9-5D97-1B87-CC920B4611EC}"/>
              </a:ext>
            </a:extLst>
          </p:cNvPr>
          <p:cNvGrpSpPr>
            <a:grpSpLocks/>
          </p:cNvGrpSpPr>
          <p:nvPr/>
        </p:nvGrpSpPr>
        <p:grpSpPr bwMode="auto">
          <a:xfrm>
            <a:off x="175698" y="3703866"/>
            <a:ext cx="252413" cy="165100"/>
            <a:chOff x="3125393" y="1499499"/>
            <a:chExt cx="252000" cy="165260"/>
          </a:xfrm>
        </p:grpSpPr>
        <p:sp>
          <p:nvSpPr>
            <p:cNvPr id="50" name="모서리가 둥근 사각형 설명선 321">
              <a:extLst>
                <a:ext uri="{FF2B5EF4-FFF2-40B4-BE49-F238E27FC236}">
                  <a16:creationId xmlns:a16="http://schemas.microsoft.com/office/drawing/2014/main" id="{000E9AFE-35BB-A3C5-A332-9DB3E0CE70EA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23">
              <a:extLst>
                <a:ext uri="{FF2B5EF4-FFF2-40B4-BE49-F238E27FC236}">
                  <a16:creationId xmlns:a16="http://schemas.microsoft.com/office/drawing/2014/main" id="{F8BFFFE2-3B8C-B494-AE8C-33569E050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</a:t>
              </a:r>
            </a:p>
          </p:txBody>
        </p:sp>
      </p:grpSp>
      <p:grpSp>
        <p:nvGrpSpPr>
          <p:cNvPr id="52" name="그룹 21">
            <a:extLst>
              <a:ext uri="{FF2B5EF4-FFF2-40B4-BE49-F238E27FC236}">
                <a16:creationId xmlns:a16="http://schemas.microsoft.com/office/drawing/2014/main" id="{71767BAC-2456-2CB5-534B-CD8144D70818}"/>
              </a:ext>
            </a:extLst>
          </p:cNvPr>
          <p:cNvGrpSpPr>
            <a:grpSpLocks/>
          </p:cNvGrpSpPr>
          <p:nvPr/>
        </p:nvGrpSpPr>
        <p:grpSpPr bwMode="auto">
          <a:xfrm>
            <a:off x="2259768" y="3836211"/>
            <a:ext cx="252413" cy="165100"/>
            <a:chOff x="3125393" y="1499499"/>
            <a:chExt cx="252000" cy="165260"/>
          </a:xfrm>
        </p:grpSpPr>
        <p:sp>
          <p:nvSpPr>
            <p:cNvPr id="55" name="모서리가 둥근 사각형 설명선 321">
              <a:extLst>
                <a:ext uri="{FF2B5EF4-FFF2-40B4-BE49-F238E27FC236}">
                  <a16:creationId xmlns:a16="http://schemas.microsoft.com/office/drawing/2014/main" id="{90EB3EB1-AC25-90BA-4710-623816A1805D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23">
              <a:extLst>
                <a:ext uri="{FF2B5EF4-FFF2-40B4-BE49-F238E27FC236}">
                  <a16:creationId xmlns:a16="http://schemas.microsoft.com/office/drawing/2014/main" id="{331F705E-6BB1-D3FB-C666-E027B59DD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2</a:t>
              </a: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9749E63-64BE-C906-27CB-B98BADDC0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5545" y="2059181"/>
            <a:ext cx="1065365" cy="24874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요청부서</a:t>
            </a: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76" name="그룹 21">
            <a:extLst>
              <a:ext uri="{FF2B5EF4-FFF2-40B4-BE49-F238E27FC236}">
                <a16:creationId xmlns:a16="http://schemas.microsoft.com/office/drawing/2014/main" id="{527E33CE-9A02-16B5-604E-551DD8BF27AE}"/>
              </a:ext>
            </a:extLst>
          </p:cNvPr>
          <p:cNvGrpSpPr>
            <a:grpSpLocks/>
          </p:cNvGrpSpPr>
          <p:nvPr/>
        </p:nvGrpSpPr>
        <p:grpSpPr bwMode="auto">
          <a:xfrm>
            <a:off x="8984885" y="5054659"/>
            <a:ext cx="252413" cy="165100"/>
            <a:chOff x="3125393" y="1499499"/>
            <a:chExt cx="252000" cy="165260"/>
          </a:xfrm>
        </p:grpSpPr>
        <p:sp>
          <p:nvSpPr>
            <p:cNvPr id="79" name="모서리가 둥근 사각형 설명선 321">
              <a:extLst>
                <a:ext uri="{FF2B5EF4-FFF2-40B4-BE49-F238E27FC236}">
                  <a16:creationId xmlns:a16="http://schemas.microsoft.com/office/drawing/2014/main" id="{D8B3AFCA-C506-315D-9BE0-8D574E3795F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23">
              <a:extLst>
                <a:ext uri="{FF2B5EF4-FFF2-40B4-BE49-F238E27FC236}">
                  <a16:creationId xmlns:a16="http://schemas.microsoft.com/office/drawing/2014/main" id="{96DD5F54-EE8A-4B72-D205-373994CF4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6</a:t>
              </a: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DF558A83-1CAF-0B03-E167-980A79C90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6201" y="2405680"/>
            <a:ext cx="439289" cy="146419"/>
          </a:xfrm>
          <a:prstGeom prst="rect">
            <a:avLst/>
          </a:prstGeom>
          <a:solidFill>
            <a:srgbClr val="0070C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이력보기</a:t>
            </a:r>
          </a:p>
        </p:txBody>
      </p:sp>
      <p:grpSp>
        <p:nvGrpSpPr>
          <p:cNvPr id="10" name="그룹 21">
            <a:extLst>
              <a:ext uri="{FF2B5EF4-FFF2-40B4-BE49-F238E27FC236}">
                <a16:creationId xmlns:a16="http://schemas.microsoft.com/office/drawing/2014/main" id="{DB10AB1F-0FB5-7308-AB46-C144243937D5}"/>
              </a:ext>
            </a:extLst>
          </p:cNvPr>
          <p:cNvGrpSpPr>
            <a:grpSpLocks/>
          </p:cNvGrpSpPr>
          <p:nvPr/>
        </p:nvGrpSpPr>
        <p:grpSpPr bwMode="auto">
          <a:xfrm>
            <a:off x="2094789" y="2196592"/>
            <a:ext cx="252412" cy="165100"/>
            <a:chOff x="3116178" y="1499499"/>
            <a:chExt cx="252000" cy="165260"/>
          </a:xfrm>
        </p:grpSpPr>
        <p:sp>
          <p:nvSpPr>
            <p:cNvPr id="13" name="모서리가 둥근 사각형 설명선 321">
              <a:extLst>
                <a:ext uri="{FF2B5EF4-FFF2-40B4-BE49-F238E27FC236}">
                  <a16:creationId xmlns:a16="http://schemas.microsoft.com/office/drawing/2014/main" id="{883B9BEF-EDAB-D7F6-CAF9-4ECBE3A76A66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TextBox 23">
              <a:extLst>
                <a:ext uri="{FF2B5EF4-FFF2-40B4-BE49-F238E27FC236}">
                  <a16:creationId xmlns:a16="http://schemas.microsoft.com/office/drawing/2014/main" id="{9D06E286-A2B2-C500-361D-9CB15183D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6178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11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25223924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/>
        </p:nvGraphicFramePr>
        <p:xfrm>
          <a:off x="243842" y="1142653"/>
          <a:ext cx="11704318" cy="538236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6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8" name="직사각형 147"/>
          <p:cNvSpPr/>
          <p:nvPr/>
        </p:nvSpPr>
        <p:spPr bwMode="auto">
          <a:xfrm>
            <a:off x="323923" y="1173296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B7E514-B33A-13D6-EC9F-56F8CC3B0A40}"/>
              </a:ext>
            </a:extLst>
          </p:cNvPr>
          <p:cNvSpPr/>
          <p:nvPr/>
        </p:nvSpPr>
        <p:spPr bwMode="auto">
          <a:xfrm>
            <a:off x="323923" y="1181104"/>
            <a:ext cx="491730" cy="2160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000FF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ko-KR" altLang="en-US" sz="1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신규</a:t>
            </a: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20052DC6-8BF9-3E09-1EF8-5B8FE236D6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9918953"/>
              </p:ext>
            </p:extLst>
          </p:nvPr>
        </p:nvGraphicFramePr>
        <p:xfrm>
          <a:off x="9846998" y="1664954"/>
          <a:ext cx="2088000" cy="27502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indent="0" algn="ctr" defTabSz="914342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12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 완료 일 경우 추가 서류 제출 파일 첨부 항목을 출력한다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조건부 완료에서 완료로 변경되어져도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추가 서류 제출 항목은 출력한다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a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저장버튼 클릭 시 저장 여부 문의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b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반려버튼 클릭 시 검토요청</a:t>
                      </a:r>
                      <a:r>
                        <a:rPr kumimoji="0" lang="en-US" altLang="ko-KR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검토진행 상태가 아니면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69079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반려처리 진행 여부 문의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97539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d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완료버튼 클릭 시 완료진행 항 상태가 아니면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5838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e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완료처리 진행 여부 문의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8656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f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 취소 진행 여부 문의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6002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spc="-5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g</a:t>
                      </a:r>
                      <a:endParaRPr lang="ko-KR" altLang="en-US" sz="700" b="1" spc="-5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재검토요청 처리 진행 여부 문의 출력</a:t>
                      </a:r>
                      <a:endParaRPr kumimoji="0" lang="en-US" altLang="ko-KR" sz="7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54000" marR="54000" marT="54000" marB="54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1001768"/>
                  </a:ext>
                </a:extLst>
              </a:tr>
            </a:tbl>
          </a:graphicData>
        </a:graphic>
      </p:graphicFrame>
      <p:sp>
        <p:nvSpPr>
          <p:cNvPr id="87" name="TextBox 86">
            <a:extLst>
              <a:ext uri="{FF2B5EF4-FFF2-40B4-BE49-F238E27FC236}">
                <a16:creationId xmlns:a16="http://schemas.microsoft.com/office/drawing/2014/main" id="{B288A0D7-3C41-91DC-0A91-51A54FF16F5E}"/>
              </a:ext>
            </a:extLst>
          </p:cNvPr>
          <p:cNvSpPr txBox="1"/>
          <p:nvPr/>
        </p:nvSpPr>
        <p:spPr>
          <a:xfrm>
            <a:off x="262620" y="1481478"/>
            <a:ext cx="10919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 검토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en-US" altLang="ko-KR" sz="1000" dirty="0">
              <a:solidFill>
                <a:schemeClr val="accent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AE06CBE8-F452-AEDB-D478-B11BD985AA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5905138"/>
              </p:ext>
            </p:extLst>
          </p:nvPr>
        </p:nvGraphicFramePr>
        <p:xfrm>
          <a:off x="340480" y="1734662"/>
          <a:ext cx="9430537" cy="172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90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087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5711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57943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59131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⑤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708209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6.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⑥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8966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7.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⑦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8.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⑧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78001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9.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⑨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89938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10. </a:t>
                      </a:r>
                      <a:r>
                        <a:rPr kumimoji="1" lang="ko-KR" altLang="en-US" sz="700" b="0" kern="1200" spc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홍보물 ⑩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2079362"/>
                  </a:ext>
                </a:extLst>
              </a:tr>
            </a:tbl>
          </a:graphicData>
        </a:graphic>
      </p:graphicFrame>
      <p:sp>
        <p:nvSpPr>
          <p:cNvPr id="2" name="양쪽 모서리가 둥근 사각형 56">
            <a:extLst>
              <a:ext uri="{FF2B5EF4-FFF2-40B4-BE49-F238E27FC236}">
                <a16:creationId xmlns:a16="http://schemas.microsoft.com/office/drawing/2014/main" id="{F1BEF3C2-AEDF-FB08-DFA1-9B27706489B4}"/>
              </a:ext>
            </a:extLst>
          </p:cNvPr>
          <p:cNvSpPr/>
          <p:nvPr/>
        </p:nvSpPr>
        <p:spPr>
          <a:xfrm>
            <a:off x="455463" y="4433275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 처리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4" name="그룹 21">
            <a:extLst>
              <a:ext uri="{FF2B5EF4-FFF2-40B4-BE49-F238E27FC236}">
                <a16:creationId xmlns:a16="http://schemas.microsoft.com/office/drawing/2014/main" id="{96C021C6-A897-698C-1F25-C9C1F460C4EE}"/>
              </a:ext>
            </a:extLst>
          </p:cNvPr>
          <p:cNvGrpSpPr>
            <a:grpSpLocks/>
          </p:cNvGrpSpPr>
          <p:nvPr/>
        </p:nvGrpSpPr>
        <p:grpSpPr bwMode="auto">
          <a:xfrm>
            <a:off x="330471" y="4209748"/>
            <a:ext cx="252413" cy="165100"/>
            <a:chOff x="3125393" y="1499499"/>
            <a:chExt cx="252000" cy="165260"/>
          </a:xfrm>
        </p:grpSpPr>
        <p:sp>
          <p:nvSpPr>
            <p:cNvPr id="11" name="모서리가 둥근 사각형 설명선 321">
              <a:extLst>
                <a:ext uri="{FF2B5EF4-FFF2-40B4-BE49-F238E27FC236}">
                  <a16:creationId xmlns:a16="http://schemas.microsoft.com/office/drawing/2014/main" id="{90B3BE28-5759-208C-63F6-E957A7D0007B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TextBox 23">
              <a:extLst>
                <a:ext uri="{FF2B5EF4-FFF2-40B4-BE49-F238E27FC236}">
                  <a16:creationId xmlns:a16="http://schemas.microsoft.com/office/drawing/2014/main" id="{73CCC615-84FD-B18D-D8EB-3996F856E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a</a:t>
              </a:r>
            </a:p>
          </p:txBody>
        </p:sp>
      </p:grpSp>
      <p:sp>
        <p:nvSpPr>
          <p:cNvPr id="13" name="양쪽 모서리가 둥근 사각형 56">
            <a:extLst>
              <a:ext uri="{FF2B5EF4-FFF2-40B4-BE49-F238E27FC236}">
                <a16:creationId xmlns:a16="http://schemas.microsoft.com/office/drawing/2014/main" id="{0FBE0B2D-6F06-C897-A39B-EEFA1574E38F}"/>
              </a:ext>
            </a:extLst>
          </p:cNvPr>
          <p:cNvSpPr/>
          <p:nvPr/>
        </p:nvSpPr>
        <p:spPr>
          <a:xfrm>
            <a:off x="2006594" y="4396635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반려 처리 할 수 없습니다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C40519A-0013-C0F6-BABA-FE116FE72D96}"/>
              </a:ext>
            </a:extLst>
          </p:cNvPr>
          <p:cNvSpPr/>
          <p:nvPr/>
        </p:nvSpPr>
        <p:spPr>
          <a:xfrm>
            <a:off x="2004176" y="4954961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" name="그룹 21">
            <a:extLst>
              <a:ext uri="{FF2B5EF4-FFF2-40B4-BE49-F238E27FC236}">
                <a16:creationId xmlns:a16="http://schemas.microsoft.com/office/drawing/2014/main" id="{13FA90B4-AFF3-E689-AD6C-DC90F921A9E4}"/>
              </a:ext>
            </a:extLst>
          </p:cNvPr>
          <p:cNvGrpSpPr>
            <a:grpSpLocks/>
          </p:cNvGrpSpPr>
          <p:nvPr/>
        </p:nvGrpSpPr>
        <p:grpSpPr bwMode="auto">
          <a:xfrm>
            <a:off x="1881602" y="4173108"/>
            <a:ext cx="252413" cy="165100"/>
            <a:chOff x="3125393" y="1499499"/>
            <a:chExt cx="252000" cy="165260"/>
          </a:xfrm>
        </p:grpSpPr>
        <p:sp>
          <p:nvSpPr>
            <p:cNvPr id="16" name="모서리가 둥근 사각형 설명선 321">
              <a:extLst>
                <a:ext uri="{FF2B5EF4-FFF2-40B4-BE49-F238E27FC236}">
                  <a16:creationId xmlns:a16="http://schemas.microsoft.com/office/drawing/2014/main" id="{8D6507AB-3D42-32A5-EDE6-A7B0AC9CFEE9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E2D30FDA-2BB3-7D2E-4795-8B941E9E7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b</a:t>
              </a:r>
            </a:p>
          </p:txBody>
        </p:sp>
      </p:grpSp>
      <p:sp>
        <p:nvSpPr>
          <p:cNvPr id="18" name="양쪽 모서리가 둥근 사각형 56">
            <a:extLst>
              <a:ext uri="{FF2B5EF4-FFF2-40B4-BE49-F238E27FC236}">
                <a16:creationId xmlns:a16="http://schemas.microsoft.com/office/drawing/2014/main" id="{E61176B6-E003-D44F-9C54-6C1EEBAD6152}"/>
              </a:ext>
            </a:extLst>
          </p:cNvPr>
          <p:cNvSpPr/>
          <p:nvPr/>
        </p:nvSpPr>
        <p:spPr>
          <a:xfrm>
            <a:off x="3555307" y="4374848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반려처리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19" name="그룹 21">
            <a:extLst>
              <a:ext uri="{FF2B5EF4-FFF2-40B4-BE49-F238E27FC236}">
                <a16:creationId xmlns:a16="http://schemas.microsoft.com/office/drawing/2014/main" id="{712D8AA1-6C09-30AE-2196-8DDCE67D9F76}"/>
              </a:ext>
            </a:extLst>
          </p:cNvPr>
          <p:cNvGrpSpPr>
            <a:grpSpLocks/>
          </p:cNvGrpSpPr>
          <p:nvPr/>
        </p:nvGrpSpPr>
        <p:grpSpPr bwMode="auto">
          <a:xfrm>
            <a:off x="3520621" y="4170147"/>
            <a:ext cx="252413" cy="165100"/>
            <a:chOff x="3125393" y="1499499"/>
            <a:chExt cx="252000" cy="165260"/>
          </a:xfrm>
        </p:grpSpPr>
        <p:sp>
          <p:nvSpPr>
            <p:cNvPr id="20" name="모서리가 둥근 사각형 설명선 321">
              <a:extLst>
                <a:ext uri="{FF2B5EF4-FFF2-40B4-BE49-F238E27FC236}">
                  <a16:creationId xmlns:a16="http://schemas.microsoft.com/office/drawing/2014/main" id="{7946EF2A-C035-A46C-8A3E-E346919A7421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TextBox 23">
              <a:extLst>
                <a:ext uri="{FF2B5EF4-FFF2-40B4-BE49-F238E27FC236}">
                  <a16:creationId xmlns:a16="http://schemas.microsoft.com/office/drawing/2014/main" id="{F711E017-040A-2301-7390-B26E2018F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c</a:t>
              </a:r>
            </a:p>
          </p:txBody>
        </p:sp>
      </p:grp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6C63CCEA-B4AD-BF7B-397B-024DAA1F46CC}"/>
              </a:ext>
            </a:extLst>
          </p:cNvPr>
          <p:cNvSpPr/>
          <p:nvPr/>
        </p:nvSpPr>
        <p:spPr>
          <a:xfrm>
            <a:off x="3554438" y="4923870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AEA933AB-1085-8DEB-757D-D9443D6CD4F5}"/>
              </a:ext>
            </a:extLst>
          </p:cNvPr>
          <p:cNvSpPr/>
          <p:nvPr/>
        </p:nvSpPr>
        <p:spPr>
          <a:xfrm>
            <a:off x="4102827" y="4923870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양쪽 모서리가 둥근 사각형 56">
            <a:extLst>
              <a:ext uri="{FF2B5EF4-FFF2-40B4-BE49-F238E27FC236}">
                <a16:creationId xmlns:a16="http://schemas.microsoft.com/office/drawing/2014/main" id="{32AB958A-22B7-3F2B-7D0C-988CEE2FC2F4}"/>
              </a:ext>
            </a:extLst>
          </p:cNvPr>
          <p:cNvSpPr/>
          <p:nvPr/>
        </p:nvSpPr>
        <p:spPr>
          <a:xfrm>
            <a:off x="5107050" y="4356022"/>
            <a:ext cx="1450273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완료처리 할 상태가 아닙니다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DF24E32F-2265-0FB6-7ECA-56AA631E89D5}"/>
              </a:ext>
            </a:extLst>
          </p:cNvPr>
          <p:cNvSpPr/>
          <p:nvPr/>
        </p:nvSpPr>
        <p:spPr>
          <a:xfrm>
            <a:off x="5104632" y="4914348"/>
            <a:ext cx="1445172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8" name="그룹 21">
            <a:extLst>
              <a:ext uri="{FF2B5EF4-FFF2-40B4-BE49-F238E27FC236}">
                <a16:creationId xmlns:a16="http://schemas.microsoft.com/office/drawing/2014/main" id="{C5A276C9-3D07-0FB3-F15D-40AA5D8E1EBF}"/>
              </a:ext>
            </a:extLst>
          </p:cNvPr>
          <p:cNvGrpSpPr>
            <a:grpSpLocks/>
          </p:cNvGrpSpPr>
          <p:nvPr/>
        </p:nvGrpSpPr>
        <p:grpSpPr bwMode="auto">
          <a:xfrm>
            <a:off x="4982058" y="4132495"/>
            <a:ext cx="252413" cy="165100"/>
            <a:chOff x="3125393" y="1499499"/>
            <a:chExt cx="252000" cy="165260"/>
          </a:xfrm>
        </p:grpSpPr>
        <p:sp>
          <p:nvSpPr>
            <p:cNvPr id="49" name="모서리가 둥근 사각형 설명선 321">
              <a:extLst>
                <a:ext uri="{FF2B5EF4-FFF2-40B4-BE49-F238E27FC236}">
                  <a16:creationId xmlns:a16="http://schemas.microsoft.com/office/drawing/2014/main" id="{1E0D261C-0C3B-51AE-5CC4-3893529A5C7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23">
              <a:extLst>
                <a:ext uri="{FF2B5EF4-FFF2-40B4-BE49-F238E27FC236}">
                  <a16:creationId xmlns:a16="http://schemas.microsoft.com/office/drawing/2014/main" id="{AB5A27D3-D1FB-2B5D-109E-C46BD6980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d</a:t>
              </a:r>
            </a:p>
          </p:txBody>
        </p:sp>
      </p:grpSp>
      <p:sp>
        <p:nvSpPr>
          <p:cNvPr id="51" name="양쪽 모서리가 둥근 사각형 56">
            <a:extLst>
              <a:ext uri="{FF2B5EF4-FFF2-40B4-BE49-F238E27FC236}">
                <a16:creationId xmlns:a16="http://schemas.microsoft.com/office/drawing/2014/main" id="{B4A9CF18-0551-EA3F-60E3-52E2708357D4}"/>
              </a:ext>
            </a:extLst>
          </p:cNvPr>
          <p:cNvSpPr/>
          <p:nvPr/>
        </p:nvSpPr>
        <p:spPr>
          <a:xfrm>
            <a:off x="6692826" y="4355181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 처리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52" name="그룹 21">
            <a:extLst>
              <a:ext uri="{FF2B5EF4-FFF2-40B4-BE49-F238E27FC236}">
                <a16:creationId xmlns:a16="http://schemas.microsoft.com/office/drawing/2014/main" id="{B5CA9E68-FA5D-9A5A-1B4A-928EEA00ADB0}"/>
              </a:ext>
            </a:extLst>
          </p:cNvPr>
          <p:cNvGrpSpPr>
            <a:grpSpLocks/>
          </p:cNvGrpSpPr>
          <p:nvPr/>
        </p:nvGrpSpPr>
        <p:grpSpPr bwMode="auto">
          <a:xfrm>
            <a:off x="6658140" y="4150480"/>
            <a:ext cx="252413" cy="165100"/>
            <a:chOff x="3125393" y="1499499"/>
            <a:chExt cx="252000" cy="165260"/>
          </a:xfrm>
        </p:grpSpPr>
        <p:sp>
          <p:nvSpPr>
            <p:cNvPr id="53" name="모서리가 둥근 사각형 설명선 321">
              <a:extLst>
                <a:ext uri="{FF2B5EF4-FFF2-40B4-BE49-F238E27FC236}">
                  <a16:creationId xmlns:a16="http://schemas.microsoft.com/office/drawing/2014/main" id="{0DEBA680-31E9-EECF-BFCA-433A21BEF7B4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23">
              <a:extLst>
                <a:ext uri="{FF2B5EF4-FFF2-40B4-BE49-F238E27FC236}">
                  <a16:creationId xmlns:a16="http://schemas.microsoft.com/office/drawing/2014/main" id="{137C37B0-2C9E-D2EA-2420-AF2823AC1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e</a:t>
              </a:r>
            </a:p>
          </p:txBody>
        </p:sp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740FA5E7-B72D-3944-174B-2AAE0A7B675A}"/>
              </a:ext>
            </a:extLst>
          </p:cNvPr>
          <p:cNvSpPr/>
          <p:nvPr/>
        </p:nvSpPr>
        <p:spPr>
          <a:xfrm>
            <a:off x="6691957" y="4904203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4BF3673-64E9-C028-A565-FB2EC2279668}"/>
              </a:ext>
            </a:extLst>
          </p:cNvPr>
          <p:cNvSpPr/>
          <p:nvPr/>
        </p:nvSpPr>
        <p:spPr>
          <a:xfrm>
            <a:off x="7240346" y="4904203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2122AD8-FD21-DCC9-4D36-B6663B4F5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097" y="2377419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7AE2DF3-FF45-76A6-19DE-E5414B5F6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9516" y="2681143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9AD94B7-6B58-8DE5-0EF8-9704B58284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1127" y="2947730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1F1DC24-299B-BD7E-BC69-2ABA66C0E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1935" y="3234789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7F1E12F-65E7-8EDB-BA42-6B51043ED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5977" y="2623071"/>
            <a:ext cx="65810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052B68B-B824-A952-F427-D85054D34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2410" y="2628930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243CFA63-5F21-B1EF-28B3-B2890C431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5978" y="3203352"/>
            <a:ext cx="65810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C4BD95E-FD0A-ED03-BD06-B81D1E03B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2410" y="3200822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3910C85A-B650-7151-ADB2-D3B49DB2CC23}"/>
              </a:ext>
            </a:extLst>
          </p:cNvPr>
          <p:cNvSpPr/>
          <p:nvPr/>
        </p:nvSpPr>
        <p:spPr>
          <a:xfrm>
            <a:off x="459336" y="4991601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D870EE7-ABB8-027C-F16A-516EA345FDCC}"/>
              </a:ext>
            </a:extLst>
          </p:cNvPr>
          <p:cNvSpPr/>
          <p:nvPr/>
        </p:nvSpPr>
        <p:spPr>
          <a:xfrm>
            <a:off x="1007725" y="4991601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9424D00-0078-FFCC-B056-2D1822520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1449" y="3206810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61E813F-09D5-C9B0-9115-214219C4A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1449" y="2628930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7C44B09-C2E3-529C-7EA6-A72D77084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2066" y="2335471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E4B556-88BB-5A4E-62AA-B9288CC35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156" y="2338001"/>
            <a:ext cx="66565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282D850-3217-AD9D-6B8A-D1BE7D8DF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188" y="2335471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0A822A8-EFFA-A57F-9EFB-E3C412FCD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1449" y="2906473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97FC3E6-DCA7-8130-1EC1-703B040FE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138" y="2909003"/>
            <a:ext cx="65810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CAFBD8F-5E34-63C8-EB00-5C1B40352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8571" y="2906473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15F053C-689F-1EB3-04DE-98C054E41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495" y="1808365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287E5B41-7AD2-47EF-59FC-D7153F057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0914" y="2112089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257AC5A-6497-1F2F-5087-4419BE85A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7552" y="2054017"/>
            <a:ext cx="657900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99FA1A7-0922-257F-44AA-984940A9EC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3808" y="2059876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A0CD7162-0234-25D5-AF65-C85717045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2847" y="2059876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B85E7BD4-4889-6D13-2740-E4A9E8F35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3464" y="1766417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D8E1256D-7D5C-1874-F47F-06A4A219E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7552" y="1768947"/>
            <a:ext cx="66565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7F3FD087-BC96-223A-447D-AF92DC8BF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0586" y="1766417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529D5C4-0C95-F5CE-21D0-766F23C6D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0432" y="1773163"/>
            <a:ext cx="113067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60E6FC0-5800-7592-E351-E33DE830D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9461" y="2054017"/>
            <a:ext cx="1130676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E1CFF38-D74F-6256-9557-B4FC2A66B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4204" y="2340890"/>
            <a:ext cx="114593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C3D4B8DD-592E-6FE7-CFF2-DACC0A7ED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8054" y="2618951"/>
            <a:ext cx="1130675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4F594D19-A80F-CAA5-50CC-4700D62F2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9461" y="2914455"/>
            <a:ext cx="1145934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700" b="0" kern="1200" spc="0" baseline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2EB6BC78-504D-A298-58A7-F6D53723C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6" y="3201336"/>
            <a:ext cx="1156330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82" name="양쪽 모서리가 둥근 사각형 56">
            <a:extLst>
              <a:ext uri="{FF2B5EF4-FFF2-40B4-BE49-F238E27FC236}">
                <a16:creationId xmlns:a16="http://schemas.microsoft.com/office/drawing/2014/main" id="{E527338D-FF8B-287A-0FDA-B44B7C6B6AA2}"/>
              </a:ext>
            </a:extLst>
          </p:cNvPr>
          <p:cNvSpPr/>
          <p:nvPr/>
        </p:nvSpPr>
        <p:spPr>
          <a:xfrm>
            <a:off x="456332" y="5417105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 취소 처리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84" name="그룹 21">
            <a:extLst>
              <a:ext uri="{FF2B5EF4-FFF2-40B4-BE49-F238E27FC236}">
                <a16:creationId xmlns:a16="http://schemas.microsoft.com/office/drawing/2014/main" id="{E3D14E37-3CFD-6A91-18DC-AF7BAA48B7BC}"/>
              </a:ext>
            </a:extLst>
          </p:cNvPr>
          <p:cNvGrpSpPr>
            <a:grpSpLocks/>
          </p:cNvGrpSpPr>
          <p:nvPr/>
        </p:nvGrpSpPr>
        <p:grpSpPr bwMode="auto">
          <a:xfrm>
            <a:off x="323923" y="5291568"/>
            <a:ext cx="252413" cy="165100"/>
            <a:chOff x="3125393" y="1499499"/>
            <a:chExt cx="252000" cy="165260"/>
          </a:xfrm>
        </p:grpSpPr>
        <p:sp>
          <p:nvSpPr>
            <p:cNvPr id="85" name="모서리가 둥근 사각형 설명선 321">
              <a:extLst>
                <a:ext uri="{FF2B5EF4-FFF2-40B4-BE49-F238E27FC236}">
                  <a16:creationId xmlns:a16="http://schemas.microsoft.com/office/drawing/2014/main" id="{60477C65-FE80-4ADA-0708-545956799075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6" name="TextBox 23">
              <a:extLst>
                <a:ext uri="{FF2B5EF4-FFF2-40B4-BE49-F238E27FC236}">
                  <a16:creationId xmlns:a16="http://schemas.microsoft.com/office/drawing/2014/main" id="{584552FF-F180-6090-0C66-EA8BDD9EF7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f</a:t>
              </a:r>
            </a:p>
          </p:txBody>
        </p:sp>
      </p:grp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903B66A9-7702-0712-A519-51616D93D0C7}"/>
              </a:ext>
            </a:extLst>
          </p:cNvPr>
          <p:cNvSpPr/>
          <p:nvPr/>
        </p:nvSpPr>
        <p:spPr>
          <a:xfrm>
            <a:off x="455463" y="5966127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5D73E1BE-E628-BDC8-FAC4-68EBD3CE4904}"/>
              </a:ext>
            </a:extLst>
          </p:cNvPr>
          <p:cNvSpPr/>
          <p:nvPr/>
        </p:nvSpPr>
        <p:spPr>
          <a:xfrm>
            <a:off x="1003852" y="5966127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양쪽 모서리가 둥근 사각형 56">
            <a:extLst>
              <a:ext uri="{FF2B5EF4-FFF2-40B4-BE49-F238E27FC236}">
                <a16:creationId xmlns:a16="http://schemas.microsoft.com/office/drawing/2014/main" id="{D10E62AC-35FB-0CD8-7939-2FC0E7564CB2}"/>
              </a:ext>
            </a:extLst>
          </p:cNvPr>
          <p:cNvSpPr/>
          <p:nvPr/>
        </p:nvSpPr>
        <p:spPr>
          <a:xfrm>
            <a:off x="2001828" y="5406946"/>
            <a:ext cx="1445172" cy="558326"/>
          </a:xfrm>
          <a:prstGeom prst="round2SameRect">
            <a:avLst>
              <a:gd name="adj1" fmla="val 2994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" rIns="0" rtlCol="0" anchor="ctr"/>
          <a:lstStyle/>
          <a:p>
            <a:pPr algn="ctr"/>
            <a:r>
              <a:rPr lang="ko-KR" altLang="en-US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재검토요청 처리 하시겠습니까</a:t>
            </a:r>
            <a:r>
              <a:rPr lang="en-US" altLang="ko-KR" sz="8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grpSp>
        <p:nvGrpSpPr>
          <p:cNvPr id="92" name="그룹 21">
            <a:extLst>
              <a:ext uri="{FF2B5EF4-FFF2-40B4-BE49-F238E27FC236}">
                <a16:creationId xmlns:a16="http://schemas.microsoft.com/office/drawing/2014/main" id="{E7262B3E-6292-2A63-D49B-B7DB9F3C0DB8}"/>
              </a:ext>
            </a:extLst>
          </p:cNvPr>
          <p:cNvGrpSpPr>
            <a:grpSpLocks/>
          </p:cNvGrpSpPr>
          <p:nvPr/>
        </p:nvGrpSpPr>
        <p:grpSpPr bwMode="auto">
          <a:xfrm>
            <a:off x="1775297" y="5228195"/>
            <a:ext cx="252413" cy="165100"/>
            <a:chOff x="3125393" y="1499499"/>
            <a:chExt cx="252000" cy="165260"/>
          </a:xfrm>
        </p:grpSpPr>
        <p:sp>
          <p:nvSpPr>
            <p:cNvPr id="93" name="모서리가 둥근 사각형 설명선 321">
              <a:extLst>
                <a:ext uri="{FF2B5EF4-FFF2-40B4-BE49-F238E27FC236}">
                  <a16:creationId xmlns:a16="http://schemas.microsoft.com/office/drawing/2014/main" id="{AE25ED42-EF06-A846-9677-199DAEB17968}"/>
                </a:ext>
              </a:extLst>
            </p:cNvPr>
            <p:cNvSpPr/>
            <p:nvPr/>
          </p:nvSpPr>
          <p:spPr bwMode="auto">
            <a:xfrm>
              <a:off x="3168186" y="1499499"/>
              <a:ext cx="168000" cy="165260"/>
            </a:xfrm>
            <a:prstGeom prst="wedgeRoundRectCallout">
              <a:avLst>
                <a:gd name="adj1" fmla="val 41524"/>
                <a:gd name="adj2" fmla="val 82191"/>
                <a:gd name="adj3" fmla="val 16667"/>
              </a:avLst>
            </a:prstGeom>
            <a:solidFill>
              <a:srgbClr val="FF0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23">
              <a:extLst>
                <a:ext uri="{FF2B5EF4-FFF2-40B4-BE49-F238E27FC236}">
                  <a16:creationId xmlns:a16="http://schemas.microsoft.com/office/drawing/2014/main" id="{B21B4910-0D97-C6D3-D847-0DA7D6662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5393" y="1522804"/>
              <a:ext cx="252000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algn="ctr"/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맑은 고딕 Semilight" panose="020B0502040204020203" pitchFamily="50" charset="-127"/>
                </a:rPr>
                <a:t>g</a:t>
              </a:r>
            </a:p>
          </p:txBody>
        </p:sp>
      </p:grp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66C6DBBD-9D60-4AA0-E654-42553A8BF675}"/>
              </a:ext>
            </a:extLst>
          </p:cNvPr>
          <p:cNvSpPr/>
          <p:nvPr/>
        </p:nvSpPr>
        <p:spPr>
          <a:xfrm>
            <a:off x="2000959" y="5955968"/>
            <a:ext cx="540000" cy="252000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700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CDA602FA-6E44-7832-3E72-61A873942E74}"/>
              </a:ext>
            </a:extLst>
          </p:cNvPr>
          <p:cNvSpPr/>
          <p:nvPr/>
        </p:nvSpPr>
        <p:spPr>
          <a:xfrm>
            <a:off x="2549348" y="5955968"/>
            <a:ext cx="900000" cy="252000"/>
          </a:xfrm>
          <a:prstGeom prst="roundRect">
            <a:avLst>
              <a:gd name="adj" fmla="val 0"/>
            </a:avLst>
          </a:pr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spc="-5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en-US" altLang="ko-KR" sz="700" b="1" spc="-5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7" name="Group 234">
            <a:extLst>
              <a:ext uri="{FF2B5EF4-FFF2-40B4-BE49-F238E27FC236}">
                <a16:creationId xmlns:a16="http://schemas.microsoft.com/office/drawing/2014/main" id="{197CC492-05D7-3FF4-EDC4-BA21531548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726382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상세조회 및 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(2/2)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내역을 상세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7555670-04AC-B4B0-DF8B-82993CC486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9293541"/>
              </p:ext>
            </p:extLst>
          </p:nvPr>
        </p:nvGraphicFramePr>
        <p:xfrm>
          <a:off x="341341" y="3446726"/>
          <a:ext cx="9430537" cy="57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94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248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9170">
                  <a:extLst>
                    <a:ext uri="{9D8B030D-6E8A-4147-A177-3AD203B41FA5}">
                      <a16:colId xmlns:a16="http://schemas.microsoft.com/office/drawing/2014/main" val="4276744799"/>
                    </a:ext>
                  </a:extLst>
                </a:gridCol>
                <a:gridCol w="957943">
                  <a:extLst>
                    <a:ext uri="{9D8B030D-6E8A-4147-A177-3AD203B41FA5}">
                      <a16:colId xmlns:a16="http://schemas.microsoft.com/office/drawing/2014/main" val="3835763562"/>
                    </a:ext>
                  </a:extLst>
                </a:gridCol>
                <a:gridCol w="1759131">
                  <a:extLst>
                    <a:ext uri="{9D8B030D-6E8A-4147-A177-3AD203B41FA5}">
                      <a16:colId xmlns:a16="http://schemas.microsoft.com/office/drawing/2014/main" val="391637706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11.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⑪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27999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12.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 ⑫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kern="1200" spc="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endParaRPr kumimoji="1" lang="ko-KR" altLang="en-US" sz="700" b="0" kern="1200" spc="0" baseline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작성일시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501039"/>
                  </a:ext>
                </a:extLst>
              </a:tr>
            </a:tbl>
          </a:graphicData>
        </a:graphic>
      </p:graphicFrame>
      <p:sp>
        <p:nvSpPr>
          <p:cNvPr id="98" name="직사각형 97">
            <a:extLst>
              <a:ext uri="{FF2B5EF4-FFF2-40B4-BE49-F238E27FC236}">
                <a16:creationId xmlns:a16="http://schemas.microsoft.com/office/drawing/2014/main" id="{379282FE-307A-ED79-6FA7-A20DCD1EC6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4994" y="3517824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B7E7C0A-BB31-CE76-D0BD-227D25F35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9037" y="3486387"/>
            <a:ext cx="65810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60AB7017-33A1-F33E-124C-6987289EC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5469" y="3483857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2240886-A43B-6E7E-3706-10433841E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4508" y="3489845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4E7EA5-2D14-E6F2-D8D4-F3D5A565C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2125" y="3484371"/>
            <a:ext cx="1156330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8C26F6D8-AC2A-376B-5F3A-802B17473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3704" y="3796499"/>
            <a:ext cx="439289" cy="146419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검토의견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097C8DDB-122C-E37B-455A-D8D72ED52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747" y="3765062"/>
            <a:ext cx="65810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23282BE-6359-2548-FB0B-B5792363E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4179" y="3762532"/>
            <a:ext cx="941972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700" spc="-50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6EA71DF-4E0F-FE32-251E-F60AD35E3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3218" y="3768520"/>
            <a:ext cx="3687653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E752E221-91F7-54A6-AD45-8838B2160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0835" y="3763046"/>
            <a:ext cx="1156330" cy="22623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lIns="54000" tIns="0" rIns="0" bIns="0" anchor="ctr"/>
          <a:lstStyle/>
          <a:p>
            <a:pPr marL="0" marR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kern="1200" spc="0" baseline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3760726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5A968296-171C-81D8-6E5D-2B631B660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535828"/>
              </p:ext>
            </p:extLst>
          </p:nvPr>
        </p:nvGraphicFramePr>
        <p:xfrm>
          <a:off x="254000" y="1343534"/>
          <a:ext cx="11691939" cy="3925965"/>
        </p:xfrm>
        <a:graphic>
          <a:graphicData uri="http://schemas.openxmlformats.org/drawingml/2006/table">
            <a:tbl>
              <a:tblPr/>
              <a:tblGrid>
                <a:gridCol w="665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0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68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388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036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품목제조보고번호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(PDLST_MNFCT_REPRT_NO),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(PRMMTR_TYPE_CODE),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미준수여부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(NNCMPL_YN),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소비기한대상여부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(CNSMP_TMLMT_TRG_YN),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소비기한선택코드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(CNSMP_TMLMT_CHC_CODE),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소비기한일수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(CNSMP_TMLMT_DAY_CNT),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결재반려일시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(APRVL_RETURN_DTM)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SERPWEB.SFTY_XMNT_RFRNR_INFO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50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11611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SERPWEB.SFTY_XMNT_ATFL_BASIC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기본정보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SERPWEB.SFTY_XMNT_STATUS_HIST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상태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SERPWEB.SFTY_XMNT_ATFL_XMNT_OPN_RDN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첨부파일 검토 의견 열람 여부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SCKTS.CSPMT020T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정보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SCKTS.CSPMT040T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부서마스터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67145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현행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SERPWEB.SFTY_XMNT_PRMT_INFRM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프로모션 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909430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수정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SERPWEB.SFTY_XMNT_BASIC_INFO_HIST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기본정보 이력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PRMMTR_TYPE_CODE(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홍보물유형코드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추가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315668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SERPWEB.SFTY_XMNT_PRMMTR_PRDC_INFO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홍보물 제품정보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5460373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신규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SERPWEB.SFTY_XMNT_REFR_SETNG_INFO</a:t>
                      </a: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안전검토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설정정보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○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6685456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0532684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3D0E7AF1-DEB0-873C-AFFF-48C925AA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1071546"/>
            <a:ext cx="121120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DB TABLE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93F0F073-A39D-11B3-C758-A5AF7E614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1" y="5482728"/>
            <a:ext cx="1321820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DB OBJECT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91C730B6-1160-BE8C-DFC7-205907527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9643522"/>
              </p:ext>
            </p:extLst>
          </p:nvPr>
        </p:nvGraphicFramePr>
        <p:xfrm>
          <a:off x="247260" y="5746896"/>
          <a:ext cx="11710849" cy="692280"/>
        </p:xfrm>
        <a:graphic>
          <a:graphicData uri="http://schemas.openxmlformats.org/drawingml/2006/table">
            <a:tbl>
              <a:tblPr/>
              <a:tblGrid>
                <a:gridCol w="1020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8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3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524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65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프로시져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 테이블 명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" name="Group 234">
            <a:extLst>
              <a:ext uri="{FF2B5EF4-FFF2-40B4-BE49-F238E27FC236}">
                <a16:creationId xmlns:a16="http://schemas.microsoft.com/office/drawing/2014/main" id="{CAFD6EA6-1D77-7733-A4CB-957AF177C1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6214547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상세조회 및 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내역을 상세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35089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107">
            <a:extLst>
              <a:ext uri="{FF2B5EF4-FFF2-40B4-BE49-F238E27FC236}">
                <a16:creationId xmlns:a16="http://schemas.microsoft.com/office/drawing/2014/main" id="{C8A271C6-589A-0B9B-A13F-78179A0092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6472160"/>
              </p:ext>
            </p:extLst>
          </p:nvPr>
        </p:nvGraphicFramePr>
        <p:xfrm>
          <a:off x="254000" y="1343534"/>
          <a:ext cx="11698679" cy="161532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1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8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744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표시명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공통코드 명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36000" marR="36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SFT001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구분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코어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20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프로모션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30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특화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40 </a:t>
                      </a:r>
                      <a:r>
                        <a:rPr lang="ko-KR" altLang="en-US" sz="9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이커머스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50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WEB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SFT020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안전성검토 홍보물 첨부파일분류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300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1, 301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 ~ 311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홍보물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23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3769950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3687927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4356"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Box 4">
            <a:extLst>
              <a:ext uri="{FF2B5EF4-FFF2-40B4-BE49-F238E27FC236}">
                <a16:creationId xmlns:a16="http://schemas.microsoft.com/office/drawing/2014/main" id="{1A3A9465-9765-8AA7-304B-E77B79F14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1071546"/>
            <a:ext cx="155126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공통코드 목록</a:t>
            </a:r>
          </a:p>
        </p:txBody>
      </p:sp>
      <p:sp>
        <p:nvSpPr>
          <p:cNvPr id="5" name="TextBox 6">
            <a:extLst>
              <a:ext uri="{FF2B5EF4-FFF2-40B4-BE49-F238E27FC236}">
                <a16:creationId xmlns:a16="http://schemas.microsoft.com/office/drawing/2014/main" id="{5111F25F-1EFB-7284-D6E2-C10C33C76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90" y="3555522"/>
            <a:ext cx="137696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l">
              <a:buFont typeface="Wingdings" pitchFamily="2" charset="2"/>
              <a:buChar char="v"/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메시지 목록</a:t>
            </a:r>
          </a:p>
        </p:txBody>
      </p:sp>
      <p:graphicFrame>
        <p:nvGraphicFramePr>
          <p:cNvPr id="6" name="Group 107">
            <a:extLst>
              <a:ext uri="{FF2B5EF4-FFF2-40B4-BE49-F238E27FC236}">
                <a16:creationId xmlns:a16="http://schemas.microsoft.com/office/drawing/2014/main" id="{F7DA9CB1-B311-6425-6A27-76C0D3EE46D5}"/>
              </a:ext>
            </a:extLst>
          </p:cNvPr>
          <p:cNvGraphicFramePr>
            <a:graphicFrameLocks noGrp="1"/>
          </p:cNvGraphicFramePr>
          <p:nvPr/>
        </p:nvGraphicFramePr>
        <p:xfrm>
          <a:off x="247260" y="3819690"/>
          <a:ext cx="11698678" cy="2538360"/>
        </p:xfrm>
        <a:graphic>
          <a:graphicData uri="http://schemas.openxmlformats.org/drawingml/2006/table">
            <a:tbl>
              <a:tblPr/>
              <a:tblGrid>
                <a:gridCol w="1512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1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09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이벤트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90000" marT="46800" marB="46800" anchor="ctr" anchorCtr="1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0400">
                <a:tc>
                  <a:txBody>
                    <a:bodyPr/>
                    <a:lstStyle/>
                    <a:p>
                      <a:pPr marL="0" marR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8" name="Group 234">
            <a:extLst>
              <a:ext uri="{FF2B5EF4-FFF2-40B4-BE49-F238E27FC236}">
                <a16:creationId xmlns:a16="http://schemas.microsoft.com/office/drawing/2014/main" id="{697A8DA1-DB2D-159B-86BE-77AFDD5823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02208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상세조회 및 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내역을 상세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272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2575262"/>
              </p:ext>
            </p:extLst>
          </p:nvPr>
        </p:nvGraphicFramePr>
        <p:xfrm>
          <a:off x="243842" y="1127024"/>
          <a:ext cx="11704318" cy="5621112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요청 상세 조회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진행상태 및 로그인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대상자 확인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내역을 상세 조회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수정가능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불가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 버튼 활성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비활성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검토부서 이외는 반려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완료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진행상태에 따라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Visible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검토완료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                                               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재검토요청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목록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요청 반려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반려 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진행 상태 값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검토반려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이메일 전송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반려 사유를 팝업 호출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SFTY000040_P04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반려 사유 작성 및 안전검토 상태 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SFTY_XMNT_STATUS_HIST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insert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[3]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완료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요청 완료 처리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진행 상태 값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완료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요청자에게 상태변경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이메일 전송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상태 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SFTY_XMNT_STATUS_HIST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insert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[4]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안전성 검토 재검토요청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진행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검토반려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 검토 건을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검토요청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처리하고 상태 값을 변경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검토부서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메일 전송 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상태 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SFTY_XMNT_STATUS_HIST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insert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900" b="0" i="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참조자는 메일 발송 제외임</a:t>
                      </a:r>
                      <a:r>
                        <a:rPr lang="en-US" altLang="ko-KR" sz="900" b="0" i="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EP </a:t>
                      </a:r>
                      <a:r>
                        <a:rPr lang="ko-KR" altLang="en-US" sz="900" b="0" i="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알림만 발송함</a:t>
                      </a:r>
                      <a:r>
                        <a:rPr lang="en-US" altLang="ko-KR" sz="900" b="0" i="0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[5]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첨부파일 검토 알림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처리</a:t>
                      </a:r>
                      <a:r>
                        <a:rPr kumimoji="1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요청자의 요청의견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요청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참조자에게 아이콘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검토자의 검토의견 작성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-&gt;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안전 검토 열람 여부 정보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 최종열람일시와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안정 검토 첨부파일 검토 의견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’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테이블의 등록일시를 비교하여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요청자에게 아이콘 출력 처리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sym typeface="Wingdings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[6]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SFTY000040_P06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SFTY000040_P08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이력보기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검토요청 이후 수정 이력을 관리한다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기본정보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제품정보 각각 수정 이력 조회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[7]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 이력보기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진행상태 이력 정보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SFTY000040_P05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 오픈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[10]</a:t>
                      </a:r>
                      <a:r>
                        <a:rPr kumimoji="0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알림전송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검토의견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EP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알림 전송 처리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수동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 -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"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알림전송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"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버튼을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검토자 모두에게 활성화 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-&gt;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수동으로 한번 누르면 검토자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각각에게 메일 발송 기능만 부여 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검토자가 누르면 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-&gt;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요청자에게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요청자가 누르면 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-&gt; 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검토자에게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[11]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첨부파일 검토의견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SFTY000040_P03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첨부파일 검토의견 팝업을 호출 </a:t>
                      </a:r>
                      <a:r>
                        <a:rPr kumimoji="0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-&gt; </a:t>
                      </a:r>
                      <a:r>
                        <a:rPr kumimoji="0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수정 가능 여부를 전달</a:t>
                      </a: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 (</a:t>
                      </a:r>
                      <a:r>
                        <a:rPr kumimoji="1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검토자 </a:t>
                      </a: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수정가능</a:t>
                      </a: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-5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참조자</a:t>
                      </a:r>
                      <a:r>
                        <a:rPr kumimoji="1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수정 불가</a:t>
                      </a:r>
                      <a:r>
                        <a:rPr kumimoji="1" lang="en-US" altLang="ko-KR" sz="900" b="0" i="0" u="none" strike="noStrike" kern="1200" cap="none" spc="-5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검토의견 버튼 활성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비활성 처리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65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B4F53D8D-5BA7-00D6-90F9-E7A3E91AA61D}"/>
              </a:ext>
            </a:extLst>
          </p:cNvPr>
          <p:cNvSpPr/>
          <p:nvPr/>
        </p:nvSpPr>
        <p:spPr bwMode="auto">
          <a:xfrm>
            <a:off x="7281294" y="1777771"/>
            <a:ext cx="2206870" cy="1788574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EP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알림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000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 이메일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 err="1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검토반려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en-US" altLang="ko-KR" sz="1000" dirty="0">
              <a:solidFill>
                <a:schemeClr val="accent2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 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문구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: "『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구분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+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유형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+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프로모션명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프로모션일 경우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,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아닐 경우 생략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 + SKU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명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(→ 00000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샌드위치 등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0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건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)』</a:t>
            </a:r>
          </a:p>
          <a:p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검토가 반려처리 되었습니다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 </a:t>
            </a:r>
          </a:p>
          <a:p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사유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: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팝업에 작성된 내용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"</a:t>
            </a:r>
            <a:endParaRPr lang="ko-KR" altLang="en-US" sz="900" dirty="0">
              <a:effectLst/>
              <a:latin typeface="Arial" panose="020B0604020202020204" pitchFamily="34" charset="0"/>
            </a:endParaRPr>
          </a:p>
          <a:p>
            <a:endParaRPr lang="en-US" altLang="ko-KR" sz="900" dirty="0">
              <a:latin typeface="Malgun Gothic" panose="020B0503020000020004" pitchFamily="50" charset="-127"/>
              <a:ea typeface="Malgun Gothic" panose="020B0503020000020004" pitchFamily="50" charset="-127"/>
            </a:endParaRPr>
          </a:p>
          <a:p>
            <a:pPr>
              <a:spcBef>
                <a:spcPct val="20000"/>
              </a:spcBef>
              <a:defRPr/>
            </a:pPr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"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예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 『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매장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게시물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 Spring1 /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파인 코코넛향 소스 등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)』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검토가 반려처리 되었습니다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사유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: XXXXXXXX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9784CC7-912C-826F-7576-C3023A14AC12}"/>
              </a:ext>
            </a:extLst>
          </p:cNvPr>
          <p:cNvSpPr/>
          <p:nvPr/>
        </p:nvSpPr>
        <p:spPr bwMode="auto">
          <a:xfrm>
            <a:off x="9614727" y="1782313"/>
            <a:ext cx="2206870" cy="1133285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이메일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검토완료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altLang="ko-KR" sz="1000" b="0" i="0" u="none" strike="noStrike" cap="none" normalizeH="0" baseline="0" dirty="0">
              <a:ln>
                <a:noFill/>
              </a:ln>
              <a:solidFill>
                <a:schemeClr val="accent2"/>
              </a:solidFill>
              <a:effectLst/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 ＂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홍보물검토번호 번호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)“, +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검토완료 되었습니다</a:t>
            </a:r>
            <a:endParaRPr lang="en-US" altLang="ko-KR" sz="900" dirty="0">
              <a:latin typeface="Malgun Gothic" panose="020B0503020000020004" pitchFamily="50" charset="-127"/>
              <a:ea typeface="Malgun Gothic" panose="020B0503020000020004" pitchFamily="50" charset="-127"/>
            </a:endParaRPr>
          </a:p>
          <a:p>
            <a:endParaRPr lang="ko-KR" altLang="en-US" sz="900" dirty="0">
              <a:latin typeface="Arial" panose="020B0604020202020204" pitchFamily="34" charset="0"/>
            </a:endParaRPr>
          </a:p>
          <a:p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예시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(9300001),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검토완료 되었습니다</a:t>
            </a:r>
            <a:endParaRPr lang="en-US" altLang="ko-KR" sz="900" dirty="0">
              <a:latin typeface="Malgun Gothic" panose="020B0503020000020004" pitchFamily="50" charset="-127"/>
              <a:ea typeface="Malgun Gothic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D966AAF-9C61-39F4-F3B1-7A3010F17ECF}"/>
              </a:ext>
            </a:extLst>
          </p:cNvPr>
          <p:cNvSpPr/>
          <p:nvPr/>
        </p:nvSpPr>
        <p:spPr bwMode="auto">
          <a:xfrm>
            <a:off x="8537418" y="5875699"/>
            <a:ext cx="3066896" cy="749564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EP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알림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첨부파일 검토 </a:t>
            </a:r>
            <a:r>
              <a:rPr lang="ko-KR" altLang="en-US" sz="1000" dirty="0" err="1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알림요청</a:t>
            </a:r>
            <a:r>
              <a:rPr lang="ko-KR" altLang="en-US" sz="1000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 버튼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en-US" altLang="ko-KR" sz="1000" dirty="0">
              <a:solidFill>
                <a:schemeClr val="accent2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＂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홍보물검토번호 번호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)“, + 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의견작성 되었습니다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.</a:t>
            </a:r>
          </a:p>
          <a:p>
            <a:endParaRPr lang="ko-KR" altLang="en-US" sz="900" dirty="0">
              <a:effectLst/>
              <a:latin typeface="Arial" panose="020B0604020202020204" pitchFamily="34" charset="0"/>
            </a:endParaRPr>
          </a:p>
          <a:p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- 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예시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)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(9300001), </a:t>
            </a:r>
            <a:r>
              <a:rPr lang="ko-KR" altLang="en-US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의견 작성 되었습니다</a:t>
            </a:r>
            <a:r>
              <a:rPr lang="en-US" altLang="ko-KR" sz="900" dirty="0">
                <a:effectLst/>
                <a:latin typeface="Malgun Gothic" panose="020B0503020000020004" pitchFamily="50" charset="-127"/>
                <a:ea typeface="Malgun Gothic" panose="020B0503020000020004" pitchFamily="50" charset="-127"/>
              </a:rPr>
              <a:t>.</a:t>
            </a:r>
            <a:endParaRPr lang="ko-KR" altLang="en-US" sz="900" dirty="0"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6" name="Group 234">
            <a:extLst>
              <a:ext uri="{FF2B5EF4-FFF2-40B4-BE49-F238E27FC236}">
                <a16:creationId xmlns:a16="http://schemas.microsoft.com/office/drawing/2014/main" id="{D63A90D7-4BF6-38C0-ACDB-A2AF389F3F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022080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상세조회 및 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내역을 상세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2265404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B740A-ED0B-5DAA-878C-2DA7CB5195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Group 43">
            <a:extLst>
              <a:ext uri="{FF2B5EF4-FFF2-40B4-BE49-F238E27FC236}">
                <a16:creationId xmlns:a16="http://schemas.microsoft.com/office/drawing/2014/main" id="{D195FDCE-568E-F764-F82B-FBD5C3A30F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566162"/>
              </p:ext>
            </p:extLst>
          </p:nvPr>
        </p:nvGraphicFramePr>
        <p:xfrm>
          <a:off x="243842" y="1127024"/>
          <a:ext cx="11704318" cy="539832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 </a:t>
                      </a: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로직</a:t>
                      </a: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3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[12]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 안전성 검토 포함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결재반려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회수가 진행된 경우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등록된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SKU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개라도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결재반려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회수가 진행된 경우 자동 상태 변경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재검토진행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요청자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검토자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EP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이메일 전송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-&gt;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안전검토 상태 이력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itchFamily="2" charset="2"/>
                        </a:rPr>
                        <a:t>SFTY_XMNT_STATUS_HIST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insert</a:t>
                      </a:r>
                      <a:endParaRPr kumimoji="0" lang="en-US" altLang="ko-KR" sz="900" b="0" i="0" u="none" strike="noStrike" kern="1200" cap="none" spc="-5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3FA61F70-0581-BD36-1522-6097EDD1CB7E}"/>
              </a:ext>
            </a:extLst>
          </p:cNvPr>
          <p:cNvSpPr/>
          <p:nvPr/>
        </p:nvSpPr>
        <p:spPr bwMode="auto">
          <a:xfrm>
            <a:off x="7281293" y="1777771"/>
            <a:ext cx="4216607" cy="1788574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EP</a:t>
            </a: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알림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000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 이메일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b="0" i="0" u="none" strike="noStrike" cap="none" normalizeH="0" baseline="0" dirty="0" err="1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검토반려</a:t>
            </a: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accent2"/>
                </a:solidFill>
                <a:effectLst/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en-US" altLang="ko-KR" sz="1000" dirty="0">
              <a:solidFill>
                <a:schemeClr val="accent2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문구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: 『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구분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+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유형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+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프로모션명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프로모션일 경우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,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아닐 경우 생략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 + SKU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명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(→ 00000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샌드위치 등 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0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건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)』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검토 중</a:t>
            </a:r>
          </a:p>
          <a:p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『"SKU 0000000000000 SKU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명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』 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가 </a:t>
            </a:r>
            <a:r>
              <a:rPr lang="ko-KR" altLang="en-US" sz="900" dirty="0" err="1">
                <a:latin typeface="Malgun Gothic" panose="020B0503020000020004" pitchFamily="50" charset="-127"/>
                <a:ea typeface="Malgun Gothic" panose="020B0503020000020004" pitchFamily="50" charset="-127"/>
              </a:rPr>
              <a:t>결재반려되어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 재검토진행으로 상태가 변경되었습니다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 </a:t>
            </a:r>
          </a:p>
          <a:p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및 안전성 검토 내용을 다시 확인하여 주십시오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."</a:t>
            </a:r>
          </a:p>
          <a:p>
            <a:r>
              <a:rPr lang="en-US" altLang="ko-KR" sz="900" kern="100" dirty="0">
                <a:latin typeface="맑은 고딕" panose="020B0503020000020004" pitchFamily="50" charset="-127"/>
                <a:ea typeface="맑은 고딕" panose="020B0503020000020004" pitchFamily="50" charset="-127"/>
                <a:cs typeface="Times New Roman" panose="02020603050405020304" pitchFamily="18" charset="0"/>
              </a:rPr>
              <a:t>"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예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 『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매장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게시물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 Spring1 /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파인 코코넛향 소스 등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0" lang="en-US" altLang="ko-KR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)』</a:t>
            </a:r>
            <a:r>
              <a:rPr kumimoji="0" lang="ko-KR" altLang="en-US" sz="900" spc="-50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 </a:t>
            </a:r>
            <a:r>
              <a:rPr lang="ko-KR" altLang="en-US" sz="900" dirty="0" err="1">
                <a:latin typeface="Malgun Gothic" panose="020B0503020000020004" pitchFamily="50" charset="-127"/>
                <a:ea typeface="Malgun Gothic" panose="020B0503020000020004" pitchFamily="50" charset="-127"/>
              </a:rPr>
              <a:t>결재반려되어</a:t>
            </a:r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 재검토진행으로 상태가 변경되었습니다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 </a:t>
            </a:r>
          </a:p>
          <a:p>
            <a:r>
              <a:rPr lang="ko-KR" altLang="en-US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홍보물 및 안전성 검토 내용을 다시 확인하여 주십시오</a:t>
            </a:r>
            <a:r>
              <a:rPr lang="en-US" altLang="ko-KR" sz="900" dirty="0">
                <a:latin typeface="Malgun Gothic" panose="020B0503020000020004" pitchFamily="50" charset="-127"/>
                <a:ea typeface="Malgun Gothic" panose="020B0503020000020004" pitchFamily="50" charset="-127"/>
              </a:rPr>
              <a:t>."</a:t>
            </a:r>
          </a:p>
          <a:p>
            <a:pPr>
              <a:spcBef>
                <a:spcPct val="20000"/>
              </a:spcBef>
              <a:defRPr/>
            </a:pPr>
            <a:endParaRPr lang="en-US" altLang="ko-KR" sz="900" dirty="0">
              <a:latin typeface="Malgun Gothic" panose="020B0503020000020004" pitchFamily="50" charset="-127"/>
              <a:ea typeface="Malgun Gothic" panose="020B0503020000020004" pitchFamily="50" charset="-127"/>
            </a:endParaRPr>
          </a:p>
        </p:txBody>
      </p:sp>
      <p:graphicFrame>
        <p:nvGraphicFramePr>
          <p:cNvPr id="6" name="Group 234">
            <a:extLst>
              <a:ext uri="{FF2B5EF4-FFF2-40B4-BE49-F238E27FC236}">
                <a16:creationId xmlns:a16="http://schemas.microsoft.com/office/drawing/2014/main" id="{F79505B8-848C-ADE7-3BC8-920C23024A19}"/>
              </a:ext>
            </a:extLst>
          </p:cNvPr>
          <p:cNvGraphicFramePr>
            <a:graphicFrameLocks noGrp="1"/>
          </p:cNvGraphicFramePr>
          <p:nvPr/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SFTY000140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홍보물 안전성 검토 상세조회 및 수정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홍보물에 대한 안전성 검토 내역을 상세 조회한다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439785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Group 2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5019248"/>
              </p:ext>
            </p:extLst>
          </p:nvPr>
        </p:nvGraphicFramePr>
        <p:xfrm>
          <a:off x="243842" y="1142985"/>
          <a:ext cx="11704318" cy="5292000"/>
        </p:xfrm>
        <a:graphic>
          <a:graphicData uri="http://schemas.openxmlformats.org/drawingml/2006/table">
            <a:tbl>
              <a:tblPr/>
              <a:tblGrid>
                <a:gridCol w="11704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6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(■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  □ 보고서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0531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직사각형 6"/>
          <p:cNvSpPr/>
          <p:nvPr/>
        </p:nvSpPr>
        <p:spPr bwMode="auto">
          <a:xfrm>
            <a:off x="3377699" y="3212976"/>
            <a:ext cx="5436604" cy="1284174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 defTabSz="914423"/>
            <a:r>
              <a:rPr lang="en-US" altLang="ko-KR" sz="4000" dirty="0">
                <a:latin typeface="맑은 고딕" pitchFamily="50" charset="-127"/>
                <a:ea typeface="맑은 고딕" pitchFamily="50" charset="-127"/>
                <a:cs typeface="맑은 고딕 Semilight" panose="020B0502040204020203" pitchFamily="50" charset="-127"/>
              </a:rPr>
              <a:t>End of Document</a:t>
            </a:r>
            <a:endParaRPr lang="ko-KR" altLang="en-US" sz="4000" dirty="0">
              <a:latin typeface="맑은 고딕" pitchFamily="50" charset="-127"/>
              <a:ea typeface="맑은 고딕" pitchFamily="50" charset="-127"/>
              <a:cs typeface="맑은 고딕 Semilight" panose="020B0502040204020203" pitchFamily="50" charset="-127"/>
            </a:endParaRPr>
          </a:p>
        </p:txBody>
      </p:sp>
      <p:graphicFrame>
        <p:nvGraphicFramePr>
          <p:cNvPr id="8" name="Group 2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8798653"/>
              </p:ext>
            </p:extLst>
          </p:nvPr>
        </p:nvGraphicFramePr>
        <p:xfrm>
          <a:off x="243841" y="552810"/>
          <a:ext cx="11704319" cy="457200"/>
        </p:xfrm>
        <a:graphic>
          <a:graphicData uri="http://schemas.openxmlformats.org/drawingml/2006/table">
            <a:tbl>
              <a:tblPr/>
              <a:tblGrid>
                <a:gridCol w="1171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35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0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05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9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372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 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사용부서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설명</a:t>
                      </a: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9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1435" marR="91435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A75B79A7-59FF-BBAD-4583-8F40E7DA07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872F5A0-C92D-4297-B5A9-EA3D9821E87B}" type="slidenum">
              <a:rPr lang="ko-KR" altLang="en-US" smtClean="0">
                <a:cs typeface="맑은 고딕 Semilight" panose="020B0502040204020203" pitchFamily="50" charset="-127"/>
              </a:rPr>
              <a:pPr/>
              <a:t>121</a:t>
            </a:fld>
            <a:r>
              <a:rPr lang="en-US" altLang="ko-KR" dirty="0">
                <a:cs typeface="맑은 고딕 Semilight" panose="020B0502040204020203" pitchFamily="50" charset="-127"/>
              </a:rPr>
              <a:t>/48</a:t>
            </a:r>
            <a:endParaRPr lang="ko-KR" altLang="en-US" dirty="0">
              <a:cs typeface="맑은 고딕 Semilight" panose="020B0502040204020203" pitchFamily="50" charset="-127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기본 디자인">
  <a:themeElements>
    <a:clrScheme name="기본 디자인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가는각진제목체"/>
        <a:ea typeface="가는각진제목체"/>
        <a:cs typeface=""/>
      </a:majorFont>
      <a:minorFont>
        <a:latin typeface="가는각진제목체"/>
        <a:ea typeface="가는각진제목체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0" tIns="0" rIns="0" bIns="0" numCol="1" rtlCol="0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sz="800" b="0" i="0" u="none" strike="noStrike" cap="none" normalizeH="0" baseline="0" dirty="0" smtClean="0">
            <a:ln>
              <a:noFill/>
            </a:ln>
            <a:solidFill>
              <a:schemeClr val="tx1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rgbClr val="C00000"/>
          </a:solidFill>
          <a:prstDash val="solid"/>
          <a:round/>
          <a:headEnd type="none" w="med" len="med"/>
          <a:tailEnd type="triangle"/>
        </a:ln>
        <a:effectLst/>
      </a:spPr>
      <a:bodyPr/>
      <a:lstStyle/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2DFC0A9CB43B924ABFC7AC9379019562" ma:contentTypeVersion="5" ma:contentTypeDescription="새 문서를 만듭니다." ma:contentTypeScope="" ma:versionID="f777b3ae6badbd82e89bafecd4bad9a0">
  <xsd:schema xmlns:xsd="http://www.w3.org/2001/XMLSchema" xmlns:xs="http://www.w3.org/2001/XMLSchema" xmlns:p="http://schemas.microsoft.com/office/2006/metadata/properties" xmlns:ns3="935508c1-0ae4-44c6-a867-57a013181527" targetNamespace="http://schemas.microsoft.com/office/2006/metadata/properties" ma:root="true" ma:fieldsID="9c8a7d40cc0f53d88057a73fae886f3a" ns3:_="">
    <xsd:import namespace="935508c1-0ae4-44c6-a867-57a013181527"/>
    <xsd:element name="properties">
      <xsd:complexType>
        <xsd:sequence>
          <xsd:element name="documentManagement">
            <xsd:complexType>
              <xsd:all>
                <xsd:element ref="ns3:MediaServiceDateTaken" minOccurs="0"/>
                <xsd:element ref="ns3:_activity" minOccurs="0"/>
                <xsd:element ref="ns3:MediaServiceMetadata" minOccurs="0"/>
                <xsd:element ref="ns3:MediaServiceFastMetadata" minOccurs="0"/>
                <xsd:element ref="ns3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35508c1-0ae4-44c6-a867-57a013181527" elementFormDefault="qualified">
    <xsd:import namespace="http://schemas.microsoft.com/office/2006/documentManagement/types"/>
    <xsd:import namespace="http://schemas.microsoft.com/office/infopath/2007/PartnerControls"/>
    <xsd:element name="MediaServiceDateTaken" ma:index="8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_activity" ma:index="9" nillable="true" ma:displayName="_activity" ma:hidden="true" ma:internalName="_activity">
      <xsd:simpleType>
        <xsd:restriction base="dms:Note"/>
      </xsd:simpleType>
    </xsd:element>
    <xsd:element name="MediaServiceMetadata" ma:index="10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1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2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activity xmlns="935508c1-0ae4-44c6-a867-57a013181527" xsi:nil="true"/>
  </documentManagement>
</p:properties>
</file>

<file path=customXml/itemProps1.xml><?xml version="1.0" encoding="utf-8"?>
<ds:datastoreItem xmlns:ds="http://schemas.openxmlformats.org/officeDocument/2006/customXml" ds:itemID="{BB8A0C94-290E-4DCA-8882-7B741FD4286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35508c1-0ae4-44c6-a867-57a01318152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2FE4F7BD-3403-4E01-B082-A8CA5D9C333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29940A83-B4F7-49E3-AE41-1E97D748EC0F}">
  <ds:schemaRefs>
    <ds:schemaRef ds:uri="http://schemas.microsoft.com/office/infopath/2007/PartnerControls"/>
    <ds:schemaRef ds:uri="http://schemas.openxmlformats.org/package/2006/metadata/core-properties"/>
    <ds:schemaRef ds:uri="http://schemas.microsoft.com/office/2006/documentManagement/types"/>
    <ds:schemaRef ds:uri="http://www.w3.org/XML/1998/namespace"/>
    <ds:schemaRef ds:uri="http://schemas.microsoft.com/office/2006/metadata/properties"/>
    <ds:schemaRef ds:uri="935508c1-0ae4-44c6-a867-57a013181527"/>
    <ds:schemaRef ds:uri="http://purl.org/dc/terms/"/>
    <ds:schemaRef ds:uri="http://purl.org/dc/elements/1.1/"/>
    <ds:schemaRef ds:uri="http://purl.org/dc/dcmitype/"/>
  </ds:schemaRefs>
</ds:datastoreItem>
</file>

<file path=docMetadata/LabelInfo.xml><?xml version="1.0" encoding="utf-8"?>
<clbl:labelList xmlns:clbl="http://schemas.microsoft.com/office/2020/mipLabelMetadata">
  <clbl:label id="{911cd2af-d2ff-46fa-9192-2f34edefbd02}" enabled="1" method="Privileged" siteId="{d4ffc887-d88d-41cc-bf6a-6bb47ec0f3ca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182516</TotalTime>
  <Words>27219</Words>
  <Application>Microsoft Office PowerPoint</Application>
  <PresentationFormat>와이드스크린</PresentationFormat>
  <Paragraphs>6174</Paragraphs>
  <Slides>121</Slides>
  <Notes>94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121</vt:i4>
      </vt:variant>
    </vt:vector>
  </HeadingPairs>
  <TitlesOfParts>
    <vt:vector size="129" baseType="lpstr">
      <vt:lpstr>가는각진제목체</vt:lpstr>
      <vt:lpstr>맑은 고딕</vt:lpstr>
      <vt:lpstr>맑은 고딕</vt:lpstr>
      <vt:lpstr>맑은 고딕 Semilight</vt:lpstr>
      <vt:lpstr>에브리데이고딕 R</vt:lpstr>
      <vt:lpstr>Arial</vt:lpstr>
      <vt:lpstr>Wingdings</vt:lpstr>
      <vt:lpstr>기본 디자인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dwkim</dc:creator>
  <cp:lastModifiedBy>유화종/SCK(PC)/tee094</cp:lastModifiedBy>
  <cp:revision>1655</cp:revision>
  <cp:lastPrinted>2017-11-08T03:38:42Z</cp:lastPrinted>
  <dcterms:created xsi:type="dcterms:W3CDTF">2003-01-14T04:25:29Z</dcterms:created>
  <dcterms:modified xsi:type="dcterms:W3CDTF">2025-08-04T00:26:09Z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13306bfe-29cf-4c0e-bbb8-fa4efadabca8_SiteId">
    <vt:lpwstr>d4ffc887-d88d-41cc-bf6a-6bb47ec0f3ca</vt:lpwstr>
  </property>
  <property fmtid="{D5CDD505-2E9C-101B-9397-08002B2CF9AE}" pid="3" name="MSIP_Label_13306bfe-29cf-4c0e-bbb8-fa4efadabca8_SetDate">
    <vt:lpwstr>2023-07-13T02:12:00Z</vt:lpwstr>
  </property>
  <property fmtid="{D5CDD505-2E9C-101B-9397-08002B2CF9AE}" pid="4" name="MSIP_Label_13306bfe-29cf-4c0e-bbb8-fa4efadabca8_Name">
    <vt:lpwstr/>
  </property>
  <property fmtid="{D5CDD505-2E9C-101B-9397-08002B2CF9AE}" pid="5" name="MSIP_Label_13306bfe-29cf-4c0e-bbb8-fa4efadabca8_Method">
    <vt:lpwstr>Privileged</vt:lpwstr>
  </property>
  <property fmtid="{D5CDD505-2E9C-101B-9397-08002B2CF9AE}" pid="6" name="MSIP_Label_13306bfe-29cf-4c0e-bbb8-fa4efadabca8_Enabled">
    <vt:lpwstr>true</vt:lpwstr>
  </property>
  <property fmtid="{D5CDD505-2E9C-101B-9397-08002B2CF9AE}" pid="7" name="MSIP_Label_13306bfe-29cf-4c0e-bbb8-fa4efadabca8_ContentBits">
    <vt:lpwstr>8</vt:lpwstr>
  </property>
  <property fmtid="{D5CDD505-2E9C-101B-9397-08002B2CF9AE}" pid="8" name="ContentTypeId">
    <vt:lpwstr>0x0101002DFC0A9CB43B924ABFC7AC9379019562</vt:lpwstr>
  </property>
  <property fmtid="{D5CDD505-2E9C-101B-9397-08002B2CF9AE}" pid="9" name="MediaServiceImageTags">
    <vt:lpwstr/>
  </property>
</Properties>
</file>